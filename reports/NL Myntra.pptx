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Removal reason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3B9E93"/>
              </a:solidFill>
              <a:effectLst/>
            </c:spPr>
          </c:dPt>
          <c:dPt>
            <c:idx val="2"/>
            <c:bubble3D val="0"/>
            <c:spPr>
              <a:solidFill>
                <a:srgbClr val="B45309"/>
              </a:solidFill>
              <a:effectLst/>
            </c:spPr>
          </c:dPt>
          <c:dPt>
            <c:idx val="3"/>
            <c:bubble3D val="0"/>
            <c:spPr>
              <a:solidFill>
                <a:srgbClr val="D8A85C"/>
              </a:solidFill>
              <a:effectLst/>
            </c:spPr>
          </c:dPt>
          <c:dPt>
            <c:idx val="4"/>
            <c:bubble3D val="0"/>
            <c:spPr>
              <a:solidFill>
                <a:srgbClr val="47556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Found a better alternative</c:v>
                </c:pt>
                <c:pt idx="1">
                  <c:v>Price never dropped</c:v>
                </c:pt>
                <c:pt idx="2">
                  <c:v>Lost interest / no longer needed</c:v>
                </c:pt>
                <c:pt idx="3">
                  <c:v>Realized it wouldn't fit/suit</c:v>
                </c:pt>
                <c:pt idx="4">
                  <c:v>Went out of stock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41.7</c:v>
                </c:pt>
                <c:pt idx="1">
                  <c:v>19.4</c:v>
                </c:pt>
                <c:pt idx="2">
                  <c:v>13.9</c:v>
                </c:pt>
                <c:pt idx="3">
                  <c:v>13.9</c:v>
                </c:pt>
                <c:pt idx="4">
                  <c:v>11.1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heesanaswinPM/grad-pro-3---myntra/blob/master/reports/myntra_market_research.pdf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hyperlink" Target="https://grad-pro-3---myntra-hfr85fubntp9nefmfqmfis.streamlit.app/" TargetMode="External"/><Relationship Id="rId8" Type="http://schemas.openxmlformats.org/officeDocument/2006/relationships/hyperlink" Target="https://grad-pro-3---myntra-iu4m3qeeuyveu4s5xzdq8w.streamlit.app/" TargetMode="External"/><Relationship Id="rId9" Type="http://schemas.openxmlformats.org/officeDocument/2006/relationships/hyperlink" Target="https://github.com/satheesanaswinPM/grad-pro-3---myntra/blob/master/reports/metric_decomposition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2" Type="http://schemas.openxmlformats.org/officeDocument/2006/relationships/hyperlink" Target="https://github.com/satheesanaswinPM/grad-pro-3---myntra/blob/master/reports/opportunity_register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VwXdunQdj3jlc9xdDAIXCJq32vKBCHUKbpNLawxBhKQ/edit" TargetMode="External"/><Relationship Id="rId5" Type="http://schemas.openxmlformats.org/officeDocument/2006/relationships/hyperlink" Target="https://github.com/satheesanaswinPM/grad-pro-3---myntra/blob/master/reports/interview_findings.md" TargetMode="External"/><Relationship Id="rId1" Type="http://schemas.openxmlformats.org/officeDocument/2006/relationships/chart" Target="/ppt/charts/chart1.xml"/><Relationship Id="rId3" Type="http://schemas.openxmlformats.org/officeDocument/2006/relationships/image" Target="../media/image-4-1.png"/><Relationship Id="rId4" Type="http://schemas.openxmlformats.org/officeDocument/2006/relationships/image" Target="../media/image-4-2.png"/><Relationship Id="rId6" Type="http://schemas.openxmlformats.org/officeDocument/2006/relationships/image" Target="../media/image-4-3.png"/><Relationship Id="rId7" Type="http://schemas.openxmlformats.org/officeDocument/2006/relationships/image" Target="../media/image-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hyperlink" Target="https://grad-pro-3---myntra-hfr85fubntp9nefmfqmfis.streamlit.app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atheesanaswinPM/grad-pro-3---myntra/blob/master/reports/define_success.md" TargetMode="External"/><Relationship Id="rId6" Type="http://schemas.openxmlformats.org/officeDocument/2006/relationships/hyperlink" Target="https://github.com/satheesanaswinPM/grad-pro-3---myntra/blob/master/reports/risks_and_mitigation.m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OPPORTUNITY — MARKET CONTEXT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Myntra's Scale Makes a Small Wishlist-Conversion Gap Worth Hundreds of Crores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81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OPPORTUNITY, SIZED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10512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21408"/>
            <a:ext cx="107286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fashion e-commerce market.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Business/Whalesbook, 2026 — Myntra ~30–35%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8724967" cy="777240"/>
          </a:xfrm>
          <a:prstGeom prst="roundRect">
            <a:avLst>
              <a:gd name="adj" fmla="val 7059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706624"/>
            <a:ext cx="82677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EC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24.5M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017520"/>
            <a:ext cx="82677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wishlist-active users per month.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D7EC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— 35% of 70M MAU, market research case study.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529584"/>
            <a:ext cx="6264079" cy="777240"/>
          </a:xfrm>
          <a:prstGeom prst="roundRect">
            <a:avLst>
              <a:gd name="adj" fmla="val 7059"/>
            </a:avLst>
          </a:prstGeom>
          <a:solidFill>
            <a:srgbClr val="B4530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602736"/>
            <a:ext cx="5806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913632"/>
            <a:ext cx="580687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Comparers, 61% of wishlist-active users.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F6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Behavior Survey, n=36.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361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online fashion sector grows at a 21.1% CAGR through 2030 — Myntra is its largest dedicated platform. (Whalesbook)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90872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scale, a few percentage points of wishlist conversion is not a rounding error — it's real money already sitting on the platform: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148072"/>
            <a:ext cx="11185855" cy="868680"/>
          </a:xfrm>
          <a:prstGeom prst="roundRect">
            <a:avLst>
              <a:gd name="adj" fmla="val 8421"/>
            </a:avLst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5312664"/>
            <a:ext cx="548640" cy="54864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5436108"/>
            <a:ext cx="301752" cy="30175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08760" y="5148072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— a 5-point conversion lift — is modeled at ₹265 Cr in incremental annual revenue, ~12% of Myntra's entire FY25 net profit, with no new acquisition spend, because it monetizes demand already on the platform.</a:t>
            </a:r>
            <a:endParaRPr lang="en-US" sz="1400" dirty="0"/>
          </a:p>
        </p:txBody>
      </p:sp>
      <p:sp>
        <p:nvSpPr>
          <p:cNvPr id="20" name="Text 17">
            <a:hlinkClick r:id="rId2" tooltip=""/>
          </p:cNvPr>
          <p:cNvSpPr txBox="1"/>
          <p:nvPr/>
        </p:nvSpPr>
        <p:spPr>
          <a:xfrm>
            <a:off x="502920" y="610819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Myntra Market Research &amp; Case Study (Sept 2026).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OPPORTUNITY — METRIC DECOMPOSITION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30-Day Conversion Metric Hides Five Separate Failure Points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799" y="1983791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“% of users who purchase at least one wishlisted item within 30 days of adding it”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971800"/>
            <a:ext cx="4480560" cy="841248"/>
          </a:xfrm>
          <a:prstGeom prst="roundRect">
            <a:avLst>
              <a:gd name="adj" fmla="val 7609"/>
            </a:avLst>
          </a:prstGeom>
          <a:solidFill>
            <a:srgbClr val="F6E7D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02666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no monetary incentives — discounts, coupons, and cashback are excluded as the primary lever.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1627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can't say where the item is lost: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06440" y="2084832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12" name="Shape 9"/>
          <p:cNvSpPr/>
          <p:nvPr/>
        </p:nvSpPr>
        <p:spPr>
          <a:xfrm>
            <a:off x="5897880" y="2121408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717" y="2187245"/>
            <a:ext cx="160934" cy="16093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0936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Re-engagement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515600" y="212140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515600" y="21214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06440" y="2510028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18" name="Shape 14"/>
          <p:cNvSpPr/>
          <p:nvPr/>
        </p:nvSpPr>
        <p:spPr>
          <a:xfrm>
            <a:off x="5897880" y="254660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717" y="2612441"/>
            <a:ext cx="160934" cy="16093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25100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Uncertainty Resolution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806440" y="2935224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22" name="Shape 17"/>
          <p:cNvSpPr/>
          <p:nvPr/>
        </p:nvSpPr>
        <p:spPr>
          <a:xfrm>
            <a:off x="5897880" y="2971800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717" y="3037637"/>
            <a:ext cx="160934" cy="16093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309360" y="2935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Comparison Resolution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0515600" y="297180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0515600" y="29718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806440" y="3360420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28" name="Shape 22"/>
          <p:cNvSpPr/>
          <p:nvPr/>
        </p:nvSpPr>
        <p:spPr>
          <a:xfrm>
            <a:off x="5897880" y="339699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717" y="3462833"/>
            <a:ext cx="160934" cy="16093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309360" y="33604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Decision Trigger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806440" y="3785616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32" name="Shape 25"/>
          <p:cNvSpPr/>
          <p:nvPr/>
        </p:nvSpPr>
        <p:spPr>
          <a:xfrm>
            <a:off x="5897880" y="3822192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717" y="3888029"/>
            <a:ext cx="160934" cy="16093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09360" y="3785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Purchase Completion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502920" y="416052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41605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FOCUS: Stage A → C. Fixing re-engagement and comparison resolution raises the ceiling on every downstream stage — not a returns or price fix.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502920" y="5029200"/>
            <a:ext cx="11185855" cy="43891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8" name="Text 30">
            <a:hlinkClick r:id="rId7" tooltip=""/>
          </p:cNvPr>
          <p:cNvSpPr txBox="1"/>
          <p:nvPr/>
        </p:nvSpPr>
        <p:spPr>
          <a:xfrm>
            <a:off x="502920" y="5029200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(“TieBreaker”)  →  open ↗</a:t>
            </a:r>
            <a:endParaRPr lang="en-US" sz="1500" dirty="0"/>
          </a:p>
        </p:txBody>
      </p:sp>
      <p:sp>
        <p:nvSpPr>
          <p:cNvPr id="39" name="Shape 31"/>
          <p:cNvSpPr/>
          <p:nvPr/>
        </p:nvSpPr>
        <p:spPr>
          <a:xfrm>
            <a:off x="502920" y="5559552"/>
            <a:ext cx="11185855" cy="43891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0" name="Text 32">
            <a:hlinkClick r:id="rId8" tooltip=""/>
          </p:cNvPr>
          <p:cNvSpPr txBox="1"/>
          <p:nvPr/>
        </p:nvSpPr>
        <p:spPr>
          <a:xfrm>
            <a:off x="502920" y="555955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Review Analysis Agent  →  open ↗</a:t>
            </a:r>
            <a:endParaRPr lang="en-US" sz="1500" dirty="0"/>
          </a:p>
        </p:txBody>
      </p:sp>
      <p:sp>
        <p:nvSpPr>
          <p:cNvPr id="41" name="Text 33">
            <a:hlinkClick r:id="rId9" tooltip=""/>
          </p:cNvPr>
          <p:cNvSpPr txBox="1"/>
          <p:nvPr/>
        </p:nvSpPr>
        <p:spPr>
          <a:xfrm>
            <a:off x="502920" y="612648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decomposition: reports/metric_decomposition.md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AI ENGINE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Loudest Complaint in Reviews Isn't the Real Wishlist Blocker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AI discovery engine reached this ranking: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6" name="Shape 4"/>
          <p:cNvSpPr/>
          <p:nvPr/>
        </p:nvSpPr>
        <p:spPr>
          <a:xfrm>
            <a:off x="1177519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700" y="1852117"/>
            <a:ext cx="191110" cy="1911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7784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01" y="1933956"/>
            <a:ext cx="237744" cy="23774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400757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11" name="Shape 7"/>
          <p:cNvSpPr/>
          <p:nvPr/>
        </p:nvSpPr>
        <p:spPr>
          <a:xfrm>
            <a:off x="3075356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537" y="1852117"/>
            <a:ext cx="191110" cy="19111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55621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Filter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138" y="1933956"/>
            <a:ext cx="237744" cy="237744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298594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16" name="Shape 10"/>
          <p:cNvSpPr/>
          <p:nvPr/>
        </p:nvSpPr>
        <p:spPr>
          <a:xfrm>
            <a:off x="4973193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1374" y="1852117"/>
            <a:ext cx="191110" cy="19111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353458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</a:t>
            </a:r>
            <a:endParaRPr lang="en-US" sz="1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976" y="1933956"/>
            <a:ext cx="237744" cy="237744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196432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1" name="Shape 13"/>
          <p:cNvSpPr/>
          <p:nvPr/>
        </p:nvSpPr>
        <p:spPr>
          <a:xfrm>
            <a:off x="6871030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211" y="1852117"/>
            <a:ext cx="191110" cy="19111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251296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4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813" y="1933956"/>
            <a:ext cx="237744" cy="237744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8094269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6" name="Shape 16"/>
          <p:cNvSpPr/>
          <p:nvPr/>
        </p:nvSpPr>
        <p:spPr>
          <a:xfrm>
            <a:off x="8768867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7049" y="1852117"/>
            <a:ext cx="191110" cy="19111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8149133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4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1933956"/>
            <a:ext cx="237744" cy="237744"/>
          </a:xfrm>
          <a:prstGeom prst="rect">
            <a:avLst/>
          </a:prstGeom>
        </p:spPr>
      </p:pic>
      <p:sp>
        <p:nvSpPr>
          <p:cNvPr id="30" name="Shape 18"/>
          <p:cNvSpPr/>
          <p:nvPr/>
        </p:nvSpPr>
        <p:spPr>
          <a:xfrm>
            <a:off x="9992106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1" name="Shape 19"/>
          <p:cNvSpPr/>
          <p:nvPr/>
        </p:nvSpPr>
        <p:spPr>
          <a:xfrm>
            <a:off x="10666705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4886" y="1852117"/>
            <a:ext cx="191110" cy="19111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0046970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1400" dirty="0"/>
          </a:p>
        </p:txBody>
      </p:sp>
      <p:sp>
        <p:nvSpPr>
          <p:cNvPr id="34" name="Shape 21"/>
          <p:cNvSpPr/>
          <p:nvPr/>
        </p:nvSpPr>
        <p:spPr>
          <a:xfrm>
            <a:off x="50292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5" name="Text 22"/>
          <p:cNvSpPr txBox="1"/>
          <p:nvPr/>
        </p:nvSpPr>
        <p:spPr>
          <a:xfrm>
            <a:off x="64008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24,575</a:t>
            </a:r>
            <a:endParaRPr lang="en-US" sz="2000" dirty="0"/>
          </a:p>
        </p:txBody>
      </p:sp>
      <p:sp>
        <p:nvSpPr>
          <p:cNvPr id="36" name="Text 23"/>
          <p:cNvSpPr txBox="1"/>
          <p:nvPr/>
        </p:nvSpPr>
        <p:spPr>
          <a:xfrm>
            <a:off x="64008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records</a:t>
            </a:r>
            <a:endParaRPr lang="en-US" sz="1400" dirty="0"/>
          </a:p>
        </p:txBody>
      </p:sp>
      <p:sp>
        <p:nvSpPr>
          <p:cNvPr id="37" name="Shape 24"/>
          <p:cNvSpPr/>
          <p:nvPr/>
        </p:nvSpPr>
        <p:spPr>
          <a:xfrm>
            <a:off x="333756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8" name="Text 25"/>
          <p:cNvSpPr txBox="1"/>
          <p:nvPr/>
        </p:nvSpPr>
        <p:spPr>
          <a:xfrm>
            <a:off x="347472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17,343</a:t>
            </a:r>
            <a:endParaRPr lang="en-US" sz="2000" dirty="0"/>
          </a:p>
        </p:txBody>
      </p:sp>
      <p:sp>
        <p:nvSpPr>
          <p:cNvPr id="39" name="Text 26"/>
          <p:cNvSpPr txBox="1"/>
          <p:nvPr/>
        </p:nvSpPr>
        <p:spPr>
          <a:xfrm>
            <a:off x="347472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records</a:t>
            </a:r>
            <a:endParaRPr lang="en-US" sz="1400" dirty="0"/>
          </a:p>
        </p:txBody>
      </p:sp>
      <p:sp>
        <p:nvSpPr>
          <p:cNvPr id="40" name="Shape 27"/>
          <p:cNvSpPr/>
          <p:nvPr/>
        </p:nvSpPr>
        <p:spPr>
          <a:xfrm>
            <a:off x="617220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41" name="Text 28"/>
          <p:cNvSpPr txBox="1"/>
          <p:nvPr/>
        </p:nvSpPr>
        <p:spPr>
          <a:xfrm>
            <a:off x="630936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12,277</a:t>
            </a:r>
            <a:endParaRPr lang="en-US" sz="2000" dirty="0"/>
          </a:p>
        </p:txBody>
      </p:sp>
      <p:sp>
        <p:nvSpPr>
          <p:cNvPr id="42" name="Text 29"/>
          <p:cNvSpPr txBox="1"/>
          <p:nvPr/>
        </p:nvSpPr>
        <p:spPr>
          <a:xfrm>
            <a:off x="630936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extracted</a:t>
            </a:r>
            <a:endParaRPr lang="en-US" sz="1400" dirty="0"/>
          </a:p>
        </p:txBody>
      </p:sp>
      <p:sp>
        <p:nvSpPr>
          <p:cNvPr id="43" name="Shape 30"/>
          <p:cNvSpPr/>
          <p:nvPr/>
        </p:nvSpPr>
        <p:spPr>
          <a:xfrm>
            <a:off x="900684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44" name="Text 31"/>
          <p:cNvSpPr txBox="1"/>
          <p:nvPr/>
        </p:nvSpPr>
        <p:spPr>
          <a:xfrm>
            <a:off x="914400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5" name="Text 32"/>
          <p:cNvSpPr txBox="1"/>
          <p:nvPr/>
        </p:nvSpPr>
        <p:spPr>
          <a:xfrm>
            <a:off x="914400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opportunities</a:t>
            </a:r>
            <a:endParaRPr lang="en-US" sz="1400" dirty="0"/>
          </a:p>
        </p:txBody>
      </p:sp>
      <p:sp>
        <p:nvSpPr>
          <p:cNvPr id="46" name="Text 33"/>
          <p:cNvSpPr txBox="1"/>
          <p:nvPr/>
        </p:nvSpPr>
        <p:spPr>
          <a:xfrm>
            <a:off x="502920" y="3401568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−1,307 not real feedback (catalog copy / too short / ops-only)  ·  −767 non-English, dialect, or emoji-only  ·  −5,066 no quotable evidence span</a:t>
            </a:r>
            <a:endParaRPr lang="en-US" sz="1400" dirty="0"/>
          </a:p>
        </p:txBody>
      </p:sp>
      <p:sp>
        <p:nvSpPr>
          <p:cNvPr id="47" name="Text 34"/>
          <p:cNvSpPr txBox="1"/>
          <p:nvPr/>
        </p:nvSpPr>
        <p:spPr>
          <a:xfrm>
            <a:off x="502920" y="363931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rankings disagree on where to fix the funnel:</a:t>
            </a:r>
            <a:endParaRPr lang="en-US" sz="1500" dirty="0"/>
          </a:p>
        </p:txBody>
      </p:sp>
      <p:sp>
        <p:nvSpPr>
          <p:cNvPr id="48" name="Shape 35"/>
          <p:cNvSpPr/>
          <p:nvPr/>
        </p:nvSpPr>
        <p:spPr>
          <a:xfrm>
            <a:off x="502920" y="3941064"/>
            <a:ext cx="5349240" cy="2048256"/>
          </a:xfrm>
          <a:prstGeom prst="roundRect">
            <a:avLst>
              <a:gd name="adj" fmla="val 3571"/>
            </a:avLst>
          </a:prstGeom>
          <a:solidFill>
            <a:srgbClr val="F6E7D2"/>
          </a:solidFill>
          <a:ln/>
        </p:spPr>
      </p:sp>
      <p:sp>
        <p:nvSpPr>
          <p:cNvPr id="49" name="Text 36"/>
          <p:cNvSpPr txBox="1"/>
          <p:nvPr/>
        </p:nvSpPr>
        <p:spPr>
          <a:xfrm>
            <a:off x="731520" y="40873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RAW VOLUME</a:t>
            </a:r>
            <a:endParaRPr lang="en-US" sz="1400" dirty="0"/>
          </a:p>
        </p:txBody>
      </p:sp>
      <p:sp>
        <p:nvSpPr>
          <p:cNvPr id="50" name="Text 37"/>
          <p:cNvSpPr txBox="1"/>
          <p:nvPr/>
        </p:nvSpPr>
        <p:spPr>
          <a:xfrm>
            <a:off x="731520" y="43616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opp:returns_exchange</a:t>
            </a:r>
            <a:endParaRPr lang="en-US" sz="1700" dirty="0"/>
          </a:p>
        </p:txBody>
      </p:sp>
      <p:sp>
        <p:nvSpPr>
          <p:cNvPr id="51" name="Text 38"/>
          <p:cNvSpPr txBox="1"/>
          <p:nvPr/>
        </p:nvSpPr>
        <p:spPr>
          <a:xfrm>
            <a:off x="731520" y="4782312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12.0% of relevant records (2,084) — hesitation-link 0.11, the LOWEST of the top 10.</a:t>
            </a:r>
            <a:endParaRPr lang="en-US" sz="1400" dirty="0"/>
          </a:p>
        </p:txBody>
      </p:sp>
      <p:sp>
        <p:nvSpPr>
          <p:cNvPr id="52" name="Text 39"/>
          <p:cNvSpPr txBox="1"/>
          <p:nvPr/>
        </p:nvSpPr>
        <p:spPr>
          <a:xfrm>
            <a:off x="731520" y="538581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8A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App-store reviewers are disproportionately people who already bought and are complaining post-purchase.</a:t>
            </a:r>
            <a:endParaRPr lang="en-US" sz="1400" dirty="0"/>
          </a:p>
        </p:txBody>
      </p:sp>
      <p:sp>
        <p:nvSpPr>
          <p:cNvPr id="53" name="Shape 40"/>
          <p:cNvSpPr/>
          <p:nvPr/>
        </p:nvSpPr>
        <p:spPr>
          <a:xfrm>
            <a:off x="6126480" y="3941064"/>
            <a:ext cx="5349240" cy="2048256"/>
          </a:xfrm>
          <a:prstGeom prst="roundRect">
            <a:avLst>
              <a:gd name="adj" fmla="val 3571"/>
            </a:avLst>
          </a:prstGeom>
          <a:solidFill>
            <a:srgbClr val="D7ECE9"/>
          </a:solidFill>
          <a:ln/>
        </p:spPr>
      </p:sp>
      <p:sp>
        <p:nvSpPr>
          <p:cNvPr id="54" name="Text 41"/>
          <p:cNvSpPr txBox="1"/>
          <p:nvPr/>
        </p:nvSpPr>
        <p:spPr>
          <a:xfrm>
            <a:off x="6355080" y="40873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WISHLIST-RELEVANCE</a:t>
            </a:r>
            <a:endParaRPr lang="en-US" sz="1400" dirty="0"/>
          </a:p>
        </p:txBody>
      </p:sp>
      <p:sp>
        <p:nvSpPr>
          <p:cNvPr id="55" name="Text 42"/>
          <p:cNvSpPr txBox="1"/>
          <p:nvPr/>
        </p:nvSpPr>
        <p:spPr>
          <a:xfrm>
            <a:off x="6355080" y="43616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opp:comparison_loop</a:t>
            </a:r>
            <a:endParaRPr lang="en-US" sz="1700" dirty="0"/>
          </a:p>
        </p:txBody>
      </p:sp>
      <p:sp>
        <p:nvSpPr>
          <p:cNvPr id="56" name="Text 43"/>
          <p:cNvSpPr txBox="1"/>
          <p:nvPr/>
        </p:nvSpPr>
        <p:spPr>
          <a:xfrm>
            <a:off x="6355080" y="4782312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3.0% of relevant records (522) — hesitation-link 0.63, the HIGHEST of all 20 scored.</a:t>
            </a:r>
            <a:endParaRPr lang="en-US" sz="1400" dirty="0"/>
          </a:p>
        </p:txBody>
      </p:sp>
      <p:sp>
        <p:nvSpPr>
          <p:cNvPr id="57" name="Text 44"/>
          <p:cNvSpPr txBox="1"/>
          <p:nvPr/>
        </p:nvSpPr>
        <p:spPr>
          <a:xfrm>
            <a:off x="6355080" y="538581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0B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volume, but structurally the theme most tightly coupled to the actual wishlist-to-buy decision.</a:t>
            </a:r>
            <a:endParaRPr lang="en-US" sz="1400" dirty="0"/>
          </a:p>
        </p:txBody>
      </p:sp>
      <p:sp>
        <p:nvSpPr>
          <p:cNvPr id="58" name="Text 45">
            <a:hlinkClick r:id="rId12" tooltip=""/>
          </p:cNvPr>
          <p:cNvSpPr txBox="1"/>
          <p:nvPr/>
        </p:nvSpPr>
        <p:spPr>
          <a:xfrm>
            <a:off x="502920" y="6071616"/>
            <a:ext cx="11185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register: reports/opportunity_register.md</a:t>
            </a:r>
            <a:endParaRPr lang="en-US" sz="1400" dirty="0"/>
          </a:p>
        </p:txBody>
      </p:sp>
      <p:sp>
        <p:nvSpPr>
          <p:cNvPr id="59" name="Text 4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60" name="Text 4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PRIMARY RESEARCH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Survey and Interviews Agree: Shoppers Compare, Then They Forget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 item gets removed without ever being bought (n=36):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874520"/>
          <a:ext cx="5212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14223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Wishlist Behavior Survey — </a:t>
            </a:r>
            <a:pPr indent="0" marL="0">
              <a:lnSpc>
                <a:spcPct val="105000"/>
              </a:lnSpc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full responses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Top slice = the “42%” cited throughout this deck.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806440" y="1371600"/>
            <a:ext cx="5882335" cy="1325880"/>
          </a:xfrm>
          <a:prstGeom prst="roundRect">
            <a:avLst>
              <a:gd name="adj" fmla="val 5517"/>
            </a:avLst>
          </a:prstGeom>
          <a:solidFill>
            <a:srgbClr val="E8EEF7"/>
          </a:solidFill>
          <a:ln/>
        </p:spPr>
      </p:sp>
      <p:sp>
        <p:nvSpPr>
          <p:cNvPr id="8" name="Shape 5"/>
          <p:cNvSpPr/>
          <p:nvPr/>
        </p:nvSpPr>
        <p:spPr>
          <a:xfrm>
            <a:off x="5989320" y="153619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90" y="1639062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0" y="1517904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· SMALL, CURATED WISHLIST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83680" y="1755648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Anjali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2084832"/>
            <a:ext cx="551657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wanted to compare, shortlist and compare.” Wants a physical Try &amp; Buy bundle to resolve fit doubt on unfamiliar brands.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806440" y="2843784"/>
            <a:ext cx="5882335" cy="1325880"/>
          </a:xfrm>
          <a:prstGeom prst="roundRect">
            <a:avLst>
              <a:gd name="adj" fmla="val 5517"/>
            </a:avLst>
          </a:prstGeom>
          <a:solidFill>
            <a:srgbClr val="E8EEF7"/>
          </a:solidFill>
          <a:ln/>
        </p:spPr>
      </p:sp>
      <p:sp>
        <p:nvSpPr>
          <p:cNvPr id="14" name="Shape 10"/>
          <p:cNvSpPr/>
          <p:nvPr/>
        </p:nvSpPr>
        <p:spPr>
          <a:xfrm>
            <a:off x="5989320" y="300837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190" y="3111246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83680" y="299008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NON-CONVERTER · 1,220-ITEM WISHLIST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583680" y="3227832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Bhargavi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989320" y="3557016"/>
            <a:ext cx="551657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get bombarded with alerts... I end up ignoring them.” Wants AI-curated wishlist surfacing, not a comparison tool.</a:t>
            </a:r>
            <a:endParaRPr lang="en-US" sz="1400" dirty="0"/>
          </a:p>
        </p:txBody>
      </p:sp>
      <p:sp>
        <p:nvSpPr>
          <p:cNvPr id="19" name="Text 14">
            <a:hlinkClick r:id="rId5" tooltip=""/>
          </p:cNvPr>
          <p:cNvSpPr txBox="1"/>
          <p:nvPr/>
        </p:nvSpPr>
        <p:spPr>
          <a:xfrm>
            <a:off x="5806440" y="4224528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findings: reports/interview_findings.md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4553712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personas (segment archetypes built from the survey + both interviews -- not additional respondents):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2920" y="4809744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22" name="Shape 17"/>
          <p:cNvSpPr/>
          <p:nvPr/>
        </p:nvSpPr>
        <p:spPr>
          <a:xfrm>
            <a:off x="685800" y="497433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70" y="5077206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80160" y="4937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Active Comparer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28016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when the comparison resolves in-app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552297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Small, curated wishlist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Wishlists specifically to compare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61% of survey respondents show this motive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217920" y="4809744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28" name="Shape 22"/>
          <p:cNvSpPr/>
          <p:nvPr/>
        </p:nvSpPr>
        <p:spPr>
          <a:xfrm>
            <a:off x="6400800" y="497433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3670" y="5077206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95160" y="4937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Bookmarker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99516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wishlist, many intents -- mostly passive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400800" y="552297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Wishlist in the hundreds to thousands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Active Comparer for one item at a time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Notification-fatigued at scale (interview)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PROBLEM DEFINITION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Comparers Don't Say No — They Just Never Decide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5855" cy="960120"/>
          </a:xfrm>
          <a:prstGeom prst="roundRect">
            <a:avLst>
              <a:gd name="adj" fmla="val 7619"/>
            </a:avLst>
          </a:prstGeom>
          <a:solidFill>
            <a:srgbClr val="2739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“Active Comparers” — users who wishlist an item while still comparing it against alternatives. The largest, most consistent segment across the AI pipeline, the survey, and both interviews (61% comparison motive) — confirmed as a per-item state, not a fixed user trait.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7578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9304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89304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is a passive bookmark, not a decision workspace.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23283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4487875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27578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09667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09667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off-platform (42%) or never at all (32% forget).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43646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8308238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7578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30030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930030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price or returns — decision support, no incentive needed.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363931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prioritization — same Frequency / Hesitation-link / Evidence-confidence columns already published in reports/opportunity_register.md, plus a labeled engineering-effort estimate. This reinforces, not revises, the funnel ranking: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059936"/>
          <a:ext cx="11185855" cy="1691640"/>
        </p:xfrm>
        <a:graphic>
          <a:graphicData uri="http://schemas.openxmlformats.org/drawingml/2006/table">
            <a:tbl>
              <a:tblPr/>
              <a:tblGrid>
                <a:gridCol w="3383280"/>
                <a:gridCol w="1371600"/>
                <a:gridCol w="1371600"/>
                <a:gridCol w="1371600"/>
                <a:gridCol w="1371600"/>
                <a:gridCol w="2407615"/>
              </a:tblGrid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 Resolution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Re-engagement (forgetting)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Confidence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Visual/Review Proof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C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Returns/Exchange Friction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C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2920" y="5815584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= % of relevant records · Impact = hesitation-link · Confidence = evidence_confidence · Effort is a planning estimate (not published elsewhere) · RICE = (Reach×Impact×Confidence)/Effort-weight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RATIONALE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Validated Hypotheses, One Mechanism That Resolves Them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4076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407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61872" y="1540764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627" y="163951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74520" y="14447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874520" y="17190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opp:comparison_loop · hesitation-link 0.63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426464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AI agent resolves the exact comparison respondents described unprompted, in-app instead of on a competitor's site.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258568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D7ECE9"/>
          </a:solidFill>
          <a:ln/>
        </p:spPr>
      </p:sp>
      <p:sp>
        <p:nvSpPr>
          <p:cNvPr id="13" name="Shape 10"/>
          <p:cNvSpPr/>
          <p:nvPr/>
        </p:nvSpPr>
        <p:spPr>
          <a:xfrm>
            <a:off x="640080" y="2427732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4277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261872" y="2427732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6487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87452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Re-engagement (forgetting)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874520" y="26060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opp:intent:uncertain · hesitation-link 0.50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263640" y="2313432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fast-forward nudge pulls a stale comparison back before attention decays — the #1 blocker among non-converters.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02920" y="3145536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1" name="Shape 17"/>
          <p:cNvSpPr/>
          <p:nvPr/>
        </p:nvSpPr>
        <p:spPr>
          <a:xfrm>
            <a:off x="640080" y="3314700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40080" y="33147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61872" y="3314700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0627" y="3413455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874520" y="32186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/ Review Proof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1874520" y="349300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opp:image_vs_reality · hesitation-link 0.27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6263640" y="3200400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comparison card surfaces the same structured product detail respondents said they lacked, without leaving the app.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502920" y="4032504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D7ECE9"/>
          </a:solidFill>
          <a:ln/>
        </p:spPr>
      </p:sp>
      <p:sp>
        <p:nvSpPr>
          <p:cNvPr id="29" name="Shape 24"/>
          <p:cNvSpPr/>
          <p:nvPr/>
        </p:nvSpPr>
        <p:spPr>
          <a:xfrm>
            <a:off x="640080" y="4201668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40080" y="42016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261872" y="4201668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0627" y="4300423"/>
            <a:ext cx="241402" cy="241402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874520" y="41056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 Confidence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1874520" y="43799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opp:fit_uncertainty · hesitation-link 0.24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263640" y="4087368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agent reasons directly over each item's size/fit notes — precisely the unfamiliar-brand uncertainty both interviews described.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02920" y="4882896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CONSIDERED AND REJECTED (reports/solution_concepts.md)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502920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38" name="Shape 32"/>
          <p:cNvSpPr/>
          <p:nvPr/>
        </p:nvSpPr>
        <p:spPr>
          <a:xfrm>
            <a:off x="630936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94376"/>
            <a:ext cx="201168" cy="20116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69848" y="5157216"/>
            <a:ext cx="29117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Recoverability preview</a:t>
            </a:r>
            <a:endParaRPr lang="en-US" sz="1400" dirty="0"/>
          </a:p>
        </p:txBody>
      </p:sp>
      <p:sp>
        <p:nvSpPr>
          <p:cNvPr id="41" name="Text 34"/>
          <p:cNvSpPr txBox="1"/>
          <p:nvPr/>
        </p:nvSpPr>
        <p:spPr>
          <a:xfrm>
            <a:off x="630936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Hesitation-link 0.11 — post-purchase noise.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4292498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43" name="Shape 36"/>
          <p:cNvSpPr/>
          <p:nvPr/>
        </p:nvSpPr>
        <p:spPr>
          <a:xfrm>
            <a:off x="4420514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2810" y="5294376"/>
            <a:ext cx="201168" cy="20116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4859426" y="5157216"/>
            <a:ext cx="29117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Worth-it proof at current price</a:t>
            </a:r>
            <a:endParaRPr lang="en-US" sz="1400" dirty="0"/>
          </a:p>
        </p:txBody>
      </p:sp>
      <p:sp>
        <p:nvSpPr>
          <p:cNvPr id="46" name="Text 38"/>
          <p:cNvSpPr txBox="1"/>
          <p:nvPr/>
        </p:nvSpPr>
        <p:spPr>
          <a:xfrm>
            <a:off x="4420514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monetary framing — against our constraint.</a:t>
            </a:r>
            <a:endParaRPr lang="en-US" sz="1400" dirty="0"/>
          </a:p>
        </p:txBody>
      </p:sp>
      <p:sp>
        <p:nvSpPr>
          <p:cNvPr id="47" name="Shape 39"/>
          <p:cNvSpPr/>
          <p:nvPr/>
        </p:nvSpPr>
        <p:spPr>
          <a:xfrm>
            <a:off x="8082077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48" name="Shape 40"/>
          <p:cNvSpPr/>
          <p:nvPr/>
        </p:nvSpPr>
        <p:spPr>
          <a:xfrm>
            <a:off x="8210093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2389" y="5294376"/>
            <a:ext cx="201168" cy="201168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8649005" y="5157216"/>
            <a:ext cx="29117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date on SKU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8210093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base only 0.82% — logistics only.</a:t>
            </a:r>
            <a:endParaRPr lang="en-US" sz="1400" dirty="0"/>
          </a:p>
        </p:txBody>
      </p:sp>
      <p:sp>
        <p:nvSpPr>
          <p:cNvPr id="52" name="Shape 43"/>
          <p:cNvSpPr/>
          <p:nvPr/>
        </p:nvSpPr>
        <p:spPr>
          <a:xfrm>
            <a:off x="502920" y="6007608"/>
            <a:ext cx="11185855" cy="420624"/>
          </a:xfrm>
          <a:prstGeom prst="roundRect">
            <a:avLst>
              <a:gd name="adj" fmla="val 13043"/>
            </a:avLst>
          </a:prstGeom>
          <a:solidFill>
            <a:srgbClr val="F6E7D2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685800" y="6007608"/>
            <a:ext cx="10820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moat: every reason-tagged comparison feeds back into the dataset — at Myntra's scale (200M+ annual active users), that compounds faster than a smaller rival can replicate the same structured signal.</a:t>
            </a:r>
            <a:endParaRPr lang="en-US" sz="1400" dirty="0"/>
          </a:p>
        </p:txBody>
      </p:sp>
      <p:sp>
        <p:nvSpPr>
          <p:cNvPr id="54" name="Text 4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55" name="Text 46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MVP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TieBreaker: An AI Agent That Resolves the Comparison In-App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Streamlit app on the real Myntra catalog (451 in-stock items, 4 categories) and the same LLM client as the discovery pipeline — no mock data.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1051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comparison gets resolved, end to end: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7" name="Shape 5"/>
          <p:cNvSpPr/>
          <p:nvPr/>
        </p:nvSpPr>
        <p:spPr>
          <a:xfrm>
            <a:off x="1356330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511" y="2291029"/>
            <a:ext cx="191110" cy="19111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7784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Tagged Items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639" y="2327148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85811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12" name="Shape 8"/>
          <p:cNvSpPr/>
          <p:nvPr/>
        </p:nvSpPr>
        <p:spPr>
          <a:xfrm>
            <a:off x="3639221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402" y="2291029"/>
            <a:ext cx="191110" cy="1911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40675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Prompt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530" y="2327148"/>
            <a:ext cx="237744" cy="237744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068702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17" name="Shape 11"/>
          <p:cNvSpPr/>
          <p:nvPr/>
        </p:nvSpPr>
        <p:spPr>
          <a:xfrm>
            <a:off x="5922112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293" y="2291029"/>
            <a:ext cx="191110" cy="19111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23566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 Call</a:t>
            </a:r>
            <a:endParaRPr lang="en-US" sz="14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8421" y="2327148"/>
            <a:ext cx="237744" cy="237744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7351593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22" name="Shape 14"/>
          <p:cNvSpPr/>
          <p:nvPr/>
        </p:nvSpPr>
        <p:spPr>
          <a:xfrm>
            <a:off x="8205003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184" y="2291029"/>
            <a:ext cx="191110" cy="19111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406457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Response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1312" y="2327148"/>
            <a:ext cx="237744" cy="237744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9634484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27" name="Shape 17"/>
          <p:cNvSpPr/>
          <p:nvPr/>
        </p:nvSpPr>
        <p:spPr>
          <a:xfrm>
            <a:off x="10487894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6075" y="2291029"/>
            <a:ext cx="191110" cy="19111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9689348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Decides</a:t>
            </a:r>
            <a:endParaRPr lang="en-US" sz="1400" dirty="0"/>
          </a:p>
        </p:txBody>
      </p:sp>
      <p:pic>
        <p:nvPicPr>
          <p:cNvPr id="30" name="Image 9" descr="./mvp_shots/shot_result_fin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2898648"/>
            <a:ext cx="5458968" cy="3017520"/>
          </a:xfrm>
          <a:prstGeom prst="rect">
            <a:avLst/>
          </a:prstGeom>
        </p:spPr>
      </p:pic>
      <p:sp>
        <p:nvSpPr>
          <p:cNvPr id="31" name="Shape 19"/>
          <p:cNvSpPr/>
          <p:nvPr/>
        </p:nvSpPr>
        <p:spPr>
          <a:xfrm>
            <a:off x="502920" y="2898648"/>
            <a:ext cx="5458968" cy="3017520"/>
          </a:xfrm>
          <a:prstGeom prst="rect">
            <a:avLst/>
          </a:prstGeom>
          <a:ln w="12700">
            <a:solidFill>
              <a:srgbClr val="D6DCE5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6236208" y="2898648"/>
            <a:ext cx="5452567" cy="1417320"/>
          </a:xfrm>
          <a:prstGeom prst="roundRect">
            <a:avLst>
              <a:gd name="adj" fmla="val 5161"/>
            </a:avLst>
          </a:prstGeom>
          <a:solidFill>
            <a:srgbClr val="E8EEF7"/>
          </a:solidFill>
          <a:ln/>
        </p:spPr>
      </p:sp>
      <p:sp>
        <p:nvSpPr>
          <p:cNvPr id="33" name="Shape 21"/>
          <p:cNvSpPr/>
          <p:nvPr/>
        </p:nvSpPr>
        <p:spPr>
          <a:xfrm>
            <a:off x="6419088" y="3081528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4302" y="3196742"/>
            <a:ext cx="281635" cy="281635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6419088" y="3685032"/>
            <a:ext cx="50868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capture</a:t>
            </a:r>
            <a:endParaRPr lang="en-US" sz="1500" dirty="0"/>
          </a:p>
        </p:txBody>
      </p:sp>
      <p:sp>
        <p:nvSpPr>
          <p:cNvPr id="36" name="Text 23"/>
          <p:cNvSpPr txBox="1"/>
          <p:nvPr/>
        </p:nvSpPr>
        <p:spPr>
          <a:xfrm>
            <a:off x="6419088" y="3959352"/>
            <a:ext cx="5086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chip at save-time: comparing, occasion, fit, or just liked it.</a:t>
            </a:r>
            <a:endParaRPr lang="en-US" sz="1400" dirty="0"/>
          </a:p>
        </p:txBody>
      </p:sp>
      <p:sp>
        <p:nvSpPr>
          <p:cNvPr id="37" name="Shape 24"/>
          <p:cNvSpPr/>
          <p:nvPr/>
        </p:nvSpPr>
        <p:spPr>
          <a:xfrm>
            <a:off x="6236208" y="4498848"/>
            <a:ext cx="5452567" cy="1417320"/>
          </a:xfrm>
          <a:prstGeom prst="roundRect">
            <a:avLst>
              <a:gd name="adj" fmla="val 5161"/>
            </a:avLst>
          </a:prstGeom>
          <a:solidFill>
            <a:srgbClr val="E8EEF7"/>
          </a:solidFill>
          <a:ln/>
        </p:spPr>
      </p:sp>
      <p:sp>
        <p:nvSpPr>
          <p:cNvPr id="38" name="Shape 25"/>
          <p:cNvSpPr/>
          <p:nvPr/>
        </p:nvSpPr>
        <p:spPr>
          <a:xfrm>
            <a:off x="6419088" y="4681728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4302" y="4796942"/>
            <a:ext cx="281635" cy="281635"/>
          </a:xfrm>
          <a:prstGeom prst="rect">
            <a:avLst/>
          </a:prstGeom>
        </p:spPr>
      </p:pic>
      <p:sp>
        <p:nvSpPr>
          <p:cNvPr id="40" name="Text 26"/>
          <p:cNvSpPr txBox="1"/>
          <p:nvPr/>
        </p:nvSpPr>
        <p:spPr>
          <a:xfrm>
            <a:off x="6419088" y="5285232"/>
            <a:ext cx="50868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comparison agent</a:t>
            </a:r>
            <a:endParaRPr lang="en-US" sz="1500" dirty="0"/>
          </a:p>
        </p:txBody>
      </p:sp>
      <p:sp>
        <p:nvSpPr>
          <p:cNvPr id="41" name="Text 27"/>
          <p:cNvSpPr txBox="1"/>
          <p:nvPr/>
        </p:nvSpPr>
        <p:spPr>
          <a:xfrm>
            <a:off x="6419088" y="5559552"/>
            <a:ext cx="5086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between saved items using real attributes — no price framing.</a:t>
            </a:r>
            <a:endParaRPr lang="en-US" sz="1400" dirty="0"/>
          </a:p>
        </p:txBody>
      </p:sp>
      <p:sp>
        <p:nvSpPr>
          <p:cNvPr id="42" name="Shape 28"/>
          <p:cNvSpPr/>
          <p:nvPr/>
        </p:nvSpPr>
        <p:spPr>
          <a:xfrm>
            <a:off x="502920" y="6044184"/>
            <a:ext cx="11185855" cy="32918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3" name="Text 29">
            <a:hlinkClick r:id="rId13" tooltip=""/>
          </p:cNvPr>
          <p:cNvSpPr txBox="1"/>
          <p:nvPr/>
        </p:nvSpPr>
        <p:spPr>
          <a:xfrm>
            <a:off x="502920" y="604418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(“TieBreaker”)  →  open ↗</a:t>
            </a:r>
            <a:endParaRPr lang="en-US" sz="1400" dirty="0"/>
          </a:p>
        </p:txBody>
      </p:sp>
      <p:sp>
        <p:nvSpPr>
          <p:cNvPr id="44" name="Text 3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45" name="Text 31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HOW IT WORKS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Browse to Decision in Four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40180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7889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&amp; Save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7512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adds a real product to their wishlist from the catalog.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182112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01568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3" name="Shape 9"/>
          <p:cNvSpPr/>
          <p:nvPr/>
        </p:nvSpPr>
        <p:spPr>
          <a:xfrm>
            <a:off x="3584448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5844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338828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708" y="27889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66160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the Reason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566160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tap: comparing, occasion, fit, or just liked it.</a:t>
            </a:r>
            <a:endParaRPr lang="en-US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182112"/>
            <a:ext cx="310896" cy="31089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0216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21" name="Shape 15"/>
          <p:cNvSpPr/>
          <p:nvPr/>
        </p:nvSpPr>
        <p:spPr>
          <a:xfrm>
            <a:off x="6483096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309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7237476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2788920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64808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Nudged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64808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comparisons surface a “still deciding?” prompt.</a:t>
            </a:r>
            <a:endParaRPr lang="en-US" sz="14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112" y="3182112"/>
            <a:ext cx="310896" cy="31089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9198864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29" name="Shape 21"/>
          <p:cNvSpPr/>
          <p:nvPr/>
        </p:nvSpPr>
        <p:spPr>
          <a:xfrm>
            <a:off x="9381744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3817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10136124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004" y="2788920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363456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Resolves It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363456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compares real attributes; user buys, keeps, or removes.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502920" y="5074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 real Streamlit widget wired to session state and the live LLM agent — nothing here is a mockup.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PROOF &amp; PATH TO SCALE — METRICS &amp; RISKS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 Rate Rises Only if Every Guardrail Holds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17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Primary: resolved ÷ (resolved + still-cold)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8483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INDICATORS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14016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225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Reason-capture 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151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Nudge-to-engagement 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29077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me decide” invocation 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Recommendation-acceptance rate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621024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F3C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(metrics that pause rollout on breach)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858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add rate (must hold)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42816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151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Add-flow abandonment rate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35424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4439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Regretted-removal rate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28032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736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failure rate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Monetary-language leakage (0%)</a:t>
            </a:r>
            <a:endParaRPr lang="en-US" sz="14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502920" y="546811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metrics: reports/define_success.md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14173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RISKS THESE GUARDRAILS WATCH (4 of 11)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26480" y="170078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192938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2028139"/>
            <a:ext cx="241402" cy="24140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6821424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Correlation, not causation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21424" y="210312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primary metric framed as a hypothesis-linked proxy, gated by a real A/B test.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126480" y="270662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2784" y="293522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39" y="3033979"/>
            <a:ext cx="241402" cy="2414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6821424" y="27980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Reason-tag friction shrinks the funnel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6821424" y="310896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wishlist add rate must hold steady or grow.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126480" y="37124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39" name="Shape 35"/>
          <p:cNvSpPr/>
          <p:nvPr/>
        </p:nvSpPr>
        <p:spPr>
          <a:xfrm>
            <a:off x="6272784" y="394106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4039819"/>
            <a:ext cx="241402" cy="241402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821424" y="38039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steers a bad decision</a:t>
            </a:r>
            <a:endParaRPr lang="en-US" sz="1400" dirty="0"/>
          </a:p>
        </p:txBody>
      </p:sp>
      <p:sp>
        <p:nvSpPr>
          <p:cNvPr id="42" name="Text 37"/>
          <p:cNvSpPr txBox="1"/>
          <p:nvPr/>
        </p:nvSpPr>
        <p:spPr>
          <a:xfrm>
            <a:off x="6821424" y="411480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regretted-removal rate.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6126480" y="471830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44" name="Shape 39"/>
          <p:cNvSpPr/>
          <p:nvPr/>
        </p:nvSpPr>
        <p:spPr>
          <a:xfrm>
            <a:off x="6272784" y="494690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39" y="5045659"/>
            <a:ext cx="241402" cy="241402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821424" y="480974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Monetary-language leakage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821424" y="51206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automated scan, target 0%.</a:t>
            </a:r>
            <a:endParaRPr lang="en-US" sz="1400" dirty="0"/>
          </a:p>
        </p:txBody>
      </p:sp>
      <p:sp>
        <p:nvSpPr>
          <p:cNvPr id="48" name="Text 42">
            <a:hlinkClick r:id="rId6" tooltip=""/>
          </p:cNvPr>
          <p:cNvSpPr txBox="1"/>
          <p:nvPr/>
        </p:nvSpPr>
        <p:spPr>
          <a:xfrm>
            <a:off x="6126480" y="570585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risk register (11 total): reports/risks_and_mitigation.md</a:t>
            </a:r>
            <a:endParaRPr lang="en-US" sz="1400" dirty="0"/>
          </a:p>
        </p:txBody>
      </p:sp>
      <p:sp>
        <p:nvSpPr>
          <p:cNvPr id="49" name="Text 43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50" name="Text 44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PROOF &amp; PATH TO SCALE —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This Gap Is Worth ₹265–688 Crore a Year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1965960"/>
        </p:xfrm>
        <a:graphic>
          <a:graphicData uri="http://schemas.openxmlformats.org/drawingml/2006/table">
            <a:tbl>
              <a:tblPr/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LIFT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ANNUAL GMV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PROFIT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17% (+5pp)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₹2,205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₹265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20% (+8pp)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₹3,528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₹423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25% (+13pp)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₹5,733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₹688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₹172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657600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(+5pp) is ~4.4% of Myntra's entire FY25 revenue and ~12% of its FY25 net profit — at a higher margin than average, since it monetizes demand already on the platform. Modeled estimate on labeled assumptions, not a Myntra-disclosed figure.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4334256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0F766E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4471416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4586630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334256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the 11 identified risks already have a guardrail or leading-indicator metric watching for them — designed against these exact failure modes, not in a vacuum.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5212080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SCALE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2920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9224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Pilot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9224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Ready-to-test experiments as scoped prototypes.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directional lift, 0% leakage.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92498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38802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Validate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438802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30-day A/B on real conversion.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significant lift, guardrails hold.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82077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228381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Scale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28381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deployment + mechanism-preference signal.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north star trending up, base-wide.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2026-09-05T07:44:45Z</dcterms:created>
  <dcterms:modified xsi:type="dcterms:W3CDTF">2026-09-05T07:44:45Z</dcterms:modified>
</cp:coreProperties>
</file>