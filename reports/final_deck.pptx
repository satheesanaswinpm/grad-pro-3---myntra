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charts/chart1.xml" ContentType="application/vnd.openxmlformats-officedocument.drawingml.chart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pie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Removal reason</c:v>
                </c:pt>
              </c:strCache>
            </c:strRef>
          </c:tx>
          <c:spPr>
            <a:solidFill>
              <a:schemeClr val="accent1"/>
            </a:solidFill>
            <a:ln w="9525" cap="flat">
              <a:solidFill>
                <a:srgbClr val="F9F9F9"/>
              </a:solidFill>
              <a:prstDash val="solid"/>
              <a:round/>
            </a:ln>
            <a:effectLst/>
          </c:spPr>
          <c:dPt>
            <c:idx val="0"/>
            <c:bubble3D val="0"/>
            <c:spPr>
              <a:solidFill>
                <a:srgbClr val="0F766E"/>
              </a:solidFill>
              <a:effectLst/>
            </c:spPr>
          </c:dPt>
          <c:dPt>
            <c:idx val="1"/>
            <c:bubble3D val="0"/>
            <c:spPr>
              <a:solidFill>
                <a:srgbClr val="3B9E93"/>
              </a:solidFill>
              <a:effectLst/>
            </c:spPr>
          </c:dPt>
          <c:dPt>
            <c:idx val="2"/>
            <c:bubble3D val="0"/>
            <c:spPr>
              <a:solidFill>
                <a:srgbClr val="B45309"/>
              </a:solidFill>
              <a:effectLst/>
            </c:spPr>
          </c:dPt>
          <c:dPt>
            <c:idx val="3"/>
            <c:bubble3D val="0"/>
            <c:spPr>
              <a:solidFill>
                <a:srgbClr val="D8A85C"/>
              </a:solidFill>
              <a:effectLst/>
            </c:spPr>
          </c:dPt>
          <c:dPt>
            <c:idx val="4"/>
            <c:bubble3D val="0"/>
            <c:spPr>
              <a:solidFill>
                <a:srgbClr val="475569"/>
              </a:solidFill>
              <a:effectLst/>
            </c:spPr>
          </c:dPt>
          <c:dLbls>
            <c:dLbl>
              <c:idx val="0"/>
              <c:numFmt formatCode="0%" sourceLinked="0"/>
              <c:spPr/>
              <c:txPr>
                <a:bodyPr/>
                <a:lstStyle/>
                <a:p>
                  <a:pPr>
                    <a:defRPr sz="1100" b="0" i="0" u="none" strike="noStrike">
                      <a:solidFill>
                        <a:srgbClr val="FFFFFF"/>
                      </a:solidFill>
                      <a:latin typeface="Arial"/>
                    </a:defRPr>
                  </a:pPr>
                </a:p>
              </c:txPr>
              <c:dLblPos val="inEnd"/>
              <c:showLegendKey val="0"/>
              <c:showVal val="0"/>
              <c:showCatName val="0"/>
              <c:showSerName val="0"/>
              <c:showPercent val="1"/>
              <c:showBubbleSize val="0"/>
            </c:dLbl>
            <c:dLbl>
              <c:idx val="1"/>
              <c:numFmt formatCode="0%" sourceLinked="0"/>
              <c:spPr/>
              <c:txPr>
                <a:bodyPr/>
                <a:lstStyle/>
                <a:p>
                  <a:pPr>
                    <a:defRPr sz="1100" b="0" i="0" u="none" strike="noStrike">
                      <a:solidFill>
                        <a:srgbClr val="FFFFFF"/>
                      </a:solidFill>
                      <a:latin typeface="Arial"/>
                    </a:defRPr>
                  </a:pPr>
                </a:p>
              </c:txPr>
              <c:dLblPos val="inEnd"/>
              <c:showLegendKey val="0"/>
              <c:showVal val="0"/>
              <c:showCatName val="0"/>
              <c:showSerName val="0"/>
              <c:showPercent val="1"/>
              <c:showBubbleSize val="0"/>
            </c:dLbl>
            <c:dLbl>
              <c:idx val="2"/>
              <c:numFmt formatCode="0%" sourceLinked="0"/>
              <c:spPr/>
              <c:txPr>
                <a:bodyPr/>
                <a:lstStyle/>
                <a:p>
                  <a:pPr>
                    <a:defRPr sz="1100" b="0" i="0" u="none" strike="noStrike">
                      <a:solidFill>
                        <a:srgbClr val="FFFFFF"/>
                      </a:solidFill>
                      <a:latin typeface="Arial"/>
                    </a:defRPr>
                  </a:pPr>
                </a:p>
              </c:txPr>
              <c:dLblPos val="inEnd"/>
              <c:showLegendKey val="0"/>
              <c:showVal val="0"/>
              <c:showCatName val="0"/>
              <c:showSerName val="0"/>
              <c:showPercent val="1"/>
              <c:showBubbleSize val="0"/>
            </c:dLbl>
            <c:dLbl>
              <c:idx val="3"/>
              <c:numFmt formatCode="0%" sourceLinked="0"/>
              <c:spPr/>
              <c:txPr>
                <a:bodyPr/>
                <a:lstStyle/>
                <a:p>
                  <a:pPr>
                    <a:defRPr sz="1100" b="0" i="0" u="none" strike="noStrike">
                      <a:solidFill>
                        <a:srgbClr val="FFFFFF"/>
                      </a:solidFill>
                      <a:latin typeface="Arial"/>
                    </a:defRPr>
                  </a:pPr>
                </a:p>
              </c:txPr>
              <c:dLblPos val="inEnd"/>
              <c:showLegendKey val="0"/>
              <c:showVal val="0"/>
              <c:showCatName val="0"/>
              <c:showSerName val="0"/>
              <c:showPercent val="1"/>
              <c:showBubbleSize val="0"/>
            </c:dLbl>
            <c:dLbl>
              <c:idx val="4"/>
              <c:numFmt formatCode="0%" sourceLinked="0"/>
              <c:spPr/>
              <c:txPr>
                <a:bodyPr/>
                <a:lstStyle/>
                <a:p>
                  <a:pPr>
                    <a:defRPr sz="1100" b="0" i="0" u="none" strike="noStrike">
                      <a:solidFill>
                        <a:srgbClr val="FFFFFF"/>
                      </a:solidFill>
                      <a:latin typeface="Arial"/>
                    </a:defRPr>
                  </a:pPr>
                </a:p>
              </c:txPr>
              <c:dLblPos val="inEnd"/>
              <c:showLegendKey val="0"/>
              <c:showVal val="0"/>
              <c:showCatName val="0"/>
              <c:showSerName val="0"/>
              <c:showPercent val="1"/>
              <c:showBubbleSize val="0"/>
            </c:dLbl>
            <c:numFmt formatCode="0%" sourceLinked="0"/>
            <c:txPr>
              <a:bodyPr/>
              <a:lstStyle/>
              <a:p>
                <a:pPr>
                  <a:defRPr sz="1800" b="0" i="0" u="none" strike="noStrik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dLblPos val="ctr"/>
            <c:showLegendKey val="0"/>
            <c:showVal val="0"/>
            <c:showCatName val="1"/>
            <c:showSerName val="0"/>
            <c:showPercent val="1"/>
            <c:showBubbleSize val="0"/>
            <c:showLeaderLines val="0"/>
          </c:dLbls>
          <c:cat>
            <c:strRef>
              <c:f>Sheet1!$A$2:$A$6</c:f>
              <c:strCache>
                <c:ptCount val="5"/>
                <c:pt idx="0">
                  <c:v>Found a better alternative</c:v>
                </c:pt>
                <c:pt idx="1">
                  <c:v>Price never dropped</c:v>
                </c:pt>
                <c:pt idx="2">
                  <c:v>Lost interest / no longer needed</c:v>
                </c:pt>
                <c:pt idx="3">
                  <c:v>Realized it wouldn't fit/suit</c:v>
                </c:pt>
                <c:pt idx="4">
                  <c:v>Went out of stock</c:v>
                </c:pt>
              </c:strCache>
            </c:strRef>
          </c:cat>
          <c:val>
            <c:numRef>
              <c:f>Sheet1!$B$2:$B$6</c:f>
              <c:numCache>
                <c:ptCount val="5"/>
                <c:pt idx="0">
                  <c:v>41.7</c:v>
                </c:pt>
                <c:pt idx="1">
                  <c:v>19.4</c:v>
                </c:pt>
                <c:pt idx="2">
                  <c:v>13.9</c:v>
                </c:pt>
                <c:pt idx="3">
                  <c:v>13.9</c:v>
                </c:pt>
                <c:pt idx="4">
                  <c:v>11.1</c:v>
                </c:pt>
              </c:numCache>
            </c:numRef>
          </c:val>
        </c:ser>
        <c:firstSliceAng val="0"/>
      </c:pieChart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100">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hyperlink" Target="https://github.com/satheesanaswinPM/grad-pro-3---myntra/blob/master/reports/myntra_market_research.pdf" TargetMode="External"/><Relationship Id="rId1" Type="http://schemas.openxmlformats.org/officeDocument/2006/relationships/image" Target="../media/image-1-1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7" Type="http://schemas.openxmlformats.org/officeDocument/2006/relationships/hyperlink" Target="https://github.com/satheesanaswinPM/grad-pro-3---myntra/blob/master/reports/metric_decomposition.md" TargetMode="External"/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image" Target="../media/image-2-4.png"/><Relationship Id="rId5" Type="http://schemas.openxmlformats.org/officeDocument/2006/relationships/image" Target="../media/image-2-5.png"/><Relationship Id="rId6" Type="http://schemas.openxmlformats.org/officeDocument/2006/relationships/image" Target="../media/image-2-6.png"/><Relationship Id="rId8" Type="http://schemas.openxmlformats.org/officeDocument/2006/relationships/slideLayout" Target="../slideLayouts/slideLayout1.xml"/><Relationship Id="rId9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2" Type="http://schemas.openxmlformats.org/officeDocument/2006/relationships/hyperlink" Target="https://github.com/satheesanaswinPM/grad-pro-3---myntra/blob/master/reports/opportunity_register.md" TargetMode="External"/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image" Target="../media/image-3-3.png"/><Relationship Id="rId4" Type="http://schemas.openxmlformats.org/officeDocument/2006/relationships/image" Target="../media/image-3-4.png"/><Relationship Id="rId5" Type="http://schemas.openxmlformats.org/officeDocument/2006/relationships/image" Target="../media/image-3-5.png"/><Relationship Id="rId6" Type="http://schemas.openxmlformats.org/officeDocument/2006/relationships/image" Target="../media/image-3-6.png"/><Relationship Id="rId7" Type="http://schemas.openxmlformats.org/officeDocument/2006/relationships/image" Target="../media/image-3-7.png"/><Relationship Id="rId8" Type="http://schemas.openxmlformats.org/officeDocument/2006/relationships/image" Target="../media/image-3-8.png"/><Relationship Id="rId9" Type="http://schemas.openxmlformats.org/officeDocument/2006/relationships/image" Target="../media/image-3-9.png"/><Relationship Id="rId10" Type="http://schemas.openxmlformats.org/officeDocument/2006/relationships/image" Target="../media/image-3-10.png"/><Relationship Id="rId11" Type="http://schemas.openxmlformats.org/officeDocument/2006/relationships/image" Target="../media/image-3-11.png"/><Relationship Id="rId13" Type="http://schemas.openxmlformats.org/officeDocument/2006/relationships/slideLayout" Target="../slideLayouts/slideLayout1.xml"/><Relationship Id="rId14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hyperlink" Target="https://docs.google.com/spreadsheets/d/1VwXdunQdj3jlc9xdDAIXCJq32vKBCHUKbpNLawxBhKQ/edit" TargetMode="External"/><Relationship Id="rId5" Type="http://schemas.openxmlformats.org/officeDocument/2006/relationships/hyperlink" Target="https://github.com/satheesanaswinPM/grad-pro-3---myntra/blob/master/reports/interview_findings.md" TargetMode="External"/><Relationship Id="rId1" Type="http://schemas.openxmlformats.org/officeDocument/2006/relationships/chart" Target="/ppt/charts/chart1.xml"/><Relationship Id="rId3" Type="http://schemas.openxmlformats.org/officeDocument/2006/relationships/image" Target="../media/image-4-1.png"/><Relationship Id="rId4" Type="http://schemas.openxmlformats.org/officeDocument/2006/relationships/image" Target="../media/image-4-2.png"/><Relationship Id="rId6" Type="http://schemas.openxmlformats.org/officeDocument/2006/relationships/image" Target="../media/image-4-3.png"/><Relationship Id="rId7" Type="http://schemas.openxmlformats.org/officeDocument/2006/relationships/image" Target="../media/image-4-4.png"/><Relationship Id="rId8" Type="http://schemas.openxmlformats.org/officeDocument/2006/relationships/slideLayout" Target="../slideLayouts/slideLayout1.xml"/><Relationship Id="rId9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image" Target="../media/image-5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png"/><Relationship Id="rId3" Type="http://schemas.openxmlformats.org/officeDocument/2006/relationships/image" Target="../media/image-6-3.png"/><Relationship Id="rId4" Type="http://schemas.openxmlformats.org/officeDocument/2006/relationships/image" Target="../media/image-6-4.png"/><Relationship Id="rId5" Type="http://schemas.openxmlformats.org/officeDocument/2006/relationships/image" Target="../media/image-6-5.png"/><Relationship Id="rId6" Type="http://schemas.openxmlformats.org/officeDocument/2006/relationships/image" Target="../media/image-6-6.png"/><Relationship Id="rId7" Type="http://schemas.openxmlformats.org/officeDocument/2006/relationships/image" Target="../media/image-6-7.png"/><Relationship Id="rId8" Type="http://schemas.openxmlformats.org/officeDocument/2006/relationships/slideLayout" Target="../slideLayouts/slideLayout1.xml"/><Relationship Id="rId9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image" Target="../media/image-7-2.png"/><Relationship Id="rId3" Type="http://schemas.openxmlformats.org/officeDocument/2006/relationships/image" Target="../media/image-7-3.png"/><Relationship Id="rId4" Type="http://schemas.openxmlformats.org/officeDocument/2006/relationships/image" Target="../media/image-7-4.png"/><Relationship Id="rId5" Type="http://schemas.openxmlformats.org/officeDocument/2006/relationships/image" Target="../media/image-7-5.png"/><Relationship Id="rId6" Type="http://schemas.openxmlformats.org/officeDocument/2006/relationships/image" Target="../media/image-7-6.png"/><Relationship Id="rId7" Type="http://schemas.openxmlformats.org/officeDocument/2006/relationships/image" Target="../media/image-7-7.png"/><Relationship Id="rId8" Type="http://schemas.openxmlformats.org/officeDocument/2006/relationships/image" Target="../media/image-7-8.png"/><Relationship Id="rId9" Type="http://schemas.openxmlformats.org/officeDocument/2006/relationships/image" Target="../media/image-7-9.png"/><Relationship Id="rId10" Type="http://schemas.openxmlformats.org/officeDocument/2006/relationships/image" Target="../media/image-7-10.png"/><Relationship Id="rId11" Type="http://schemas.openxmlformats.org/officeDocument/2006/relationships/image" Target="../media/image-7-11.png"/><Relationship Id="rId12" Type="http://schemas.openxmlformats.org/officeDocument/2006/relationships/image" Target="../media/image-7-12.png"/><Relationship Id="rId13" Type="http://schemas.openxmlformats.org/officeDocument/2006/relationships/slideLayout" Target="../slideLayouts/slideLayout1.xml"/><Relationship Id="rId14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png"/><Relationship Id="rId3" Type="http://schemas.openxmlformats.org/officeDocument/2006/relationships/image" Target="../media/image-8-3.png"/><Relationship Id="rId4" Type="http://schemas.openxmlformats.org/officeDocument/2006/relationships/image" Target="../media/image-8-4.png"/><Relationship Id="rId5" Type="http://schemas.openxmlformats.org/officeDocument/2006/relationships/image" Target="../media/image-8-5.png"/><Relationship Id="rId6" Type="http://schemas.openxmlformats.org/officeDocument/2006/relationships/image" Target="../media/image-8-6.png"/><Relationship Id="rId7" Type="http://schemas.openxmlformats.org/officeDocument/2006/relationships/image" Target="../media/image-8-7.png"/><Relationship Id="rId8" Type="http://schemas.openxmlformats.org/officeDocument/2006/relationships/slideLayout" Target="../slideLayouts/slideLayout1.xml"/><Relationship Id="rId9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hyperlink" Target="https://github.com/satheesanaswinPM/grad-pro-3---myntra/blob/master/reports/define_success.md" TargetMode="External"/><Relationship Id="rId6" Type="http://schemas.openxmlformats.org/officeDocument/2006/relationships/hyperlink" Target="https://github.com/satheesanaswinPM/grad-pro-3---myntra/blob/master/reports/risks_and_mitigation.md" TargetMode="External"/><Relationship Id="rId2" Type="http://schemas.openxmlformats.org/officeDocument/2006/relationships/image" Target="../media/image-9-1.png"/><Relationship Id="rId3" Type="http://schemas.openxmlformats.org/officeDocument/2006/relationships/image" Target="../media/image-9-2.png"/><Relationship Id="rId4" Type="http://schemas.openxmlformats.org/officeDocument/2006/relationships/image" Target="../media/image-9-3.png"/><Relationship Id="rId5" Type="http://schemas.openxmlformats.org/officeDocument/2006/relationships/image" Target="../media/image-9-4.pn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32004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150" kern="0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 1 · THE OPPORTUNITY — MARKET CONTEXT</a:t>
            </a:r>
            <a:endParaRPr lang="en-US" sz="1400" dirty="0"/>
          </a:p>
        </p:txBody>
      </p:sp>
      <p:sp>
        <p:nvSpPr>
          <p:cNvPr id="3" name="Text 1"/>
          <p:cNvSpPr txBox="1"/>
          <p:nvPr/>
        </p:nvSpPr>
        <p:spPr>
          <a:xfrm>
            <a:off x="502920" y="566928"/>
            <a:ext cx="1118585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2000"/>
              </a:lnSpc>
              <a:buNone/>
            </a:pPr>
            <a:r>
              <a:rPr lang="en-US" sz="2700" b="1" dirty="0">
                <a:solidFill>
                  <a:srgbClr val="16233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Myntra's Scale Makes a Small Wishlist-Conversion Gap Worth Hundreds of Crores</a:t>
            </a:r>
            <a:endParaRPr lang="en-US" sz="2700" dirty="0"/>
          </a:p>
        </p:txBody>
      </p:sp>
      <p:sp>
        <p:nvSpPr>
          <p:cNvPr id="4" name="Text 2"/>
          <p:cNvSpPr txBox="1"/>
          <p:nvPr/>
        </p:nvSpPr>
        <p:spPr>
          <a:xfrm>
            <a:off x="502920" y="1481328"/>
            <a:ext cx="5486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80" kern="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OPPORTUNITY, SIZED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502920" y="1737360"/>
            <a:ext cx="11185855" cy="777240"/>
          </a:xfrm>
          <a:prstGeom prst="roundRect">
            <a:avLst>
              <a:gd name="adj" fmla="val 7059"/>
            </a:avLst>
          </a:prstGeom>
          <a:solidFill>
            <a:srgbClr val="1B2A4A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713232" y="1810512"/>
            <a:ext cx="1072865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AFC0D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TAM  </a:t>
            </a:r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$21B</a:t>
            </a:r>
            <a:endParaRPr lang="en-US" sz="1300" dirty="0"/>
          </a:p>
        </p:txBody>
      </p:sp>
      <p:sp>
        <p:nvSpPr>
          <p:cNvPr id="7" name="Text 5"/>
          <p:cNvSpPr txBox="1"/>
          <p:nvPr/>
        </p:nvSpPr>
        <p:spPr>
          <a:xfrm>
            <a:off x="713232" y="2121408"/>
            <a:ext cx="10728655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India's fashion e-commerce market. </a:t>
            </a:r>
            <a:pPr indent="0" marL="0">
              <a:lnSpc>
                <a:spcPct val="105000"/>
              </a:lnSpc>
              <a:buNone/>
            </a:pPr>
            <a:r>
              <a:rPr lang="en-US" sz="1400" i="1" dirty="0">
                <a:solidFill>
                  <a:srgbClr val="AFC0D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Outlook Business/Whalesbook, 2026 — Myntra ~30–35% share.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502920" y="2633472"/>
            <a:ext cx="8724967" cy="777240"/>
          </a:xfrm>
          <a:prstGeom prst="roundRect">
            <a:avLst>
              <a:gd name="adj" fmla="val 7059"/>
            </a:avLst>
          </a:prstGeom>
          <a:solidFill>
            <a:srgbClr val="0F766E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713232" y="2706624"/>
            <a:ext cx="8267767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7ECE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  </a:t>
            </a:r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24.5M</a:t>
            </a:r>
            <a:endParaRPr lang="en-US" sz="1300" dirty="0"/>
          </a:p>
        </p:txBody>
      </p:sp>
      <p:sp>
        <p:nvSpPr>
          <p:cNvPr id="10" name="Text 8"/>
          <p:cNvSpPr txBox="1"/>
          <p:nvPr/>
        </p:nvSpPr>
        <p:spPr>
          <a:xfrm>
            <a:off x="713232" y="3017520"/>
            <a:ext cx="8267767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Myntra wishlist-active users per month. </a:t>
            </a:r>
            <a:pPr indent="0" marL="0">
              <a:lnSpc>
                <a:spcPct val="105000"/>
              </a:lnSpc>
              <a:buNone/>
            </a:pPr>
            <a:r>
              <a:rPr lang="en-US" sz="1400" i="1" dirty="0">
                <a:solidFill>
                  <a:srgbClr val="D7ECE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Modeled — 35% of 70M MAU, market research case study.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502920" y="3529584"/>
            <a:ext cx="6264079" cy="777240"/>
          </a:xfrm>
          <a:prstGeom prst="roundRect">
            <a:avLst>
              <a:gd name="adj" fmla="val 7059"/>
            </a:avLst>
          </a:prstGeom>
          <a:solidFill>
            <a:srgbClr val="B45309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713232" y="3602736"/>
            <a:ext cx="5806879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6E7D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SOM  </a:t>
            </a:r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~15M</a:t>
            </a:r>
            <a:endParaRPr lang="en-US" sz="1300" dirty="0"/>
          </a:p>
        </p:txBody>
      </p:sp>
      <p:sp>
        <p:nvSpPr>
          <p:cNvPr id="13" name="Text 11"/>
          <p:cNvSpPr txBox="1"/>
          <p:nvPr/>
        </p:nvSpPr>
        <p:spPr>
          <a:xfrm>
            <a:off x="713232" y="3913632"/>
            <a:ext cx="5806879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Active Comparers, 61% of wishlist-active users. </a:t>
            </a:r>
            <a:pPr indent="0" marL="0">
              <a:lnSpc>
                <a:spcPct val="105000"/>
              </a:lnSpc>
              <a:buNone/>
            </a:pPr>
            <a:r>
              <a:rPr lang="en-US" sz="1400" i="1" dirty="0">
                <a:solidFill>
                  <a:srgbClr val="F6E7D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Wishlist Behavior Survey, n=36.</a:t>
            </a:r>
            <a:endParaRPr lang="en-US" sz="1400" dirty="0"/>
          </a:p>
        </p:txBody>
      </p:sp>
      <p:sp>
        <p:nvSpPr>
          <p:cNvPr id="14" name="Text 12"/>
          <p:cNvSpPr txBox="1"/>
          <p:nvPr/>
        </p:nvSpPr>
        <p:spPr>
          <a:xfrm>
            <a:off x="502920" y="4361688"/>
            <a:ext cx="11185855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India's online fashion sector grows at a 21.1% CAGR through 2030 — Myntra is its largest dedicated platform. (Whalesbook)</a:t>
            </a:r>
            <a:endParaRPr lang="en-US" sz="1400" dirty="0"/>
          </a:p>
        </p:txBody>
      </p:sp>
      <p:sp>
        <p:nvSpPr>
          <p:cNvPr id="15" name="Text 13"/>
          <p:cNvSpPr txBox="1"/>
          <p:nvPr/>
        </p:nvSpPr>
        <p:spPr>
          <a:xfrm>
            <a:off x="502920" y="4690872"/>
            <a:ext cx="1118585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5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 this scale, a few percentage points of wishlist conversion is not a rounding error — it's real money already sitting on the platform:</a:t>
            </a:r>
            <a:endParaRPr lang="en-US" sz="1500" dirty="0"/>
          </a:p>
        </p:txBody>
      </p:sp>
      <p:sp>
        <p:nvSpPr>
          <p:cNvPr id="16" name="Shape 14"/>
          <p:cNvSpPr/>
          <p:nvPr/>
        </p:nvSpPr>
        <p:spPr>
          <a:xfrm>
            <a:off x="502920" y="5148072"/>
            <a:ext cx="11185855" cy="868680"/>
          </a:xfrm>
          <a:prstGeom prst="roundRect">
            <a:avLst>
              <a:gd name="adj" fmla="val 8421"/>
            </a:avLst>
          </a:prstGeom>
          <a:solidFill>
            <a:srgbClr val="1B2A4A"/>
          </a:solidFill>
          <a:ln/>
        </p:spPr>
      </p:sp>
      <p:sp>
        <p:nvSpPr>
          <p:cNvPr id="17" name="Shape 15"/>
          <p:cNvSpPr/>
          <p:nvPr/>
        </p:nvSpPr>
        <p:spPr>
          <a:xfrm>
            <a:off x="731520" y="5312664"/>
            <a:ext cx="548640" cy="548640"/>
          </a:xfrm>
          <a:prstGeom prst="ellipse">
            <a:avLst/>
          </a:prstGeom>
          <a:solidFill>
            <a:srgbClr val="0F766E"/>
          </a:solidFill>
          <a:ln/>
        </p:spPr>
      </p:sp>
      <p:pic>
        <p:nvPicPr>
          <p:cNvPr id="18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54964" y="5436108"/>
            <a:ext cx="301752" cy="301752"/>
          </a:xfrm>
          <a:prstGeom prst="rect">
            <a:avLst/>
          </a:prstGeom>
        </p:spPr>
      </p:pic>
      <p:sp>
        <p:nvSpPr>
          <p:cNvPr id="19" name="Text 16"/>
          <p:cNvSpPr txBox="1"/>
          <p:nvPr/>
        </p:nvSpPr>
        <p:spPr>
          <a:xfrm>
            <a:off x="1508760" y="5148072"/>
            <a:ext cx="999713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Even the conservative scenario — a 5-point conversion lift — is modeled at ₹265 Cr in incremental annual revenue, ~12% of Myntra's entire FY25 net profit, with no new acquisition spend, because it monetizes demand already on the platform.</a:t>
            </a:r>
            <a:endParaRPr lang="en-US" sz="1400" dirty="0"/>
          </a:p>
        </p:txBody>
      </p:sp>
      <p:sp>
        <p:nvSpPr>
          <p:cNvPr id="20" name="Text 17">
            <a:hlinkClick r:id="rId2" tooltip=""/>
          </p:cNvPr>
          <p:cNvSpPr txBox="1"/>
          <p:nvPr/>
        </p:nvSpPr>
        <p:spPr>
          <a:xfrm>
            <a:off x="502920" y="6108192"/>
            <a:ext cx="11185855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u="sng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2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Source: Myntra Market Research &amp; Case Study (Sept 2026).</a:t>
            </a:r>
            <a:endParaRPr lang="en-US" sz="1400" dirty="0"/>
          </a:p>
        </p:txBody>
      </p:sp>
      <p:sp>
        <p:nvSpPr>
          <p:cNvPr id="21" name="Text 18"/>
          <p:cNvSpPr txBox="1"/>
          <p:nvPr/>
        </p:nvSpPr>
        <p:spPr>
          <a:xfrm>
            <a:off x="50292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Myntra Growth · Wishlist-to-Purchase Conversion</a:t>
            </a:r>
            <a:endParaRPr lang="en-US" sz="1400" dirty="0"/>
          </a:p>
        </p:txBody>
      </p:sp>
      <p:sp>
        <p:nvSpPr>
          <p:cNvPr id="22" name="Text 19"/>
          <p:cNvSpPr txBox="1"/>
          <p:nvPr/>
        </p:nvSpPr>
        <p:spPr>
          <a:xfrm>
            <a:off x="11368735" y="647395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4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32004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150" kern="0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 1 · THE OPPORTUNITY — METRIC DECOMPOSITION</a:t>
            </a:r>
            <a:endParaRPr lang="en-US" sz="1400" dirty="0"/>
          </a:p>
        </p:txBody>
      </p:sp>
      <p:sp>
        <p:nvSpPr>
          <p:cNvPr id="3" name="Text 1"/>
          <p:cNvSpPr txBox="1"/>
          <p:nvPr/>
        </p:nvSpPr>
        <p:spPr>
          <a:xfrm>
            <a:off x="502920" y="566928"/>
            <a:ext cx="1118585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2000"/>
              </a:lnSpc>
              <a:buNone/>
            </a:pPr>
            <a:r>
              <a:rPr lang="en-US" sz="2700" b="1" dirty="0">
                <a:solidFill>
                  <a:srgbClr val="16233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30-Day Conversion Metric Hides Five Separate Failure Points</a:t>
            </a:r>
            <a:endParaRPr lang="en-US" sz="2700" dirty="0"/>
          </a:p>
        </p:txBody>
      </p:sp>
      <p:sp>
        <p:nvSpPr>
          <p:cNvPr id="4" name="Shape 2"/>
          <p:cNvSpPr/>
          <p:nvPr/>
        </p:nvSpPr>
        <p:spPr>
          <a:xfrm>
            <a:off x="502920" y="1600200"/>
            <a:ext cx="5074920" cy="2331720"/>
          </a:xfrm>
          <a:prstGeom prst="roundRect">
            <a:avLst>
              <a:gd name="adj" fmla="val 3529"/>
            </a:avLst>
          </a:prstGeom>
          <a:solidFill>
            <a:srgbClr val="E8EEF7"/>
          </a:solidFill>
          <a:ln/>
        </p:spPr>
      </p:sp>
      <p:sp>
        <p:nvSpPr>
          <p:cNvPr id="5" name="Shape 3"/>
          <p:cNvSpPr/>
          <p:nvPr/>
        </p:nvSpPr>
        <p:spPr>
          <a:xfrm>
            <a:off x="777240" y="1856232"/>
            <a:ext cx="566928" cy="566928"/>
          </a:xfrm>
          <a:prstGeom prst="ellipse">
            <a:avLst/>
          </a:prstGeom>
          <a:solidFill>
            <a:srgbClr val="0F766E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04799" y="1983791"/>
            <a:ext cx="311810" cy="311810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1508760" y="1783080"/>
            <a:ext cx="3931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600" b="1" dirty="0">
                <a:solidFill>
                  <a:srgbClr val="1B2A4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“% of users who purchase at least one wishlisted item within 30 days of adding it”</a:t>
            </a:r>
            <a:endParaRPr lang="en-US" sz="1600" dirty="0"/>
          </a:p>
        </p:txBody>
      </p:sp>
      <p:sp>
        <p:nvSpPr>
          <p:cNvPr id="8" name="Shape 5"/>
          <p:cNvSpPr/>
          <p:nvPr/>
        </p:nvSpPr>
        <p:spPr>
          <a:xfrm>
            <a:off x="777240" y="2971800"/>
            <a:ext cx="4480560" cy="841248"/>
          </a:xfrm>
          <a:prstGeom prst="roundRect">
            <a:avLst>
              <a:gd name="adj" fmla="val 7609"/>
            </a:avLst>
          </a:prstGeom>
          <a:solidFill>
            <a:srgbClr val="F6E7D2"/>
          </a:solidFill>
          <a:ln/>
        </p:spPr>
      </p:sp>
      <p:sp>
        <p:nvSpPr>
          <p:cNvPr id="9" name="Text 6"/>
          <p:cNvSpPr txBox="1"/>
          <p:nvPr/>
        </p:nvSpPr>
        <p:spPr>
          <a:xfrm>
            <a:off x="960120" y="3026664"/>
            <a:ext cx="4114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B4530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Constraint: no monetary incentives — discounts, coupons, and cashback are excluded as the primary lever.</a:t>
            </a:r>
            <a:endParaRPr lang="en-US" sz="1400" dirty="0"/>
          </a:p>
        </p:txBody>
      </p:sp>
      <p:sp>
        <p:nvSpPr>
          <p:cNvPr id="10" name="Text 7"/>
          <p:cNvSpPr txBox="1"/>
          <p:nvPr/>
        </p:nvSpPr>
        <p:spPr>
          <a:xfrm>
            <a:off x="5806440" y="1627632"/>
            <a:ext cx="5852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single number can't say where the item is lost:</a:t>
            </a:r>
            <a:endParaRPr lang="en-US" sz="1400" dirty="0"/>
          </a:p>
        </p:txBody>
      </p:sp>
      <p:sp>
        <p:nvSpPr>
          <p:cNvPr id="11" name="Shape 8"/>
          <p:cNvSpPr/>
          <p:nvPr/>
        </p:nvSpPr>
        <p:spPr>
          <a:xfrm>
            <a:off x="5806440" y="2084832"/>
            <a:ext cx="5852160" cy="365760"/>
          </a:xfrm>
          <a:prstGeom prst="roundRect">
            <a:avLst>
              <a:gd name="adj" fmla="val 12500"/>
            </a:avLst>
          </a:prstGeom>
          <a:solidFill>
            <a:srgbClr val="0F766E"/>
          </a:solidFill>
          <a:ln/>
        </p:spPr>
      </p:sp>
      <p:sp>
        <p:nvSpPr>
          <p:cNvPr id="12" name="Shape 9"/>
          <p:cNvSpPr/>
          <p:nvPr/>
        </p:nvSpPr>
        <p:spPr>
          <a:xfrm>
            <a:off x="5897880" y="2121408"/>
            <a:ext cx="292608" cy="292608"/>
          </a:xfrm>
          <a:prstGeom prst="ellipse">
            <a:avLst/>
          </a:prstGeom>
          <a:solidFill>
            <a:srgbClr val="1E8A80"/>
          </a:solidFill>
          <a:ln/>
        </p:spPr>
      </p:sp>
      <p:pic>
        <p:nvPicPr>
          <p:cNvPr id="13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63717" y="2187245"/>
            <a:ext cx="160934" cy="160934"/>
          </a:xfrm>
          <a:prstGeom prst="rect">
            <a:avLst/>
          </a:prstGeom>
        </p:spPr>
      </p:pic>
      <p:sp>
        <p:nvSpPr>
          <p:cNvPr id="14" name="Text 10"/>
          <p:cNvSpPr txBox="1"/>
          <p:nvPr/>
        </p:nvSpPr>
        <p:spPr>
          <a:xfrm>
            <a:off x="6309360" y="2084832"/>
            <a:ext cx="4114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A. Re-engagement</a:t>
            </a:r>
            <a:endParaRPr lang="en-US" sz="1400" dirty="0"/>
          </a:p>
        </p:txBody>
      </p:sp>
      <p:sp>
        <p:nvSpPr>
          <p:cNvPr id="15" name="Shape 11"/>
          <p:cNvSpPr/>
          <p:nvPr/>
        </p:nvSpPr>
        <p:spPr>
          <a:xfrm>
            <a:off x="10515600" y="2121408"/>
            <a:ext cx="1005840" cy="292608"/>
          </a:xfrm>
          <a:prstGeom prst="roundRect">
            <a:avLst>
              <a:gd name="adj" fmla="val 50000"/>
            </a:avLst>
          </a:prstGeom>
          <a:solidFill>
            <a:srgbClr val="1B2A4A"/>
          </a:solidFill>
          <a:ln/>
        </p:spPr>
      </p:sp>
      <p:sp>
        <p:nvSpPr>
          <p:cNvPr id="16" name="Text 12"/>
          <p:cNvSpPr txBox="1"/>
          <p:nvPr/>
        </p:nvSpPr>
        <p:spPr>
          <a:xfrm>
            <a:off x="10515600" y="2121408"/>
            <a:ext cx="10058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FOCUS</a:t>
            </a:r>
            <a:endParaRPr lang="en-US" sz="1400" dirty="0"/>
          </a:p>
        </p:txBody>
      </p:sp>
      <p:sp>
        <p:nvSpPr>
          <p:cNvPr id="17" name="Shape 13"/>
          <p:cNvSpPr/>
          <p:nvPr/>
        </p:nvSpPr>
        <p:spPr>
          <a:xfrm>
            <a:off x="5806440" y="2510028"/>
            <a:ext cx="5852160" cy="365760"/>
          </a:xfrm>
          <a:prstGeom prst="roundRect">
            <a:avLst>
              <a:gd name="adj" fmla="val 12500"/>
            </a:avLst>
          </a:prstGeom>
          <a:solidFill>
            <a:srgbClr val="E8EEF7"/>
          </a:solidFill>
          <a:ln/>
        </p:spPr>
      </p:sp>
      <p:sp>
        <p:nvSpPr>
          <p:cNvPr id="18" name="Shape 14"/>
          <p:cNvSpPr/>
          <p:nvPr/>
        </p:nvSpPr>
        <p:spPr>
          <a:xfrm>
            <a:off x="5897880" y="2546604"/>
            <a:ext cx="292608" cy="292608"/>
          </a:xfrm>
          <a:prstGeom prst="ellipse">
            <a:avLst/>
          </a:prstGeom>
          <a:solidFill>
            <a:srgbClr val="FFFFFF"/>
          </a:solidFill>
          <a:ln/>
        </p:spPr>
      </p:sp>
      <p:pic>
        <p:nvPicPr>
          <p:cNvPr id="19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963717" y="2612441"/>
            <a:ext cx="160934" cy="160934"/>
          </a:xfrm>
          <a:prstGeom prst="rect">
            <a:avLst/>
          </a:prstGeom>
        </p:spPr>
      </p:pic>
      <p:sp>
        <p:nvSpPr>
          <p:cNvPr id="20" name="Text 15"/>
          <p:cNvSpPr txBox="1"/>
          <p:nvPr/>
        </p:nvSpPr>
        <p:spPr>
          <a:xfrm>
            <a:off x="6309360" y="2510028"/>
            <a:ext cx="4114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623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B. Uncertainty Resolution</a:t>
            </a:r>
            <a:endParaRPr lang="en-US" sz="1400" dirty="0"/>
          </a:p>
        </p:txBody>
      </p:sp>
      <p:sp>
        <p:nvSpPr>
          <p:cNvPr id="21" name="Shape 16"/>
          <p:cNvSpPr/>
          <p:nvPr/>
        </p:nvSpPr>
        <p:spPr>
          <a:xfrm>
            <a:off x="5806440" y="2935224"/>
            <a:ext cx="5852160" cy="365760"/>
          </a:xfrm>
          <a:prstGeom prst="roundRect">
            <a:avLst>
              <a:gd name="adj" fmla="val 12500"/>
            </a:avLst>
          </a:prstGeom>
          <a:solidFill>
            <a:srgbClr val="0F766E"/>
          </a:solidFill>
          <a:ln/>
        </p:spPr>
      </p:sp>
      <p:sp>
        <p:nvSpPr>
          <p:cNvPr id="22" name="Shape 17"/>
          <p:cNvSpPr/>
          <p:nvPr/>
        </p:nvSpPr>
        <p:spPr>
          <a:xfrm>
            <a:off x="5897880" y="2971800"/>
            <a:ext cx="292608" cy="292608"/>
          </a:xfrm>
          <a:prstGeom prst="ellipse">
            <a:avLst/>
          </a:prstGeom>
          <a:solidFill>
            <a:srgbClr val="1E8A80"/>
          </a:solidFill>
          <a:ln/>
        </p:spPr>
      </p:sp>
      <p:pic>
        <p:nvPicPr>
          <p:cNvPr id="23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963717" y="3037637"/>
            <a:ext cx="160934" cy="160934"/>
          </a:xfrm>
          <a:prstGeom prst="rect">
            <a:avLst/>
          </a:prstGeom>
        </p:spPr>
      </p:pic>
      <p:sp>
        <p:nvSpPr>
          <p:cNvPr id="24" name="Text 18"/>
          <p:cNvSpPr txBox="1"/>
          <p:nvPr/>
        </p:nvSpPr>
        <p:spPr>
          <a:xfrm>
            <a:off x="6309360" y="2935224"/>
            <a:ext cx="4114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C. Comparison Resolution</a:t>
            </a:r>
            <a:endParaRPr lang="en-US" sz="1400" dirty="0"/>
          </a:p>
        </p:txBody>
      </p:sp>
      <p:sp>
        <p:nvSpPr>
          <p:cNvPr id="25" name="Shape 19"/>
          <p:cNvSpPr/>
          <p:nvPr/>
        </p:nvSpPr>
        <p:spPr>
          <a:xfrm>
            <a:off x="10515600" y="2971800"/>
            <a:ext cx="1005840" cy="292608"/>
          </a:xfrm>
          <a:prstGeom prst="roundRect">
            <a:avLst>
              <a:gd name="adj" fmla="val 50000"/>
            </a:avLst>
          </a:prstGeom>
          <a:solidFill>
            <a:srgbClr val="1B2A4A"/>
          </a:solidFill>
          <a:ln/>
        </p:spPr>
      </p:sp>
      <p:sp>
        <p:nvSpPr>
          <p:cNvPr id="26" name="Text 20"/>
          <p:cNvSpPr txBox="1"/>
          <p:nvPr/>
        </p:nvSpPr>
        <p:spPr>
          <a:xfrm>
            <a:off x="10515600" y="2971800"/>
            <a:ext cx="10058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FOCUS</a:t>
            </a:r>
            <a:endParaRPr lang="en-US" sz="1400" dirty="0"/>
          </a:p>
        </p:txBody>
      </p:sp>
      <p:sp>
        <p:nvSpPr>
          <p:cNvPr id="27" name="Shape 21"/>
          <p:cNvSpPr/>
          <p:nvPr/>
        </p:nvSpPr>
        <p:spPr>
          <a:xfrm>
            <a:off x="5806440" y="3360420"/>
            <a:ext cx="5852160" cy="365760"/>
          </a:xfrm>
          <a:prstGeom prst="roundRect">
            <a:avLst>
              <a:gd name="adj" fmla="val 12500"/>
            </a:avLst>
          </a:prstGeom>
          <a:solidFill>
            <a:srgbClr val="E8EEF7"/>
          </a:solidFill>
          <a:ln/>
        </p:spPr>
      </p:sp>
      <p:sp>
        <p:nvSpPr>
          <p:cNvPr id="28" name="Shape 22"/>
          <p:cNvSpPr/>
          <p:nvPr/>
        </p:nvSpPr>
        <p:spPr>
          <a:xfrm>
            <a:off x="5897880" y="3396996"/>
            <a:ext cx="292608" cy="292608"/>
          </a:xfrm>
          <a:prstGeom prst="ellipse">
            <a:avLst/>
          </a:prstGeom>
          <a:solidFill>
            <a:srgbClr val="FFFFFF"/>
          </a:solidFill>
          <a:ln/>
        </p:spPr>
      </p:sp>
      <p:pic>
        <p:nvPicPr>
          <p:cNvPr id="29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963717" y="3462833"/>
            <a:ext cx="160934" cy="160934"/>
          </a:xfrm>
          <a:prstGeom prst="rect">
            <a:avLst/>
          </a:prstGeom>
        </p:spPr>
      </p:pic>
      <p:sp>
        <p:nvSpPr>
          <p:cNvPr id="30" name="Text 23"/>
          <p:cNvSpPr txBox="1"/>
          <p:nvPr/>
        </p:nvSpPr>
        <p:spPr>
          <a:xfrm>
            <a:off x="6309360" y="3360420"/>
            <a:ext cx="4114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623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D. Decision Trigger</a:t>
            </a:r>
            <a:endParaRPr lang="en-US" sz="1400" dirty="0"/>
          </a:p>
        </p:txBody>
      </p:sp>
      <p:sp>
        <p:nvSpPr>
          <p:cNvPr id="31" name="Shape 24"/>
          <p:cNvSpPr/>
          <p:nvPr/>
        </p:nvSpPr>
        <p:spPr>
          <a:xfrm>
            <a:off x="5806440" y="3785616"/>
            <a:ext cx="5852160" cy="365760"/>
          </a:xfrm>
          <a:prstGeom prst="roundRect">
            <a:avLst>
              <a:gd name="adj" fmla="val 12500"/>
            </a:avLst>
          </a:prstGeom>
          <a:solidFill>
            <a:srgbClr val="E8EEF7"/>
          </a:solidFill>
          <a:ln/>
        </p:spPr>
      </p:sp>
      <p:sp>
        <p:nvSpPr>
          <p:cNvPr id="32" name="Shape 25"/>
          <p:cNvSpPr/>
          <p:nvPr/>
        </p:nvSpPr>
        <p:spPr>
          <a:xfrm>
            <a:off x="5897880" y="3822192"/>
            <a:ext cx="292608" cy="292608"/>
          </a:xfrm>
          <a:prstGeom prst="ellipse">
            <a:avLst/>
          </a:prstGeom>
          <a:solidFill>
            <a:srgbClr val="FFFFFF"/>
          </a:solidFill>
          <a:ln/>
        </p:spPr>
      </p:sp>
      <p:pic>
        <p:nvPicPr>
          <p:cNvPr id="33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963717" y="3888029"/>
            <a:ext cx="160934" cy="160934"/>
          </a:xfrm>
          <a:prstGeom prst="rect">
            <a:avLst/>
          </a:prstGeom>
        </p:spPr>
      </p:pic>
      <p:sp>
        <p:nvSpPr>
          <p:cNvPr id="34" name="Text 26"/>
          <p:cNvSpPr txBox="1"/>
          <p:nvPr/>
        </p:nvSpPr>
        <p:spPr>
          <a:xfrm>
            <a:off x="6309360" y="3785616"/>
            <a:ext cx="4114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623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E. Purchase Completion</a:t>
            </a:r>
            <a:endParaRPr lang="en-US" sz="1400" dirty="0"/>
          </a:p>
        </p:txBody>
      </p:sp>
      <p:sp>
        <p:nvSpPr>
          <p:cNvPr id="35" name="Shape 27"/>
          <p:cNvSpPr/>
          <p:nvPr/>
        </p:nvSpPr>
        <p:spPr>
          <a:xfrm>
            <a:off x="502920" y="4160520"/>
            <a:ext cx="11185855" cy="777240"/>
          </a:xfrm>
          <a:prstGeom prst="roundRect">
            <a:avLst>
              <a:gd name="adj" fmla="val 9412"/>
            </a:avLst>
          </a:prstGeom>
          <a:solidFill>
            <a:srgbClr val="1B2A4A"/>
          </a:solidFill>
          <a:ln/>
        </p:spPr>
      </p:sp>
      <p:sp>
        <p:nvSpPr>
          <p:cNvPr id="36" name="Text 28"/>
          <p:cNvSpPr txBox="1"/>
          <p:nvPr/>
        </p:nvSpPr>
        <p:spPr>
          <a:xfrm>
            <a:off x="777240" y="4160520"/>
            <a:ext cx="1063721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MVP FOCUS: Stage A → C. Fixing re-engagement and comparison resolution raises the ceiling on every downstream stage — not a returns or price fix.</a:t>
            </a:r>
            <a:endParaRPr lang="en-US" sz="1500" dirty="0"/>
          </a:p>
        </p:txBody>
      </p:sp>
      <p:sp>
        <p:nvSpPr>
          <p:cNvPr id="37" name="Shape 29"/>
          <p:cNvSpPr/>
          <p:nvPr/>
        </p:nvSpPr>
        <p:spPr>
          <a:xfrm>
            <a:off x="502920" y="5029200"/>
            <a:ext cx="11185855" cy="438912"/>
          </a:xfrm>
          <a:prstGeom prst="roundRect">
            <a:avLst>
              <a:gd name="adj" fmla="val 50000"/>
            </a:avLst>
          </a:prstGeom>
          <a:solidFill>
            <a:srgbClr val="F6E7D2"/>
          </a:solidFill>
          <a:ln w="15875">
            <a:solidFill>
              <a:srgbClr val="B45309"/>
            </a:solidFill>
            <a:prstDash val="solid"/>
          </a:ln>
        </p:spPr>
      </p:sp>
      <p:sp>
        <p:nvSpPr>
          <p:cNvPr id="38" name="Text 30"/>
          <p:cNvSpPr txBox="1"/>
          <p:nvPr/>
        </p:nvSpPr>
        <p:spPr>
          <a:xfrm>
            <a:off x="502920" y="5029200"/>
            <a:ext cx="11185855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B4530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Live MVP (“TieBreaker”)  →  link to be added</a:t>
            </a:r>
            <a:endParaRPr lang="en-US" sz="1500" dirty="0"/>
          </a:p>
        </p:txBody>
      </p:sp>
      <p:sp>
        <p:nvSpPr>
          <p:cNvPr id="39" name="Shape 31"/>
          <p:cNvSpPr/>
          <p:nvPr/>
        </p:nvSpPr>
        <p:spPr>
          <a:xfrm>
            <a:off x="502920" y="5559552"/>
            <a:ext cx="11185855" cy="438912"/>
          </a:xfrm>
          <a:prstGeom prst="roundRect">
            <a:avLst>
              <a:gd name="adj" fmla="val 50000"/>
            </a:avLst>
          </a:prstGeom>
          <a:solidFill>
            <a:srgbClr val="F6E7D2"/>
          </a:solidFill>
          <a:ln w="15875">
            <a:solidFill>
              <a:srgbClr val="B45309"/>
            </a:solidFill>
            <a:prstDash val="solid"/>
          </a:ln>
        </p:spPr>
      </p:sp>
      <p:sp>
        <p:nvSpPr>
          <p:cNvPr id="40" name="Text 32"/>
          <p:cNvSpPr txBox="1"/>
          <p:nvPr/>
        </p:nvSpPr>
        <p:spPr>
          <a:xfrm>
            <a:off x="502920" y="5559552"/>
            <a:ext cx="11185855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B4530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Live Review Analysis Agent  →  link to be added</a:t>
            </a:r>
            <a:endParaRPr lang="en-US" sz="1500" dirty="0"/>
          </a:p>
        </p:txBody>
      </p:sp>
      <p:sp>
        <p:nvSpPr>
          <p:cNvPr id="41" name="Text 33">
            <a:hlinkClick r:id="rId7" tooltip=""/>
          </p:cNvPr>
          <p:cNvSpPr txBox="1"/>
          <p:nvPr/>
        </p:nvSpPr>
        <p:spPr>
          <a:xfrm>
            <a:off x="502920" y="6126480"/>
            <a:ext cx="11185855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u="sng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7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Full decomposition: reports/metric_decomposition.md</a:t>
            </a:r>
            <a:endParaRPr lang="en-US" sz="1400" dirty="0"/>
          </a:p>
        </p:txBody>
      </p:sp>
      <p:sp>
        <p:nvSpPr>
          <p:cNvPr id="42" name="Text 34"/>
          <p:cNvSpPr txBox="1"/>
          <p:nvPr/>
        </p:nvSpPr>
        <p:spPr>
          <a:xfrm>
            <a:off x="50292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Myntra Growth · Wishlist-to-Purchase Conversion</a:t>
            </a:r>
            <a:endParaRPr lang="en-US" sz="1400" dirty="0"/>
          </a:p>
        </p:txBody>
      </p:sp>
      <p:sp>
        <p:nvSpPr>
          <p:cNvPr id="43" name="Text 35"/>
          <p:cNvSpPr txBox="1"/>
          <p:nvPr/>
        </p:nvSpPr>
        <p:spPr>
          <a:xfrm>
            <a:off x="11368735" y="647395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4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32004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150" kern="0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 2 · DISCOVERY &amp; RESEARCH — AI ENGINE</a:t>
            </a:r>
            <a:endParaRPr lang="en-US" sz="1400" dirty="0"/>
          </a:p>
        </p:txBody>
      </p:sp>
      <p:sp>
        <p:nvSpPr>
          <p:cNvPr id="3" name="Text 1"/>
          <p:cNvSpPr txBox="1"/>
          <p:nvPr/>
        </p:nvSpPr>
        <p:spPr>
          <a:xfrm>
            <a:off x="502920" y="566928"/>
            <a:ext cx="1118585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2000"/>
              </a:lnSpc>
              <a:buNone/>
            </a:pPr>
            <a:r>
              <a:rPr lang="en-US" sz="2700" b="1" dirty="0">
                <a:solidFill>
                  <a:srgbClr val="16233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Loudest Complaint in Reviews Isn't the Real Wishlist Blocker</a:t>
            </a:r>
            <a:endParaRPr lang="en-US" sz="2700" dirty="0"/>
          </a:p>
        </p:txBody>
      </p:sp>
      <p:sp>
        <p:nvSpPr>
          <p:cNvPr id="4" name="Text 2"/>
          <p:cNvSpPr txBox="1"/>
          <p:nvPr/>
        </p:nvSpPr>
        <p:spPr>
          <a:xfrm>
            <a:off x="502920" y="1371600"/>
            <a:ext cx="11185855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the AI discovery engine reached this ranking: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502920" y="1664208"/>
            <a:ext cx="1696669" cy="777240"/>
          </a:xfrm>
          <a:prstGeom prst="roundRect">
            <a:avLst>
              <a:gd name="adj" fmla="val 8235"/>
            </a:avLst>
          </a:prstGeom>
          <a:solidFill>
            <a:srgbClr val="E8EEF7"/>
          </a:solidFill>
          <a:ln/>
        </p:spPr>
      </p:sp>
      <p:sp>
        <p:nvSpPr>
          <p:cNvPr id="6" name="Shape 4"/>
          <p:cNvSpPr/>
          <p:nvPr/>
        </p:nvSpPr>
        <p:spPr>
          <a:xfrm>
            <a:off x="1177519" y="1773936"/>
            <a:ext cx="347472" cy="347472"/>
          </a:xfrm>
          <a:prstGeom prst="ellipse">
            <a:avLst/>
          </a:prstGeom>
          <a:solidFill>
            <a:srgbClr val="0F766E"/>
          </a:solidFill>
          <a:ln/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255700" y="1852117"/>
            <a:ext cx="191110" cy="191110"/>
          </a:xfrm>
          <a:prstGeom prst="rect">
            <a:avLst/>
          </a:prstGeom>
        </p:spPr>
      </p:pic>
      <p:sp>
        <p:nvSpPr>
          <p:cNvPr id="8" name="Text 5"/>
          <p:cNvSpPr txBox="1"/>
          <p:nvPr/>
        </p:nvSpPr>
        <p:spPr>
          <a:xfrm>
            <a:off x="557784" y="2157984"/>
            <a:ext cx="1586941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4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Ingest</a:t>
            </a:r>
            <a:endParaRPr lang="en-US" sz="1400" dirty="0"/>
          </a:p>
        </p:txBody>
      </p:sp>
      <p:pic>
        <p:nvPicPr>
          <p:cNvPr id="9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181301" y="1933956"/>
            <a:ext cx="237744" cy="237744"/>
          </a:xfrm>
          <a:prstGeom prst="rect">
            <a:avLst/>
          </a:prstGeom>
        </p:spPr>
      </p:pic>
      <p:sp>
        <p:nvSpPr>
          <p:cNvPr id="10" name="Shape 6"/>
          <p:cNvSpPr/>
          <p:nvPr/>
        </p:nvSpPr>
        <p:spPr>
          <a:xfrm>
            <a:off x="2400757" y="1664208"/>
            <a:ext cx="1696669" cy="777240"/>
          </a:xfrm>
          <a:prstGeom prst="roundRect">
            <a:avLst>
              <a:gd name="adj" fmla="val 8235"/>
            </a:avLst>
          </a:prstGeom>
          <a:solidFill>
            <a:srgbClr val="E8EEF7"/>
          </a:solidFill>
          <a:ln/>
        </p:spPr>
      </p:sp>
      <p:sp>
        <p:nvSpPr>
          <p:cNvPr id="11" name="Shape 7"/>
          <p:cNvSpPr/>
          <p:nvPr/>
        </p:nvSpPr>
        <p:spPr>
          <a:xfrm>
            <a:off x="3075356" y="1773936"/>
            <a:ext cx="347472" cy="347472"/>
          </a:xfrm>
          <a:prstGeom prst="ellipse">
            <a:avLst/>
          </a:prstGeom>
          <a:solidFill>
            <a:srgbClr val="0F766E"/>
          </a:solidFill>
          <a:ln/>
        </p:spPr>
      </p:sp>
      <p:pic>
        <p:nvPicPr>
          <p:cNvPr id="12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153537" y="1852117"/>
            <a:ext cx="191110" cy="191110"/>
          </a:xfrm>
          <a:prstGeom prst="rect">
            <a:avLst/>
          </a:prstGeom>
        </p:spPr>
      </p:pic>
      <p:sp>
        <p:nvSpPr>
          <p:cNvPr id="13" name="Text 8"/>
          <p:cNvSpPr txBox="1"/>
          <p:nvPr/>
        </p:nvSpPr>
        <p:spPr>
          <a:xfrm>
            <a:off x="2455621" y="2157984"/>
            <a:ext cx="1586941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4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Relevance Filter</a:t>
            </a:r>
            <a:endParaRPr lang="en-US" sz="1400" dirty="0"/>
          </a:p>
        </p:txBody>
      </p:sp>
      <p:pic>
        <p:nvPicPr>
          <p:cNvPr id="14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079138" y="1933956"/>
            <a:ext cx="237744" cy="237744"/>
          </a:xfrm>
          <a:prstGeom prst="rect">
            <a:avLst/>
          </a:prstGeom>
        </p:spPr>
      </p:pic>
      <p:sp>
        <p:nvSpPr>
          <p:cNvPr id="15" name="Shape 9"/>
          <p:cNvSpPr/>
          <p:nvPr/>
        </p:nvSpPr>
        <p:spPr>
          <a:xfrm>
            <a:off x="4298594" y="1664208"/>
            <a:ext cx="1696669" cy="777240"/>
          </a:xfrm>
          <a:prstGeom prst="roundRect">
            <a:avLst>
              <a:gd name="adj" fmla="val 8235"/>
            </a:avLst>
          </a:prstGeom>
          <a:solidFill>
            <a:srgbClr val="E8EEF7"/>
          </a:solidFill>
          <a:ln/>
        </p:spPr>
      </p:sp>
      <p:sp>
        <p:nvSpPr>
          <p:cNvPr id="16" name="Shape 10"/>
          <p:cNvSpPr/>
          <p:nvPr/>
        </p:nvSpPr>
        <p:spPr>
          <a:xfrm>
            <a:off x="4973193" y="1773936"/>
            <a:ext cx="347472" cy="347472"/>
          </a:xfrm>
          <a:prstGeom prst="ellipse">
            <a:avLst/>
          </a:prstGeom>
          <a:solidFill>
            <a:srgbClr val="0F766E"/>
          </a:solidFill>
          <a:ln/>
        </p:spPr>
      </p:sp>
      <p:pic>
        <p:nvPicPr>
          <p:cNvPr id="17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051374" y="1852117"/>
            <a:ext cx="191110" cy="191110"/>
          </a:xfrm>
          <a:prstGeom prst="rect">
            <a:avLst/>
          </a:prstGeom>
        </p:spPr>
      </p:pic>
      <p:sp>
        <p:nvSpPr>
          <p:cNvPr id="18" name="Text 11"/>
          <p:cNvSpPr txBox="1"/>
          <p:nvPr/>
        </p:nvSpPr>
        <p:spPr>
          <a:xfrm>
            <a:off x="4353458" y="2157984"/>
            <a:ext cx="1586941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4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Extraction</a:t>
            </a:r>
            <a:endParaRPr lang="en-US" sz="1400" dirty="0"/>
          </a:p>
        </p:txBody>
      </p:sp>
      <p:pic>
        <p:nvPicPr>
          <p:cNvPr id="19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976976" y="1933956"/>
            <a:ext cx="237744" cy="237744"/>
          </a:xfrm>
          <a:prstGeom prst="rect">
            <a:avLst/>
          </a:prstGeom>
        </p:spPr>
      </p:pic>
      <p:sp>
        <p:nvSpPr>
          <p:cNvPr id="20" name="Shape 12"/>
          <p:cNvSpPr/>
          <p:nvPr/>
        </p:nvSpPr>
        <p:spPr>
          <a:xfrm>
            <a:off x="6196432" y="1664208"/>
            <a:ext cx="1696669" cy="777240"/>
          </a:xfrm>
          <a:prstGeom prst="roundRect">
            <a:avLst>
              <a:gd name="adj" fmla="val 8235"/>
            </a:avLst>
          </a:prstGeom>
          <a:solidFill>
            <a:srgbClr val="E8EEF7"/>
          </a:solidFill>
          <a:ln/>
        </p:spPr>
      </p:sp>
      <p:sp>
        <p:nvSpPr>
          <p:cNvPr id="21" name="Shape 13"/>
          <p:cNvSpPr/>
          <p:nvPr/>
        </p:nvSpPr>
        <p:spPr>
          <a:xfrm>
            <a:off x="6871030" y="1773936"/>
            <a:ext cx="347472" cy="347472"/>
          </a:xfrm>
          <a:prstGeom prst="ellipse">
            <a:avLst/>
          </a:prstGeom>
          <a:solidFill>
            <a:srgbClr val="0F766E"/>
          </a:solidFill>
          <a:ln/>
        </p:spPr>
      </p:sp>
      <p:pic>
        <p:nvPicPr>
          <p:cNvPr id="22" name="Image 6" descr="preencode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949211" y="1852117"/>
            <a:ext cx="191110" cy="191110"/>
          </a:xfrm>
          <a:prstGeom prst="rect">
            <a:avLst/>
          </a:prstGeom>
        </p:spPr>
      </p:pic>
      <p:sp>
        <p:nvSpPr>
          <p:cNvPr id="23" name="Text 14"/>
          <p:cNvSpPr txBox="1"/>
          <p:nvPr/>
        </p:nvSpPr>
        <p:spPr>
          <a:xfrm>
            <a:off x="6251296" y="2157984"/>
            <a:ext cx="1586941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4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Synthesize</a:t>
            </a:r>
            <a:endParaRPr lang="en-US" sz="1400" dirty="0"/>
          </a:p>
        </p:txBody>
      </p:sp>
      <p:pic>
        <p:nvPicPr>
          <p:cNvPr id="24" name="Image 7" descr="preencoded.pn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7874813" y="1933956"/>
            <a:ext cx="237744" cy="237744"/>
          </a:xfrm>
          <a:prstGeom prst="rect">
            <a:avLst/>
          </a:prstGeom>
        </p:spPr>
      </p:pic>
      <p:sp>
        <p:nvSpPr>
          <p:cNvPr id="25" name="Shape 15"/>
          <p:cNvSpPr/>
          <p:nvPr/>
        </p:nvSpPr>
        <p:spPr>
          <a:xfrm>
            <a:off x="8094269" y="1664208"/>
            <a:ext cx="1696669" cy="777240"/>
          </a:xfrm>
          <a:prstGeom prst="roundRect">
            <a:avLst>
              <a:gd name="adj" fmla="val 8235"/>
            </a:avLst>
          </a:prstGeom>
          <a:solidFill>
            <a:srgbClr val="E8EEF7"/>
          </a:solidFill>
          <a:ln/>
        </p:spPr>
      </p:sp>
      <p:sp>
        <p:nvSpPr>
          <p:cNvPr id="26" name="Shape 16"/>
          <p:cNvSpPr/>
          <p:nvPr/>
        </p:nvSpPr>
        <p:spPr>
          <a:xfrm>
            <a:off x="8768867" y="1773936"/>
            <a:ext cx="347472" cy="347472"/>
          </a:xfrm>
          <a:prstGeom prst="ellipse">
            <a:avLst/>
          </a:prstGeom>
          <a:solidFill>
            <a:srgbClr val="0F766E"/>
          </a:solidFill>
          <a:ln/>
        </p:spPr>
      </p:sp>
      <p:pic>
        <p:nvPicPr>
          <p:cNvPr id="27" name="Image 8" descr="preencoded.png">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8847049" y="1852117"/>
            <a:ext cx="191110" cy="191110"/>
          </a:xfrm>
          <a:prstGeom prst="rect">
            <a:avLst/>
          </a:prstGeom>
        </p:spPr>
      </p:pic>
      <p:sp>
        <p:nvSpPr>
          <p:cNvPr id="28" name="Text 17"/>
          <p:cNvSpPr txBox="1"/>
          <p:nvPr/>
        </p:nvSpPr>
        <p:spPr>
          <a:xfrm>
            <a:off x="8149133" y="2157984"/>
            <a:ext cx="1586941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4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Score</a:t>
            </a:r>
            <a:endParaRPr lang="en-US" sz="1400" dirty="0"/>
          </a:p>
        </p:txBody>
      </p:sp>
      <p:pic>
        <p:nvPicPr>
          <p:cNvPr id="29" name="Image 9" descr="preencoded.png">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9772650" y="1933956"/>
            <a:ext cx="237744" cy="237744"/>
          </a:xfrm>
          <a:prstGeom prst="rect">
            <a:avLst/>
          </a:prstGeom>
        </p:spPr>
      </p:pic>
      <p:sp>
        <p:nvSpPr>
          <p:cNvPr id="30" name="Shape 18"/>
          <p:cNvSpPr/>
          <p:nvPr/>
        </p:nvSpPr>
        <p:spPr>
          <a:xfrm>
            <a:off x="9992106" y="1664208"/>
            <a:ext cx="1696669" cy="777240"/>
          </a:xfrm>
          <a:prstGeom prst="roundRect">
            <a:avLst>
              <a:gd name="adj" fmla="val 8235"/>
            </a:avLst>
          </a:prstGeom>
          <a:solidFill>
            <a:srgbClr val="E8EEF7"/>
          </a:solidFill>
          <a:ln/>
        </p:spPr>
      </p:sp>
      <p:sp>
        <p:nvSpPr>
          <p:cNvPr id="31" name="Shape 19"/>
          <p:cNvSpPr/>
          <p:nvPr/>
        </p:nvSpPr>
        <p:spPr>
          <a:xfrm>
            <a:off x="10666705" y="1773936"/>
            <a:ext cx="347472" cy="347472"/>
          </a:xfrm>
          <a:prstGeom prst="ellipse">
            <a:avLst/>
          </a:prstGeom>
          <a:solidFill>
            <a:srgbClr val="0F766E"/>
          </a:solidFill>
          <a:ln/>
        </p:spPr>
      </p:sp>
      <p:pic>
        <p:nvPicPr>
          <p:cNvPr id="32" name="Image 10" descr="preencoded.png">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10744886" y="1852117"/>
            <a:ext cx="191110" cy="191110"/>
          </a:xfrm>
          <a:prstGeom prst="rect">
            <a:avLst/>
          </a:prstGeom>
        </p:spPr>
      </p:pic>
      <p:sp>
        <p:nvSpPr>
          <p:cNvPr id="33" name="Text 20"/>
          <p:cNvSpPr txBox="1"/>
          <p:nvPr/>
        </p:nvSpPr>
        <p:spPr>
          <a:xfrm>
            <a:off x="10046970" y="2157984"/>
            <a:ext cx="1586941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4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Console</a:t>
            </a:r>
            <a:endParaRPr lang="en-US" sz="1400" dirty="0"/>
          </a:p>
        </p:txBody>
      </p:sp>
      <p:sp>
        <p:nvSpPr>
          <p:cNvPr id="34" name="Shape 21"/>
          <p:cNvSpPr/>
          <p:nvPr/>
        </p:nvSpPr>
        <p:spPr>
          <a:xfrm>
            <a:off x="502920" y="2606040"/>
            <a:ext cx="2651760" cy="777240"/>
          </a:xfrm>
          <a:prstGeom prst="roundRect">
            <a:avLst>
              <a:gd name="adj" fmla="val 8235"/>
            </a:avLst>
          </a:prstGeom>
          <a:solidFill>
            <a:srgbClr val="E8EEF7"/>
          </a:solidFill>
          <a:ln/>
        </p:spPr>
      </p:sp>
      <p:sp>
        <p:nvSpPr>
          <p:cNvPr id="35" name="Text 22"/>
          <p:cNvSpPr txBox="1"/>
          <p:nvPr/>
        </p:nvSpPr>
        <p:spPr>
          <a:xfrm>
            <a:off x="640080" y="2660904"/>
            <a:ext cx="23774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B2A4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24,575</a:t>
            </a:r>
            <a:endParaRPr lang="en-US" sz="2000" dirty="0"/>
          </a:p>
        </p:txBody>
      </p:sp>
      <p:sp>
        <p:nvSpPr>
          <p:cNvPr id="36" name="Text 23"/>
          <p:cNvSpPr txBox="1"/>
          <p:nvPr/>
        </p:nvSpPr>
        <p:spPr>
          <a:xfrm>
            <a:off x="640080" y="3081528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Canonical records</a:t>
            </a:r>
            <a:endParaRPr lang="en-US" sz="1400" dirty="0"/>
          </a:p>
        </p:txBody>
      </p:sp>
      <p:sp>
        <p:nvSpPr>
          <p:cNvPr id="37" name="Shape 24"/>
          <p:cNvSpPr/>
          <p:nvPr/>
        </p:nvSpPr>
        <p:spPr>
          <a:xfrm>
            <a:off x="3337560" y="2606040"/>
            <a:ext cx="2651760" cy="777240"/>
          </a:xfrm>
          <a:prstGeom prst="roundRect">
            <a:avLst>
              <a:gd name="adj" fmla="val 8235"/>
            </a:avLst>
          </a:prstGeom>
          <a:solidFill>
            <a:srgbClr val="E8EEF7"/>
          </a:solidFill>
          <a:ln/>
        </p:spPr>
      </p:sp>
      <p:sp>
        <p:nvSpPr>
          <p:cNvPr id="38" name="Text 25"/>
          <p:cNvSpPr txBox="1"/>
          <p:nvPr/>
        </p:nvSpPr>
        <p:spPr>
          <a:xfrm>
            <a:off x="3474720" y="2660904"/>
            <a:ext cx="23774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B2A4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17,343</a:t>
            </a:r>
            <a:endParaRPr lang="en-US" sz="2000" dirty="0"/>
          </a:p>
        </p:txBody>
      </p:sp>
      <p:sp>
        <p:nvSpPr>
          <p:cNvPr id="39" name="Text 26"/>
          <p:cNvSpPr txBox="1"/>
          <p:nvPr/>
        </p:nvSpPr>
        <p:spPr>
          <a:xfrm>
            <a:off x="3474720" y="3081528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Relevant records</a:t>
            </a:r>
            <a:endParaRPr lang="en-US" sz="1400" dirty="0"/>
          </a:p>
        </p:txBody>
      </p:sp>
      <p:sp>
        <p:nvSpPr>
          <p:cNvPr id="40" name="Shape 27"/>
          <p:cNvSpPr/>
          <p:nvPr/>
        </p:nvSpPr>
        <p:spPr>
          <a:xfrm>
            <a:off x="6172200" y="2606040"/>
            <a:ext cx="2651760" cy="777240"/>
          </a:xfrm>
          <a:prstGeom prst="roundRect">
            <a:avLst>
              <a:gd name="adj" fmla="val 8235"/>
            </a:avLst>
          </a:prstGeom>
          <a:solidFill>
            <a:srgbClr val="E8EEF7"/>
          </a:solidFill>
          <a:ln/>
        </p:spPr>
      </p:sp>
      <p:sp>
        <p:nvSpPr>
          <p:cNvPr id="41" name="Text 28"/>
          <p:cNvSpPr txBox="1"/>
          <p:nvPr/>
        </p:nvSpPr>
        <p:spPr>
          <a:xfrm>
            <a:off x="6309360" y="2660904"/>
            <a:ext cx="23774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B2A4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12,277</a:t>
            </a:r>
            <a:endParaRPr lang="en-US" sz="2000" dirty="0"/>
          </a:p>
        </p:txBody>
      </p:sp>
      <p:sp>
        <p:nvSpPr>
          <p:cNvPr id="42" name="Text 29"/>
          <p:cNvSpPr txBox="1"/>
          <p:nvPr/>
        </p:nvSpPr>
        <p:spPr>
          <a:xfrm>
            <a:off x="6309360" y="3081528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Records extracted</a:t>
            </a:r>
            <a:endParaRPr lang="en-US" sz="1400" dirty="0"/>
          </a:p>
        </p:txBody>
      </p:sp>
      <p:sp>
        <p:nvSpPr>
          <p:cNvPr id="43" name="Shape 30"/>
          <p:cNvSpPr/>
          <p:nvPr/>
        </p:nvSpPr>
        <p:spPr>
          <a:xfrm>
            <a:off x="9006840" y="2606040"/>
            <a:ext cx="2651760" cy="777240"/>
          </a:xfrm>
          <a:prstGeom prst="roundRect">
            <a:avLst>
              <a:gd name="adj" fmla="val 8235"/>
            </a:avLst>
          </a:prstGeom>
          <a:solidFill>
            <a:srgbClr val="E8EEF7"/>
          </a:solidFill>
          <a:ln/>
        </p:spPr>
      </p:sp>
      <p:sp>
        <p:nvSpPr>
          <p:cNvPr id="44" name="Text 31"/>
          <p:cNvSpPr txBox="1"/>
          <p:nvPr/>
        </p:nvSpPr>
        <p:spPr>
          <a:xfrm>
            <a:off x="9144000" y="2660904"/>
            <a:ext cx="23774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B2A4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20</a:t>
            </a:r>
            <a:endParaRPr lang="en-US" sz="2000" dirty="0"/>
          </a:p>
        </p:txBody>
      </p:sp>
      <p:sp>
        <p:nvSpPr>
          <p:cNvPr id="45" name="Text 32"/>
          <p:cNvSpPr txBox="1"/>
          <p:nvPr/>
        </p:nvSpPr>
        <p:spPr>
          <a:xfrm>
            <a:off x="9144000" y="3081528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Ranked opportunities</a:t>
            </a:r>
            <a:endParaRPr lang="en-US" sz="1400" dirty="0"/>
          </a:p>
        </p:txBody>
      </p:sp>
      <p:sp>
        <p:nvSpPr>
          <p:cNvPr id="46" name="Text 33"/>
          <p:cNvSpPr txBox="1"/>
          <p:nvPr/>
        </p:nvSpPr>
        <p:spPr>
          <a:xfrm>
            <a:off x="502920" y="3401568"/>
            <a:ext cx="1118585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↓ −1,307 not real feedback (catalog copy / too short / ops-only)  ·  −767 non-English, dialect, or emoji-only  ·  −5,066 no quotable evidence span</a:t>
            </a:r>
            <a:endParaRPr lang="en-US" sz="1400" dirty="0"/>
          </a:p>
        </p:txBody>
      </p:sp>
      <p:sp>
        <p:nvSpPr>
          <p:cNvPr id="47" name="Text 34"/>
          <p:cNvSpPr txBox="1"/>
          <p:nvPr/>
        </p:nvSpPr>
        <p:spPr>
          <a:xfrm>
            <a:off x="502920" y="3639312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623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Two rankings disagree on where to fix the funnel:</a:t>
            </a:r>
            <a:endParaRPr lang="en-US" sz="1500" dirty="0"/>
          </a:p>
        </p:txBody>
      </p:sp>
      <p:sp>
        <p:nvSpPr>
          <p:cNvPr id="48" name="Shape 35"/>
          <p:cNvSpPr/>
          <p:nvPr/>
        </p:nvSpPr>
        <p:spPr>
          <a:xfrm>
            <a:off x="502920" y="3941064"/>
            <a:ext cx="5349240" cy="2048256"/>
          </a:xfrm>
          <a:prstGeom prst="roundRect">
            <a:avLst>
              <a:gd name="adj" fmla="val 3571"/>
            </a:avLst>
          </a:prstGeom>
          <a:solidFill>
            <a:srgbClr val="F6E7D2"/>
          </a:solidFill>
          <a:ln/>
        </p:spPr>
      </p:sp>
      <p:sp>
        <p:nvSpPr>
          <p:cNvPr id="49" name="Text 36"/>
          <p:cNvSpPr txBox="1"/>
          <p:nvPr/>
        </p:nvSpPr>
        <p:spPr>
          <a:xfrm>
            <a:off x="731520" y="4087368"/>
            <a:ext cx="4892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100" kern="0" dirty="0">
                <a:solidFill>
                  <a:srgbClr val="B4530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#1 BY RAW VOLUME</a:t>
            </a:r>
            <a:endParaRPr lang="en-US" sz="1400" dirty="0"/>
          </a:p>
        </p:txBody>
      </p:sp>
      <p:sp>
        <p:nvSpPr>
          <p:cNvPr id="50" name="Text 37"/>
          <p:cNvSpPr txBox="1"/>
          <p:nvPr/>
        </p:nvSpPr>
        <p:spPr>
          <a:xfrm>
            <a:off x="731520" y="4361688"/>
            <a:ext cx="48920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6233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opp:returns_exchange</a:t>
            </a:r>
            <a:endParaRPr lang="en-US" sz="1700" dirty="0"/>
          </a:p>
        </p:txBody>
      </p:sp>
      <p:sp>
        <p:nvSpPr>
          <p:cNvPr id="51" name="Text 38"/>
          <p:cNvSpPr txBox="1"/>
          <p:nvPr/>
        </p:nvSpPr>
        <p:spPr>
          <a:xfrm>
            <a:off x="731520" y="4782312"/>
            <a:ext cx="48920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400" dirty="0">
                <a:solidFill>
                  <a:srgbClr val="1623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12.0% of relevant records (2,084) — hesitation-link 0.11, the LOWEST of the top 10.</a:t>
            </a:r>
            <a:endParaRPr lang="en-US" sz="1400" dirty="0"/>
          </a:p>
        </p:txBody>
      </p:sp>
      <p:sp>
        <p:nvSpPr>
          <p:cNvPr id="52" name="Text 39"/>
          <p:cNvSpPr txBox="1"/>
          <p:nvPr/>
        </p:nvSpPr>
        <p:spPr>
          <a:xfrm>
            <a:off x="731520" y="5385816"/>
            <a:ext cx="489204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400" i="1" dirty="0">
                <a:solidFill>
                  <a:srgbClr val="8A5A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App-store reviewers are disproportionately people who already bought and are complaining post-purchase.</a:t>
            </a:r>
            <a:endParaRPr lang="en-US" sz="1400" dirty="0"/>
          </a:p>
        </p:txBody>
      </p:sp>
      <p:sp>
        <p:nvSpPr>
          <p:cNvPr id="53" name="Shape 40"/>
          <p:cNvSpPr/>
          <p:nvPr/>
        </p:nvSpPr>
        <p:spPr>
          <a:xfrm>
            <a:off x="6126480" y="3941064"/>
            <a:ext cx="5349240" cy="2048256"/>
          </a:xfrm>
          <a:prstGeom prst="roundRect">
            <a:avLst>
              <a:gd name="adj" fmla="val 3571"/>
            </a:avLst>
          </a:prstGeom>
          <a:solidFill>
            <a:srgbClr val="D7ECE9"/>
          </a:solidFill>
          <a:ln/>
        </p:spPr>
      </p:sp>
      <p:sp>
        <p:nvSpPr>
          <p:cNvPr id="54" name="Text 41"/>
          <p:cNvSpPr txBox="1"/>
          <p:nvPr/>
        </p:nvSpPr>
        <p:spPr>
          <a:xfrm>
            <a:off x="6355080" y="4087368"/>
            <a:ext cx="4892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100" kern="0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#1 BY WISHLIST-RELEVANCE</a:t>
            </a:r>
            <a:endParaRPr lang="en-US" sz="1400" dirty="0"/>
          </a:p>
        </p:txBody>
      </p:sp>
      <p:sp>
        <p:nvSpPr>
          <p:cNvPr id="55" name="Text 42"/>
          <p:cNvSpPr txBox="1"/>
          <p:nvPr/>
        </p:nvSpPr>
        <p:spPr>
          <a:xfrm>
            <a:off x="6355080" y="4361688"/>
            <a:ext cx="48920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6233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opp:comparison_loop</a:t>
            </a:r>
            <a:endParaRPr lang="en-US" sz="1700" dirty="0"/>
          </a:p>
        </p:txBody>
      </p:sp>
      <p:sp>
        <p:nvSpPr>
          <p:cNvPr id="56" name="Text 43"/>
          <p:cNvSpPr txBox="1"/>
          <p:nvPr/>
        </p:nvSpPr>
        <p:spPr>
          <a:xfrm>
            <a:off x="6355080" y="4782312"/>
            <a:ext cx="48920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400" dirty="0">
                <a:solidFill>
                  <a:srgbClr val="1623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Only 3.0% of relevant records (522) — hesitation-link 0.63, the HIGHEST of all 20 scored.</a:t>
            </a:r>
            <a:endParaRPr lang="en-US" sz="1400" dirty="0"/>
          </a:p>
        </p:txBody>
      </p:sp>
      <p:sp>
        <p:nvSpPr>
          <p:cNvPr id="57" name="Text 44"/>
          <p:cNvSpPr txBox="1"/>
          <p:nvPr/>
        </p:nvSpPr>
        <p:spPr>
          <a:xfrm>
            <a:off x="6355080" y="5385816"/>
            <a:ext cx="489204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400" i="1" dirty="0">
                <a:solidFill>
                  <a:srgbClr val="0B4F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Low volume, but structurally the theme most tightly coupled to the actual wishlist-to-buy decision.</a:t>
            </a:r>
            <a:endParaRPr lang="en-US" sz="1400" dirty="0"/>
          </a:p>
        </p:txBody>
      </p:sp>
      <p:sp>
        <p:nvSpPr>
          <p:cNvPr id="58" name="Text 45">
            <a:hlinkClick r:id="rId12" tooltip=""/>
          </p:cNvPr>
          <p:cNvSpPr txBox="1"/>
          <p:nvPr/>
        </p:nvSpPr>
        <p:spPr>
          <a:xfrm>
            <a:off x="502920" y="6071616"/>
            <a:ext cx="1118585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u="sng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12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Full register: reports/opportunity_register.md</a:t>
            </a:r>
            <a:endParaRPr lang="en-US" sz="1400" dirty="0"/>
          </a:p>
        </p:txBody>
      </p:sp>
      <p:sp>
        <p:nvSpPr>
          <p:cNvPr id="59" name="Text 46"/>
          <p:cNvSpPr txBox="1"/>
          <p:nvPr/>
        </p:nvSpPr>
        <p:spPr>
          <a:xfrm>
            <a:off x="50292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Myntra Growth · Wishlist-to-Purchase Conversion</a:t>
            </a:r>
            <a:endParaRPr lang="en-US" sz="1400" dirty="0"/>
          </a:p>
        </p:txBody>
      </p:sp>
      <p:sp>
        <p:nvSpPr>
          <p:cNvPr id="60" name="Text 47"/>
          <p:cNvSpPr txBox="1"/>
          <p:nvPr/>
        </p:nvSpPr>
        <p:spPr>
          <a:xfrm>
            <a:off x="11368735" y="647395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4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32004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150" kern="0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 2 · DISCOVERY &amp; RESEARCH — PRIMARY RESEARCH</a:t>
            </a:r>
            <a:endParaRPr lang="en-US" sz="1400" dirty="0"/>
          </a:p>
        </p:txBody>
      </p:sp>
      <p:sp>
        <p:nvSpPr>
          <p:cNvPr id="3" name="Text 1"/>
          <p:cNvSpPr txBox="1"/>
          <p:nvPr/>
        </p:nvSpPr>
        <p:spPr>
          <a:xfrm>
            <a:off x="502920" y="566928"/>
            <a:ext cx="1118585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2000"/>
              </a:lnSpc>
              <a:buNone/>
            </a:pPr>
            <a:r>
              <a:rPr lang="en-US" sz="2700" b="1" dirty="0">
                <a:solidFill>
                  <a:srgbClr val="16233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Survey and Interviews Agree: Shoppers Compare, Then They Forget</a:t>
            </a:r>
            <a:endParaRPr lang="en-US" sz="2700" dirty="0"/>
          </a:p>
        </p:txBody>
      </p:sp>
      <p:sp>
        <p:nvSpPr>
          <p:cNvPr id="4" name="Text 2"/>
          <p:cNvSpPr txBox="1"/>
          <p:nvPr/>
        </p:nvSpPr>
        <p:spPr>
          <a:xfrm>
            <a:off x="502920" y="1371600"/>
            <a:ext cx="5120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400" b="1" dirty="0">
                <a:solidFill>
                  <a:srgbClr val="1623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an item gets removed without ever being bought (n=36):</a:t>
            </a:r>
            <a:endParaRPr lang="en-US" sz="1400" dirty="0"/>
          </a:p>
        </p:txBody>
      </p:sp>
      <p:graphicFrame>
        <p:nvGraphicFramePr>
          <p:cNvPr id="5" name="Chart 0" descr=""/>
          <p:cNvGraphicFramePr/>
          <p:nvPr/>
        </p:nvGraphicFramePr>
        <p:xfrm>
          <a:off x="502920" y="1874520"/>
          <a:ext cx="5212080" cy="21945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6" name="Text 3"/>
          <p:cNvSpPr txBox="1"/>
          <p:nvPr/>
        </p:nvSpPr>
        <p:spPr>
          <a:xfrm>
            <a:off x="502920" y="4142232"/>
            <a:ext cx="52120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4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Source: Wishlist Behavior Survey — </a:t>
            </a:r>
            <a:pPr indent="0" marL="0">
              <a:lnSpc>
                <a:spcPct val="105000"/>
              </a:lnSpc>
              <a:buNone/>
            </a:pPr>
            <a:r>
              <a:rPr lang="en-US" sz="1400" i="1" u="sng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2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view full responses</a:t>
            </a:r>
            <a:pPr indent="0" marL="0">
              <a:lnSpc>
                <a:spcPct val="105000"/>
              </a:lnSpc>
              <a:buNone/>
            </a:pPr>
            <a:r>
              <a:rPr lang="en-US" sz="14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 Top slice = the “42%” cited throughout this deck.</a:t>
            </a:r>
            <a:endParaRPr lang="en-US" sz="1400" dirty="0"/>
          </a:p>
        </p:txBody>
      </p:sp>
      <p:sp>
        <p:nvSpPr>
          <p:cNvPr id="7" name="Shape 4"/>
          <p:cNvSpPr/>
          <p:nvPr/>
        </p:nvSpPr>
        <p:spPr>
          <a:xfrm>
            <a:off x="5806440" y="1371600"/>
            <a:ext cx="5882335" cy="1325880"/>
          </a:xfrm>
          <a:prstGeom prst="roundRect">
            <a:avLst>
              <a:gd name="adj" fmla="val 5517"/>
            </a:avLst>
          </a:prstGeom>
          <a:solidFill>
            <a:srgbClr val="E8EEF7"/>
          </a:solidFill>
          <a:ln/>
        </p:spPr>
      </p:sp>
      <p:sp>
        <p:nvSpPr>
          <p:cNvPr id="8" name="Shape 5"/>
          <p:cNvSpPr/>
          <p:nvPr/>
        </p:nvSpPr>
        <p:spPr>
          <a:xfrm>
            <a:off x="5989320" y="1536192"/>
            <a:ext cx="457200" cy="457200"/>
          </a:xfrm>
          <a:prstGeom prst="ellipse">
            <a:avLst/>
          </a:prstGeom>
          <a:solidFill>
            <a:srgbClr val="0F766E"/>
          </a:solidFill>
          <a:ln/>
        </p:spPr>
      </p:sp>
      <p:pic>
        <p:nvPicPr>
          <p:cNvPr id="9" name="Image 0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092190" y="1639062"/>
            <a:ext cx="251460" cy="251460"/>
          </a:xfrm>
          <a:prstGeom prst="rect">
            <a:avLst/>
          </a:prstGeom>
        </p:spPr>
      </p:pic>
      <p:sp>
        <p:nvSpPr>
          <p:cNvPr id="10" name="Text 6"/>
          <p:cNvSpPr txBox="1"/>
          <p:nvPr/>
        </p:nvSpPr>
        <p:spPr>
          <a:xfrm>
            <a:off x="6583680" y="1517904"/>
            <a:ext cx="4922215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50" kern="0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CONVERTER · SMALL, CURATED WISHLIST</a:t>
            </a:r>
            <a:endParaRPr lang="en-US" sz="1400" dirty="0"/>
          </a:p>
        </p:txBody>
      </p:sp>
      <p:sp>
        <p:nvSpPr>
          <p:cNvPr id="11" name="Text 7"/>
          <p:cNvSpPr txBox="1"/>
          <p:nvPr/>
        </p:nvSpPr>
        <p:spPr>
          <a:xfrm>
            <a:off x="6583680" y="1755648"/>
            <a:ext cx="49222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B2A4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Anjali</a:t>
            </a:r>
            <a:endParaRPr lang="en-US" sz="1500" dirty="0"/>
          </a:p>
        </p:txBody>
      </p:sp>
      <p:sp>
        <p:nvSpPr>
          <p:cNvPr id="12" name="Text 8"/>
          <p:cNvSpPr txBox="1"/>
          <p:nvPr/>
        </p:nvSpPr>
        <p:spPr>
          <a:xfrm>
            <a:off x="5989320" y="2084832"/>
            <a:ext cx="5516575" cy="5394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400" dirty="0">
                <a:solidFill>
                  <a:srgbClr val="1623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“I wanted to compare, shortlist and compare.” Wants a physical Try &amp; Buy bundle to resolve fit doubt on unfamiliar brands.</a:t>
            </a:r>
            <a:endParaRPr lang="en-US" sz="1400" dirty="0"/>
          </a:p>
        </p:txBody>
      </p:sp>
      <p:sp>
        <p:nvSpPr>
          <p:cNvPr id="13" name="Shape 9"/>
          <p:cNvSpPr/>
          <p:nvPr/>
        </p:nvSpPr>
        <p:spPr>
          <a:xfrm>
            <a:off x="5806440" y="2843784"/>
            <a:ext cx="5882335" cy="1325880"/>
          </a:xfrm>
          <a:prstGeom prst="roundRect">
            <a:avLst>
              <a:gd name="adj" fmla="val 5517"/>
            </a:avLst>
          </a:prstGeom>
          <a:solidFill>
            <a:srgbClr val="E8EEF7"/>
          </a:solidFill>
          <a:ln/>
        </p:spPr>
      </p:sp>
      <p:sp>
        <p:nvSpPr>
          <p:cNvPr id="14" name="Shape 10"/>
          <p:cNvSpPr/>
          <p:nvPr/>
        </p:nvSpPr>
        <p:spPr>
          <a:xfrm>
            <a:off x="5989320" y="3008376"/>
            <a:ext cx="457200" cy="457200"/>
          </a:xfrm>
          <a:prstGeom prst="ellipse">
            <a:avLst/>
          </a:prstGeom>
          <a:solidFill>
            <a:srgbClr val="0F766E"/>
          </a:solidFill>
          <a:ln/>
        </p:spPr>
      </p:sp>
      <p:pic>
        <p:nvPicPr>
          <p:cNvPr id="15" name="Image 1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092190" y="3111246"/>
            <a:ext cx="251460" cy="251460"/>
          </a:xfrm>
          <a:prstGeom prst="rect">
            <a:avLst/>
          </a:prstGeom>
        </p:spPr>
      </p:pic>
      <p:sp>
        <p:nvSpPr>
          <p:cNvPr id="16" name="Text 11"/>
          <p:cNvSpPr txBox="1"/>
          <p:nvPr/>
        </p:nvSpPr>
        <p:spPr>
          <a:xfrm>
            <a:off x="6583680" y="2990088"/>
            <a:ext cx="4922215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50" kern="0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NON-CONVERTER · 1,220-ITEM WISHLIST</a:t>
            </a:r>
            <a:endParaRPr lang="en-US" sz="1400" dirty="0"/>
          </a:p>
        </p:txBody>
      </p:sp>
      <p:sp>
        <p:nvSpPr>
          <p:cNvPr id="17" name="Text 12"/>
          <p:cNvSpPr txBox="1"/>
          <p:nvPr/>
        </p:nvSpPr>
        <p:spPr>
          <a:xfrm>
            <a:off x="6583680" y="3227832"/>
            <a:ext cx="49222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B2A4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Bhargavi</a:t>
            </a:r>
            <a:endParaRPr lang="en-US" sz="1500" dirty="0"/>
          </a:p>
        </p:txBody>
      </p:sp>
      <p:sp>
        <p:nvSpPr>
          <p:cNvPr id="18" name="Text 13"/>
          <p:cNvSpPr txBox="1"/>
          <p:nvPr/>
        </p:nvSpPr>
        <p:spPr>
          <a:xfrm>
            <a:off x="5989320" y="3557016"/>
            <a:ext cx="5516575" cy="5394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400" dirty="0">
                <a:solidFill>
                  <a:srgbClr val="1623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“I get bombarded with alerts... I end up ignoring them.” Wants AI-curated wishlist surfacing, not a comparison tool.</a:t>
            </a:r>
            <a:endParaRPr lang="en-US" sz="1400" dirty="0"/>
          </a:p>
        </p:txBody>
      </p:sp>
      <p:sp>
        <p:nvSpPr>
          <p:cNvPr id="19" name="Text 14">
            <a:hlinkClick r:id="rId5" tooltip=""/>
          </p:cNvPr>
          <p:cNvSpPr txBox="1"/>
          <p:nvPr/>
        </p:nvSpPr>
        <p:spPr>
          <a:xfrm>
            <a:off x="5806440" y="4224528"/>
            <a:ext cx="588233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u="sng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5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Full findings: reports/interview_findings.md</a:t>
            </a:r>
            <a:endParaRPr lang="en-US" sz="1400" dirty="0"/>
          </a:p>
        </p:txBody>
      </p:sp>
      <p:sp>
        <p:nvSpPr>
          <p:cNvPr id="20" name="Text 15"/>
          <p:cNvSpPr txBox="1"/>
          <p:nvPr/>
        </p:nvSpPr>
        <p:spPr>
          <a:xfrm>
            <a:off x="502920" y="4553712"/>
            <a:ext cx="1118585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Illustrative personas (segment archetypes built from the survey + both interviews -- not additional respondents):</a:t>
            </a:r>
            <a:endParaRPr lang="en-US" sz="1400" dirty="0"/>
          </a:p>
        </p:txBody>
      </p:sp>
      <p:sp>
        <p:nvSpPr>
          <p:cNvPr id="21" name="Shape 16"/>
          <p:cNvSpPr/>
          <p:nvPr/>
        </p:nvSpPr>
        <p:spPr>
          <a:xfrm>
            <a:off x="502920" y="4809744"/>
            <a:ext cx="5440680" cy="1554480"/>
          </a:xfrm>
          <a:prstGeom prst="roundRect">
            <a:avLst>
              <a:gd name="adj" fmla="val 4706"/>
            </a:avLst>
          </a:prstGeom>
          <a:solidFill>
            <a:srgbClr val="1B2A4A"/>
          </a:solidFill>
          <a:ln/>
        </p:spPr>
      </p:sp>
      <p:sp>
        <p:nvSpPr>
          <p:cNvPr id="22" name="Shape 17"/>
          <p:cNvSpPr/>
          <p:nvPr/>
        </p:nvSpPr>
        <p:spPr>
          <a:xfrm>
            <a:off x="685800" y="4974336"/>
            <a:ext cx="457200" cy="457200"/>
          </a:xfrm>
          <a:prstGeom prst="ellipse">
            <a:avLst/>
          </a:prstGeom>
          <a:solidFill>
            <a:srgbClr val="0F766E"/>
          </a:solidFill>
          <a:ln/>
        </p:spPr>
      </p:sp>
      <p:pic>
        <p:nvPicPr>
          <p:cNvPr id="23" name="Image 2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88670" y="5077206"/>
            <a:ext cx="251460" cy="251460"/>
          </a:xfrm>
          <a:prstGeom prst="rect">
            <a:avLst/>
          </a:prstGeom>
        </p:spPr>
      </p:pic>
      <p:sp>
        <p:nvSpPr>
          <p:cNvPr id="24" name="Text 18"/>
          <p:cNvSpPr txBox="1"/>
          <p:nvPr/>
        </p:nvSpPr>
        <p:spPr>
          <a:xfrm>
            <a:off x="1280160" y="4937760"/>
            <a:ext cx="4480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Active Comparer</a:t>
            </a:r>
            <a:endParaRPr lang="en-US" sz="1500" dirty="0"/>
          </a:p>
        </p:txBody>
      </p:sp>
      <p:sp>
        <p:nvSpPr>
          <p:cNvPr id="25" name="Text 19"/>
          <p:cNvSpPr txBox="1"/>
          <p:nvPr/>
        </p:nvSpPr>
        <p:spPr>
          <a:xfrm>
            <a:off x="1280160" y="5212080"/>
            <a:ext cx="4480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400" i="1" dirty="0">
                <a:solidFill>
                  <a:srgbClr val="AFC0D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Converts when the comparison resolves in-app</a:t>
            </a:r>
            <a:endParaRPr lang="en-US" sz="1400" dirty="0"/>
          </a:p>
        </p:txBody>
      </p:sp>
      <p:sp>
        <p:nvSpPr>
          <p:cNvPr id="26" name="Text 20"/>
          <p:cNvSpPr txBox="1"/>
          <p:nvPr/>
        </p:nvSpPr>
        <p:spPr>
          <a:xfrm>
            <a:off x="685800" y="5522976"/>
            <a:ext cx="50749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 Small, curated wishlist</a:t>
            </a:r>
            <a:endParaRPr lang="en-US" sz="14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 Wishlists specifically to compare</a:t>
            </a:r>
            <a:endParaRPr lang="en-US" sz="14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 61% of survey respondents show this motive</a:t>
            </a:r>
            <a:endParaRPr lang="en-US" sz="1400" dirty="0"/>
          </a:p>
        </p:txBody>
      </p:sp>
      <p:sp>
        <p:nvSpPr>
          <p:cNvPr id="27" name="Shape 21"/>
          <p:cNvSpPr/>
          <p:nvPr/>
        </p:nvSpPr>
        <p:spPr>
          <a:xfrm>
            <a:off x="6217920" y="4809744"/>
            <a:ext cx="5440680" cy="1554480"/>
          </a:xfrm>
          <a:prstGeom prst="roundRect">
            <a:avLst>
              <a:gd name="adj" fmla="val 4706"/>
            </a:avLst>
          </a:prstGeom>
          <a:solidFill>
            <a:srgbClr val="1B2A4A"/>
          </a:solidFill>
          <a:ln/>
        </p:spPr>
      </p:sp>
      <p:sp>
        <p:nvSpPr>
          <p:cNvPr id="28" name="Shape 22"/>
          <p:cNvSpPr/>
          <p:nvPr/>
        </p:nvSpPr>
        <p:spPr>
          <a:xfrm>
            <a:off x="6400800" y="4974336"/>
            <a:ext cx="457200" cy="457200"/>
          </a:xfrm>
          <a:prstGeom prst="ellipse">
            <a:avLst/>
          </a:prstGeom>
          <a:solidFill>
            <a:srgbClr val="0F766E"/>
          </a:solidFill>
          <a:ln/>
        </p:spPr>
      </p:sp>
      <p:pic>
        <p:nvPicPr>
          <p:cNvPr id="29" name="Image 3" descr="preencode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503670" y="5077206"/>
            <a:ext cx="251460" cy="251460"/>
          </a:xfrm>
          <a:prstGeom prst="rect">
            <a:avLst/>
          </a:prstGeom>
        </p:spPr>
      </p:pic>
      <p:sp>
        <p:nvSpPr>
          <p:cNvPr id="30" name="Text 23"/>
          <p:cNvSpPr txBox="1"/>
          <p:nvPr/>
        </p:nvSpPr>
        <p:spPr>
          <a:xfrm>
            <a:off x="6995160" y="4937760"/>
            <a:ext cx="4480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Serial Bookmarker</a:t>
            </a:r>
            <a:endParaRPr lang="en-US" sz="1500" dirty="0"/>
          </a:p>
        </p:txBody>
      </p:sp>
      <p:sp>
        <p:nvSpPr>
          <p:cNvPr id="31" name="Text 24"/>
          <p:cNvSpPr txBox="1"/>
          <p:nvPr/>
        </p:nvSpPr>
        <p:spPr>
          <a:xfrm>
            <a:off x="6995160" y="5212080"/>
            <a:ext cx="4480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400" i="1" dirty="0">
                <a:solidFill>
                  <a:srgbClr val="AFC0D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wishlist, many intents -- mostly passive</a:t>
            </a:r>
            <a:endParaRPr lang="en-US" sz="1400" dirty="0"/>
          </a:p>
        </p:txBody>
      </p:sp>
      <p:sp>
        <p:nvSpPr>
          <p:cNvPr id="32" name="Text 25"/>
          <p:cNvSpPr txBox="1"/>
          <p:nvPr/>
        </p:nvSpPr>
        <p:spPr>
          <a:xfrm>
            <a:off x="6400800" y="5522976"/>
            <a:ext cx="50749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 Wishlist in the hundreds to thousands</a:t>
            </a:r>
            <a:endParaRPr lang="en-US" sz="14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 Active Comparer for one item at a time</a:t>
            </a:r>
            <a:endParaRPr lang="en-US" sz="14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 Notification-fatigued at scale (interview)</a:t>
            </a:r>
            <a:endParaRPr lang="en-US" sz="1400" dirty="0"/>
          </a:p>
        </p:txBody>
      </p:sp>
      <p:sp>
        <p:nvSpPr>
          <p:cNvPr id="33" name="Text 26"/>
          <p:cNvSpPr txBox="1"/>
          <p:nvPr/>
        </p:nvSpPr>
        <p:spPr>
          <a:xfrm>
            <a:off x="50292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Myntra Growth · Wishlist-to-Purchase Conversion</a:t>
            </a:r>
            <a:endParaRPr lang="en-US" sz="1400" dirty="0"/>
          </a:p>
        </p:txBody>
      </p:sp>
      <p:sp>
        <p:nvSpPr>
          <p:cNvPr id="34" name="Text 27"/>
          <p:cNvSpPr txBox="1"/>
          <p:nvPr/>
        </p:nvSpPr>
        <p:spPr>
          <a:xfrm>
            <a:off x="11368735" y="647395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4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1B2A4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32004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150" kern="0" dirty="0">
                <a:solidFill>
                  <a:srgbClr val="AFC0D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 2 · DISCOVERY &amp; RESEARCH — PROBLEM DEFINITION</a:t>
            </a:r>
            <a:endParaRPr lang="en-US" sz="1400" dirty="0"/>
          </a:p>
        </p:txBody>
      </p:sp>
      <p:sp>
        <p:nvSpPr>
          <p:cNvPr id="3" name="Text 1"/>
          <p:cNvSpPr txBox="1"/>
          <p:nvPr/>
        </p:nvSpPr>
        <p:spPr>
          <a:xfrm>
            <a:off x="502920" y="566928"/>
            <a:ext cx="1118585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2000"/>
              </a:lnSpc>
              <a:buNone/>
            </a:pPr>
            <a:r>
              <a:rPr lang="en-US" sz="27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Active Comparers Don't Say No — They Just Never Decide</a:t>
            </a:r>
            <a:endParaRPr lang="en-US" sz="2700" dirty="0"/>
          </a:p>
        </p:txBody>
      </p:sp>
      <p:sp>
        <p:nvSpPr>
          <p:cNvPr id="4" name="Shape 2"/>
          <p:cNvSpPr/>
          <p:nvPr/>
        </p:nvSpPr>
        <p:spPr>
          <a:xfrm>
            <a:off x="502920" y="1417320"/>
            <a:ext cx="11185855" cy="960120"/>
          </a:xfrm>
          <a:prstGeom prst="roundRect">
            <a:avLst>
              <a:gd name="adj" fmla="val 7619"/>
            </a:avLst>
          </a:prstGeom>
          <a:solidFill>
            <a:srgbClr val="27395F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777240" y="1417320"/>
            <a:ext cx="10637215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4000"/>
              </a:lnSpc>
              <a:buNone/>
            </a:pPr>
            <a:r>
              <a:rPr lang="en-US" sz="15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“Active Comparers” — users who wishlist an item while still comparing it against alternatives. The largest, most consistent segment across the AI pipeline, the survey, and both interviews (61% comparison motive) — confirmed as a per-item state, not a fixed user trait.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502920" y="2514600"/>
            <a:ext cx="3546043" cy="960120"/>
          </a:xfrm>
          <a:prstGeom prst="roundRect">
            <a:avLst>
              <a:gd name="adj" fmla="val 6667"/>
            </a:avLst>
          </a:prstGeom>
          <a:solidFill>
            <a:srgbClr val="FFFFFF"/>
          </a:solidFill>
          <a:ln/>
        </p:spPr>
      </p:sp>
      <p:sp>
        <p:nvSpPr>
          <p:cNvPr id="7" name="Shape 5"/>
          <p:cNvSpPr/>
          <p:nvPr/>
        </p:nvSpPr>
        <p:spPr>
          <a:xfrm>
            <a:off x="667512" y="2642616"/>
            <a:ext cx="512064" cy="512064"/>
          </a:xfrm>
          <a:prstGeom prst="ellipse">
            <a:avLst/>
          </a:prstGeom>
          <a:solidFill>
            <a:srgbClr val="0F766E"/>
          </a:solidFill>
          <a:ln/>
        </p:spPr>
      </p:sp>
      <p:pic>
        <p:nvPicPr>
          <p:cNvPr id="8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82726" y="2757830"/>
            <a:ext cx="281635" cy="281635"/>
          </a:xfrm>
          <a:prstGeom prst="rect">
            <a:avLst/>
          </a:prstGeom>
        </p:spPr>
      </p:pic>
      <p:sp>
        <p:nvSpPr>
          <p:cNvPr id="9" name="Text 6"/>
          <p:cNvSpPr txBox="1"/>
          <p:nvPr/>
        </p:nvSpPr>
        <p:spPr>
          <a:xfrm>
            <a:off x="1289304" y="2624328"/>
            <a:ext cx="2585923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F766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Root cause</a:t>
            </a:r>
            <a:endParaRPr lang="en-US" sz="1400" dirty="0"/>
          </a:p>
        </p:txBody>
      </p:sp>
      <p:sp>
        <p:nvSpPr>
          <p:cNvPr id="10" name="Text 7"/>
          <p:cNvSpPr txBox="1"/>
          <p:nvPr/>
        </p:nvSpPr>
        <p:spPr>
          <a:xfrm>
            <a:off x="1289304" y="2898648"/>
            <a:ext cx="2585923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400" dirty="0">
                <a:solidFill>
                  <a:srgbClr val="1623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wishlist is a passive bookmark, not a decision workspace.</a:t>
            </a:r>
            <a:endParaRPr lang="en-US" sz="1400" dirty="0"/>
          </a:p>
        </p:txBody>
      </p:sp>
      <p:sp>
        <p:nvSpPr>
          <p:cNvPr id="11" name="Shape 8"/>
          <p:cNvSpPr/>
          <p:nvPr/>
        </p:nvSpPr>
        <p:spPr>
          <a:xfrm>
            <a:off x="4323283" y="2514600"/>
            <a:ext cx="3546043" cy="960120"/>
          </a:xfrm>
          <a:prstGeom prst="roundRect">
            <a:avLst>
              <a:gd name="adj" fmla="val 6667"/>
            </a:avLst>
          </a:prstGeom>
          <a:solidFill>
            <a:srgbClr val="FFFFFF"/>
          </a:solidFill>
          <a:ln/>
        </p:spPr>
      </p:sp>
      <p:sp>
        <p:nvSpPr>
          <p:cNvPr id="12" name="Shape 9"/>
          <p:cNvSpPr/>
          <p:nvPr/>
        </p:nvSpPr>
        <p:spPr>
          <a:xfrm>
            <a:off x="4487875" y="2642616"/>
            <a:ext cx="512064" cy="512064"/>
          </a:xfrm>
          <a:prstGeom prst="ellipse">
            <a:avLst/>
          </a:prstGeom>
          <a:solidFill>
            <a:srgbClr val="0F766E"/>
          </a:solidFill>
          <a:ln/>
        </p:spPr>
      </p:sp>
      <p:pic>
        <p:nvPicPr>
          <p:cNvPr id="13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03090" y="2757830"/>
            <a:ext cx="281635" cy="281635"/>
          </a:xfrm>
          <a:prstGeom prst="rect">
            <a:avLst/>
          </a:prstGeom>
        </p:spPr>
      </p:pic>
      <p:sp>
        <p:nvSpPr>
          <p:cNvPr id="14" name="Text 10"/>
          <p:cNvSpPr txBox="1"/>
          <p:nvPr/>
        </p:nvSpPr>
        <p:spPr>
          <a:xfrm>
            <a:off x="5109667" y="2624328"/>
            <a:ext cx="2585923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F766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Result</a:t>
            </a:r>
            <a:endParaRPr lang="en-US" sz="1400" dirty="0"/>
          </a:p>
        </p:txBody>
      </p:sp>
      <p:sp>
        <p:nvSpPr>
          <p:cNvPr id="15" name="Text 11"/>
          <p:cNvSpPr txBox="1"/>
          <p:nvPr/>
        </p:nvSpPr>
        <p:spPr>
          <a:xfrm>
            <a:off x="5109667" y="2898648"/>
            <a:ext cx="2585923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400" dirty="0">
                <a:solidFill>
                  <a:srgbClr val="1623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Resolves off-platform (42%) or never at all (32% forget).</a:t>
            </a:r>
            <a:endParaRPr lang="en-US" sz="1400" dirty="0"/>
          </a:p>
        </p:txBody>
      </p:sp>
      <p:sp>
        <p:nvSpPr>
          <p:cNvPr id="16" name="Shape 12"/>
          <p:cNvSpPr/>
          <p:nvPr/>
        </p:nvSpPr>
        <p:spPr>
          <a:xfrm>
            <a:off x="8143646" y="2514600"/>
            <a:ext cx="3546043" cy="960120"/>
          </a:xfrm>
          <a:prstGeom prst="roundRect">
            <a:avLst>
              <a:gd name="adj" fmla="val 6667"/>
            </a:avLst>
          </a:prstGeom>
          <a:solidFill>
            <a:srgbClr val="FFFFFF"/>
          </a:solidFill>
          <a:ln/>
        </p:spPr>
      </p:sp>
      <p:sp>
        <p:nvSpPr>
          <p:cNvPr id="17" name="Shape 13"/>
          <p:cNvSpPr/>
          <p:nvPr/>
        </p:nvSpPr>
        <p:spPr>
          <a:xfrm>
            <a:off x="8308238" y="2642616"/>
            <a:ext cx="512064" cy="512064"/>
          </a:xfrm>
          <a:prstGeom prst="ellipse">
            <a:avLst/>
          </a:prstGeom>
          <a:solidFill>
            <a:srgbClr val="0F766E"/>
          </a:solidFill>
          <a:ln/>
        </p:spPr>
      </p:sp>
      <p:pic>
        <p:nvPicPr>
          <p:cNvPr id="18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423453" y="2757830"/>
            <a:ext cx="281635" cy="281635"/>
          </a:xfrm>
          <a:prstGeom prst="rect">
            <a:avLst/>
          </a:prstGeom>
        </p:spPr>
      </p:pic>
      <p:sp>
        <p:nvSpPr>
          <p:cNvPr id="19" name="Text 14"/>
          <p:cNvSpPr txBox="1"/>
          <p:nvPr/>
        </p:nvSpPr>
        <p:spPr>
          <a:xfrm>
            <a:off x="8930030" y="2624328"/>
            <a:ext cx="2585923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F766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Why it matters</a:t>
            </a:r>
            <a:endParaRPr lang="en-US" sz="1400" dirty="0"/>
          </a:p>
        </p:txBody>
      </p:sp>
      <p:sp>
        <p:nvSpPr>
          <p:cNvPr id="20" name="Text 15"/>
          <p:cNvSpPr txBox="1"/>
          <p:nvPr/>
        </p:nvSpPr>
        <p:spPr>
          <a:xfrm>
            <a:off x="8930030" y="2898648"/>
            <a:ext cx="2585923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400" dirty="0">
                <a:solidFill>
                  <a:srgbClr val="1623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 price or returns — decision support, no incentive needed.</a:t>
            </a:r>
            <a:endParaRPr lang="en-US" sz="1400" dirty="0"/>
          </a:p>
        </p:txBody>
      </p:sp>
      <p:sp>
        <p:nvSpPr>
          <p:cNvPr id="21" name="Text 16"/>
          <p:cNvSpPr txBox="1"/>
          <p:nvPr/>
        </p:nvSpPr>
        <p:spPr>
          <a:xfrm>
            <a:off x="502920" y="3639312"/>
            <a:ext cx="11185855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400" i="1" dirty="0">
                <a:solidFill>
                  <a:srgbClr val="AFC0D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RICE prioritization — same Frequency / Hesitation-link / Evidence-confidence columns already published in reports/opportunity_register.md, plus a labeled engineering-effort estimate. This reinforces, not revises, the funnel ranking:</a:t>
            </a:r>
            <a:endParaRPr lang="en-US" sz="1400" dirty="0"/>
          </a:p>
        </p:txBody>
      </p:sp>
      <p:graphicFrame>
        <p:nvGraphicFramePr>
          <p:cNvPr id="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02920" y="4059936"/>
          <a:ext cx="11185855" cy="1691640"/>
        </p:xfrm>
        <a:graphic>
          <a:graphicData uri="http://schemas.openxmlformats.org/drawingml/2006/table">
            <a:tbl>
              <a:tblPr/>
              <a:tblGrid>
                <a:gridCol w="3383280"/>
                <a:gridCol w="1371600"/>
                <a:gridCol w="1371600"/>
                <a:gridCol w="1371600"/>
                <a:gridCol w="1371600"/>
                <a:gridCol w="2407615"/>
              </a:tblGrid>
              <a:tr h="28194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Opportunity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33446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3446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3446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3446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7395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Reach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33446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3446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3446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3446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7395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Impact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33446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3446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3446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3446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7395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Confid.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33446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3446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3446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3446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7395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Effort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33446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3446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3446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3446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7395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RICE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33446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3446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3446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3446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7395F"/>
                    </a:solidFill>
                  </a:tcPr>
                </a:tc>
              </a:tr>
              <a:tr h="28194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8FE3D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Comparison Resolution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33446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3446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3446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3446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2335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3.0%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33446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3446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3446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3446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2335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0.63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33446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3446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3446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3446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2335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0.78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33446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3446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3446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3446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2335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Low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33446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3446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3446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3446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2335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8FE3D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1.49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33446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3446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3446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3446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2335A"/>
                    </a:solidFill>
                  </a:tcPr>
                </a:tc>
              </a:tr>
              <a:tr h="28194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8FE3D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Re-engagement (forgetting)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33446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3446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3446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3446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7395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5.1%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33446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3446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3446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3446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7395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0.50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33446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3446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3446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3446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7395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0.63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33446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3446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3446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3446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7395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Med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33446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3446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3446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3446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7395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8FE3D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0.82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33446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3446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3446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3446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7395F"/>
                    </a:solidFill>
                  </a:tcPr>
                </a:tc>
              </a:tr>
              <a:tr h="28194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Fit Confidence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33446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3446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3446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3446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2335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12.3%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33446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3446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3446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3446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2335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0.24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33446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3446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3446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3446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2335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0.44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33446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3446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3446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3446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2335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Med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33446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3446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3446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3446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2335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0.65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33446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3446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3446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3446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2335A"/>
                    </a:solidFill>
                  </a:tcPr>
                </a:tc>
              </a:tr>
              <a:tr h="28194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Visual/Review Proof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33446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3446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3446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3446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7395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11.6%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33446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3446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3446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3446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7395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0.27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33446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3446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3446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3446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7395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0.61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33446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3446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3446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3446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7395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High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33446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3446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3446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3446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7395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0.63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33446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3446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3446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3446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7395F"/>
                    </a:solidFill>
                  </a:tcPr>
                </a:tc>
              </a:tr>
              <a:tr h="28194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E8C79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Returns/Exchange Friction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33446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3446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3446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3446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2335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12.0%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33446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3446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3446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3446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2335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0.11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33446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3446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3446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3446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2335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0.81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33446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3446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3446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3446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2335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High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33446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3446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3446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3446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2335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E8C79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0.35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33446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3446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3446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3446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2335A"/>
                    </a:solidFill>
                  </a:tcPr>
                </a:tc>
              </a:tr>
            </a:tbl>
          </a:graphicData>
        </a:graphic>
      </p:graphicFrame>
      <p:sp>
        <p:nvSpPr>
          <p:cNvPr id="23" name="Text 17"/>
          <p:cNvSpPr txBox="1"/>
          <p:nvPr/>
        </p:nvSpPr>
        <p:spPr>
          <a:xfrm>
            <a:off x="502920" y="5815584"/>
            <a:ext cx="11185855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400" i="1" dirty="0">
                <a:solidFill>
                  <a:srgbClr val="AFC0D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Reach = % of relevant records · Impact = hesitation-link · Confidence = evidence_confidence · Effort is a planning estimate (not published elsewhere) · RICE = (Reach×Impact×Confidence)/Effort-weight</a:t>
            </a:r>
            <a:endParaRPr lang="en-US" sz="1400" dirty="0"/>
          </a:p>
        </p:txBody>
      </p:sp>
      <p:sp>
        <p:nvSpPr>
          <p:cNvPr id="24" name="Text 18"/>
          <p:cNvSpPr txBox="1"/>
          <p:nvPr/>
        </p:nvSpPr>
        <p:spPr>
          <a:xfrm>
            <a:off x="50292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AFC0D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Myntra Growth · Wishlist-to-Purchase Conversion</a:t>
            </a:r>
            <a:endParaRPr lang="en-US" sz="1400" dirty="0"/>
          </a:p>
        </p:txBody>
      </p:sp>
      <p:sp>
        <p:nvSpPr>
          <p:cNvPr id="25" name="Text 19"/>
          <p:cNvSpPr txBox="1"/>
          <p:nvPr/>
        </p:nvSpPr>
        <p:spPr>
          <a:xfrm>
            <a:off x="11368735" y="647395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AFC0D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4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32004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150" kern="0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 3 · THE SOLUTION — RATIONALE</a:t>
            </a:r>
            <a:endParaRPr lang="en-US" sz="1400" dirty="0"/>
          </a:p>
        </p:txBody>
      </p:sp>
      <p:sp>
        <p:nvSpPr>
          <p:cNvPr id="3" name="Text 1"/>
          <p:cNvSpPr txBox="1"/>
          <p:nvPr/>
        </p:nvSpPr>
        <p:spPr>
          <a:xfrm>
            <a:off x="502920" y="566928"/>
            <a:ext cx="1118585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2000"/>
              </a:lnSpc>
              <a:buNone/>
            </a:pPr>
            <a:r>
              <a:rPr lang="en-US" sz="2700" b="1" dirty="0">
                <a:solidFill>
                  <a:srgbClr val="16233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Four Validated Hypotheses, One Mechanism That Resolves Them</a:t>
            </a:r>
            <a:endParaRPr lang="en-US" sz="2700" dirty="0"/>
          </a:p>
        </p:txBody>
      </p:sp>
      <p:sp>
        <p:nvSpPr>
          <p:cNvPr id="4" name="Shape 2"/>
          <p:cNvSpPr/>
          <p:nvPr/>
        </p:nvSpPr>
        <p:spPr>
          <a:xfrm>
            <a:off x="502920" y="1371600"/>
            <a:ext cx="11185855" cy="777240"/>
          </a:xfrm>
          <a:prstGeom prst="roundRect">
            <a:avLst>
              <a:gd name="adj" fmla="val 8235"/>
            </a:avLst>
          </a:prstGeom>
          <a:solidFill>
            <a:srgbClr val="E8EEF7"/>
          </a:solidFill>
          <a:ln/>
        </p:spPr>
      </p:sp>
      <p:sp>
        <p:nvSpPr>
          <p:cNvPr id="5" name="Shape 3"/>
          <p:cNvSpPr/>
          <p:nvPr/>
        </p:nvSpPr>
        <p:spPr>
          <a:xfrm>
            <a:off x="640080" y="1540764"/>
            <a:ext cx="438912" cy="438912"/>
          </a:xfrm>
          <a:prstGeom prst="ellipse">
            <a:avLst/>
          </a:prstGeom>
          <a:solidFill>
            <a:srgbClr val="1B2A4A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640080" y="1540764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1800" dirty="0"/>
          </a:p>
        </p:txBody>
      </p:sp>
      <p:sp>
        <p:nvSpPr>
          <p:cNvPr id="7" name="Shape 5"/>
          <p:cNvSpPr/>
          <p:nvPr/>
        </p:nvSpPr>
        <p:spPr>
          <a:xfrm>
            <a:off x="1261872" y="1540764"/>
            <a:ext cx="438912" cy="438912"/>
          </a:xfrm>
          <a:prstGeom prst="ellipse">
            <a:avLst/>
          </a:prstGeom>
          <a:solidFill>
            <a:srgbClr val="0F766E"/>
          </a:solidFill>
          <a:ln/>
        </p:spPr>
      </p:sp>
      <p:pic>
        <p:nvPicPr>
          <p:cNvPr id="8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360627" y="1639519"/>
            <a:ext cx="241402" cy="241402"/>
          </a:xfrm>
          <a:prstGeom prst="rect">
            <a:avLst/>
          </a:prstGeom>
        </p:spPr>
      </p:pic>
      <p:sp>
        <p:nvSpPr>
          <p:cNvPr id="9" name="Text 6"/>
          <p:cNvSpPr txBox="1"/>
          <p:nvPr/>
        </p:nvSpPr>
        <p:spPr>
          <a:xfrm>
            <a:off x="1874520" y="1444752"/>
            <a:ext cx="4297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2A4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Comparison Resolution</a:t>
            </a:r>
            <a:endParaRPr lang="en-US" sz="1400" dirty="0"/>
          </a:p>
        </p:txBody>
      </p:sp>
      <p:sp>
        <p:nvSpPr>
          <p:cNvPr id="10" name="Text 7"/>
          <p:cNvSpPr txBox="1"/>
          <p:nvPr/>
        </p:nvSpPr>
        <p:spPr>
          <a:xfrm>
            <a:off x="1874520" y="1719072"/>
            <a:ext cx="42976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opp:comparison_loop · hesitation-link 0.63</a:t>
            </a:r>
            <a:endParaRPr lang="en-US" sz="1400" dirty="0"/>
          </a:p>
        </p:txBody>
      </p:sp>
      <p:sp>
        <p:nvSpPr>
          <p:cNvPr id="11" name="Text 8"/>
          <p:cNvSpPr txBox="1"/>
          <p:nvPr/>
        </p:nvSpPr>
        <p:spPr>
          <a:xfrm>
            <a:off x="6263640" y="1426464"/>
            <a:ext cx="5287975" cy="6675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4000"/>
              </a:lnSpc>
              <a:buNone/>
            </a:pPr>
            <a:r>
              <a:rPr lang="en-US" sz="1400" dirty="0">
                <a:solidFill>
                  <a:srgbClr val="1623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“TieBreaker” fits: the AI agent resolves the exact comparison respondents described unprompted, in-app instead of on a competitor's site.</a:t>
            </a:r>
            <a:endParaRPr lang="en-US" sz="1400" dirty="0"/>
          </a:p>
        </p:txBody>
      </p:sp>
      <p:sp>
        <p:nvSpPr>
          <p:cNvPr id="12" name="Shape 9"/>
          <p:cNvSpPr/>
          <p:nvPr/>
        </p:nvSpPr>
        <p:spPr>
          <a:xfrm>
            <a:off x="502920" y="2258568"/>
            <a:ext cx="11185855" cy="777240"/>
          </a:xfrm>
          <a:prstGeom prst="roundRect">
            <a:avLst>
              <a:gd name="adj" fmla="val 8235"/>
            </a:avLst>
          </a:prstGeom>
          <a:solidFill>
            <a:srgbClr val="D7ECE9"/>
          </a:solidFill>
          <a:ln/>
        </p:spPr>
      </p:sp>
      <p:sp>
        <p:nvSpPr>
          <p:cNvPr id="13" name="Shape 10"/>
          <p:cNvSpPr/>
          <p:nvPr/>
        </p:nvSpPr>
        <p:spPr>
          <a:xfrm>
            <a:off x="640080" y="2427732"/>
            <a:ext cx="438912" cy="438912"/>
          </a:xfrm>
          <a:prstGeom prst="ellipse">
            <a:avLst/>
          </a:prstGeom>
          <a:solidFill>
            <a:srgbClr val="1B2A4A"/>
          </a:solidFill>
          <a:ln/>
        </p:spPr>
      </p:sp>
      <p:sp>
        <p:nvSpPr>
          <p:cNvPr id="14" name="Text 11"/>
          <p:cNvSpPr txBox="1"/>
          <p:nvPr/>
        </p:nvSpPr>
        <p:spPr>
          <a:xfrm>
            <a:off x="640080" y="2427732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1800" dirty="0"/>
          </a:p>
        </p:txBody>
      </p:sp>
      <p:sp>
        <p:nvSpPr>
          <p:cNvPr id="15" name="Shape 12"/>
          <p:cNvSpPr/>
          <p:nvPr/>
        </p:nvSpPr>
        <p:spPr>
          <a:xfrm>
            <a:off x="1261872" y="2427732"/>
            <a:ext cx="438912" cy="438912"/>
          </a:xfrm>
          <a:prstGeom prst="ellipse">
            <a:avLst/>
          </a:prstGeom>
          <a:solidFill>
            <a:srgbClr val="0F766E"/>
          </a:solidFill>
          <a:ln/>
        </p:spPr>
      </p:sp>
      <p:pic>
        <p:nvPicPr>
          <p:cNvPr id="16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60627" y="2526487"/>
            <a:ext cx="241402" cy="241402"/>
          </a:xfrm>
          <a:prstGeom prst="rect">
            <a:avLst/>
          </a:prstGeom>
        </p:spPr>
      </p:pic>
      <p:sp>
        <p:nvSpPr>
          <p:cNvPr id="17" name="Text 13"/>
          <p:cNvSpPr txBox="1"/>
          <p:nvPr/>
        </p:nvSpPr>
        <p:spPr>
          <a:xfrm>
            <a:off x="1874520" y="2331720"/>
            <a:ext cx="4297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2A4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Re-engagement (forgetting)</a:t>
            </a:r>
            <a:endParaRPr lang="en-US" sz="1400" dirty="0"/>
          </a:p>
        </p:txBody>
      </p:sp>
      <p:sp>
        <p:nvSpPr>
          <p:cNvPr id="18" name="Text 14"/>
          <p:cNvSpPr txBox="1"/>
          <p:nvPr/>
        </p:nvSpPr>
        <p:spPr>
          <a:xfrm>
            <a:off x="1874520" y="2606040"/>
            <a:ext cx="42976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opp:intent:uncertain · hesitation-link 0.50</a:t>
            </a:r>
            <a:endParaRPr lang="en-US" sz="1400" dirty="0"/>
          </a:p>
        </p:txBody>
      </p:sp>
      <p:sp>
        <p:nvSpPr>
          <p:cNvPr id="19" name="Text 15"/>
          <p:cNvSpPr txBox="1"/>
          <p:nvPr/>
        </p:nvSpPr>
        <p:spPr>
          <a:xfrm>
            <a:off x="6263640" y="2313432"/>
            <a:ext cx="5287975" cy="6675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4000"/>
              </a:lnSpc>
              <a:buNone/>
            </a:pPr>
            <a:r>
              <a:rPr lang="en-US" sz="1400" dirty="0">
                <a:solidFill>
                  <a:srgbClr val="1623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“TieBreaker” fits: the fast-forward nudge pulls a stale comparison back before attention decays — the #1 blocker among non-converters.</a:t>
            </a:r>
            <a:endParaRPr lang="en-US" sz="1400" dirty="0"/>
          </a:p>
        </p:txBody>
      </p:sp>
      <p:sp>
        <p:nvSpPr>
          <p:cNvPr id="20" name="Shape 16"/>
          <p:cNvSpPr/>
          <p:nvPr/>
        </p:nvSpPr>
        <p:spPr>
          <a:xfrm>
            <a:off x="502920" y="3145536"/>
            <a:ext cx="11185855" cy="777240"/>
          </a:xfrm>
          <a:prstGeom prst="roundRect">
            <a:avLst>
              <a:gd name="adj" fmla="val 8235"/>
            </a:avLst>
          </a:prstGeom>
          <a:solidFill>
            <a:srgbClr val="E8EEF7"/>
          </a:solidFill>
          <a:ln/>
        </p:spPr>
      </p:sp>
      <p:sp>
        <p:nvSpPr>
          <p:cNvPr id="21" name="Shape 17"/>
          <p:cNvSpPr/>
          <p:nvPr/>
        </p:nvSpPr>
        <p:spPr>
          <a:xfrm>
            <a:off x="640080" y="3314700"/>
            <a:ext cx="438912" cy="438912"/>
          </a:xfrm>
          <a:prstGeom prst="ellipse">
            <a:avLst/>
          </a:prstGeom>
          <a:solidFill>
            <a:srgbClr val="1B2A4A"/>
          </a:solidFill>
          <a:ln/>
        </p:spPr>
      </p:sp>
      <p:sp>
        <p:nvSpPr>
          <p:cNvPr id="22" name="Text 18"/>
          <p:cNvSpPr txBox="1"/>
          <p:nvPr/>
        </p:nvSpPr>
        <p:spPr>
          <a:xfrm>
            <a:off x="640080" y="3314700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1800" dirty="0"/>
          </a:p>
        </p:txBody>
      </p:sp>
      <p:sp>
        <p:nvSpPr>
          <p:cNvPr id="23" name="Shape 19"/>
          <p:cNvSpPr/>
          <p:nvPr/>
        </p:nvSpPr>
        <p:spPr>
          <a:xfrm>
            <a:off x="1261872" y="3314700"/>
            <a:ext cx="438912" cy="438912"/>
          </a:xfrm>
          <a:prstGeom prst="ellipse">
            <a:avLst/>
          </a:prstGeom>
          <a:solidFill>
            <a:srgbClr val="0F766E"/>
          </a:solidFill>
          <a:ln/>
        </p:spPr>
      </p:sp>
      <p:pic>
        <p:nvPicPr>
          <p:cNvPr id="24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360627" y="3413455"/>
            <a:ext cx="241402" cy="241402"/>
          </a:xfrm>
          <a:prstGeom prst="rect">
            <a:avLst/>
          </a:prstGeom>
        </p:spPr>
      </p:pic>
      <p:sp>
        <p:nvSpPr>
          <p:cNvPr id="25" name="Text 20"/>
          <p:cNvSpPr txBox="1"/>
          <p:nvPr/>
        </p:nvSpPr>
        <p:spPr>
          <a:xfrm>
            <a:off x="1874520" y="3218688"/>
            <a:ext cx="4297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2A4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Visual / Review Proof</a:t>
            </a:r>
            <a:endParaRPr lang="en-US" sz="1400" dirty="0"/>
          </a:p>
        </p:txBody>
      </p:sp>
      <p:sp>
        <p:nvSpPr>
          <p:cNvPr id="26" name="Text 21"/>
          <p:cNvSpPr txBox="1"/>
          <p:nvPr/>
        </p:nvSpPr>
        <p:spPr>
          <a:xfrm>
            <a:off x="1874520" y="3493008"/>
            <a:ext cx="42976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opp:image_vs_reality · hesitation-link 0.27</a:t>
            </a:r>
            <a:endParaRPr lang="en-US" sz="1400" dirty="0"/>
          </a:p>
        </p:txBody>
      </p:sp>
      <p:sp>
        <p:nvSpPr>
          <p:cNvPr id="27" name="Text 22"/>
          <p:cNvSpPr txBox="1"/>
          <p:nvPr/>
        </p:nvSpPr>
        <p:spPr>
          <a:xfrm>
            <a:off x="6263640" y="3200400"/>
            <a:ext cx="5287975" cy="6675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4000"/>
              </a:lnSpc>
              <a:buNone/>
            </a:pPr>
            <a:r>
              <a:rPr lang="en-US" sz="1400" dirty="0">
                <a:solidFill>
                  <a:srgbClr val="1623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“TieBreaker” fits: the comparison card surfaces the same structured product detail respondents said they lacked, without leaving the app.</a:t>
            </a:r>
            <a:endParaRPr lang="en-US" sz="1400" dirty="0"/>
          </a:p>
        </p:txBody>
      </p:sp>
      <p:sp>
        <p:nvSpPr>
          <p:cNvPr id="28" name="Shape 23"/>
          <p:cNvSpPr/>
          <p:nvPr/>
        </p:nvSpPr>
        <p:spPr>
          <a:xfrm>
            <a:off x="502920" y="4032504"/>
            <a:ext cx="11185855" cy="777240"/>
          </a:xfrm>
          <a:prstGeom prst="roundRect">
            <a:avLst>
              <a:gd name="adj" fmla="val 8235"/>
            </a:avLst>
          </a:prstGeom>
          <a:solidFill>
            <a:srgbClr val="D7ECE9"/>
          </a:solidFill>
          <a:ln/>
        </p:spPr>
      </p:sp>
      <p:sp>
        <p:nvSpPr>
          <p:cNvPr id="29" name="Shape 24"/>
          <p:cNvSpPr/>
          <p:nvPr/>
        </p:nvSpPr>
        <p:spPr>
          <a:xfrm>
            <a:off x="640080" y="4201668"/>
            <a:ext cx="438912" cy="438912"/>
          </a:xfrm>
          <a:prstGeom prst="ellipse">
            <a:avLst/>
          </a:prstGeom>
          <a:solidFill>
            <a:srgbClr val="1B2A4A"/>
          </a:solidFill>
          <a:ln/>
        </p:spPr>
      </p:sp>
      <p:sp>
        <p:nvSpPr>
          <p:cNvPr id="30" name="Text 25"/>
          <p:cNvSpPr txBox="1"/>
          <p:nvPr/>
        </p:nvSpPr>
        <p:spPr>
          <a:xfrm>
            <a:off x="640080" y="4201668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</a:t>
            </a:r>
            <a:endParaRPr lang="en-US" sz="1800" dirty="0"/>
          </a:p>
        </p:txBody>
      </p:sp>
      <p:sp>
        <p:nvSpPr>
          <p:cNvPr id="31" name="Shape 26"/>
          <p:cNvSpPr/>
          <p:nvPr/>
        </p:nvSpPr>
        <p:spPr>
          <a:xfrm>
            <a:off x="1261872" y="4201668"/>
            <a:ext cx="438912" cy="438912"/>
          </a:xfrm>
          <a:prstGeom prst="ellipse">
            <a:avLst/>
          </a:prstGeom>
          <a:solidFill>
            <a:srgbClr val="0F766E"/>
          </a:solidFill>
          <a:ln/>
        </p:spPr>
      </p:sp>
      <p:pic>
        <p:nvPicPr>
          <p:cNvPr id="32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360627" y="4300423"/>
            <a:ext cx="241402" cy="241402"/>
          </a:xfrm>
          <a:prstGeom prst="rect">
            <a:avLst/>
          </a:prstGeom>
        </p:spPr>
      </p:pic>
      <p:sp>
        <p:nvSpPr>
          <p:cNvPr id="33" name="Text 27"/>
          <p:cNvSpPr txBox="1"/>
          <p:nvPr/>
        </p:nvSpPr>
        <p:spPr>
          <a:xfrm>
            <a:off x="1874520" y="4105656"/>
            <a:ext cx="4297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2A4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Fit Confidence</a:t>
            </a:r>
            <a:endParaRPr lang="en-US" sz="1400" dirty="0"/>
          </a:p>
        </p:txBody>
      </p:sp>
      <p:sp>
        <p:nvSpPr>
          <p:cNvPr id="34" name="Text 28"/>
          <p:cNvSpPr txBox="1"/>
          <p:nvPr/>
        </p:nvSpPr>
        <p:spPr>
          <a:xfrm>
            <a:off x="1874520" y="4379976"/>
            <a:ext cx="42976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opp:fit_uncertainty · hesitation-link 0.24</a:t>
            </a:r>
            <a:endParaRPr lang="en-US" sz="1400" dirty="0"/>
          </a:p>
        </p:txBody>
      </p:sp>
      <p:sp>
        <p:nvSpPr>
          <p:cNvPr id="35" name="Text 29"/>
          <p:cNvSpPr txBox="1"/>
          <p:nvPr/>
        </p:nvSpPr>
        <p:spPr>
          <a:xfrm>
            <a:off x="6263640" y="4087368"/>
            <a:ext cx="5287975" cy="6675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4000"/>
              </a:lnSpc>
              <a:buNone/>
            </a:pPr>
            <a:r>
              <a:rPr lang="en-US" sz="1400" dirty="0">
                <a:solidFill>
                  <a:srgbClr val="1623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“TieBreaker” fits: the agent reasons directly over each item's size/fit notes — precisely the unfamiliar-brand uncertainty both interviews described.</a:t>
            </a:r>
            <a:endParaRPr lang="en-US" sz="1400" dirty="0"/>
          </a:p>
        </p:txBody>
      </p:sp>
      <p:sp>
        <p:nvSpPr>
          <p:cNvPr id="36" name="Text 30"/>
          <p:cNvSpPr txBox="1"/>
          <p:nvPr/>
        </p:nvSpPr>
        <p:spPr>
          <a:xfrm>
            <a:off x="502920" y="4882896"/>
            <a:ext cx="11185855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60" kern="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ALTERNATIVES CONSIDERED AND REJECTED (reports/solution_concepts.md)</a:t>
            </a:r>
            <a:endParaRPr lang="en-US" sz="1400" dirty="0"/>
          </a:p>
        </p:txBody>
      </p:sp>
      <p:sp>
        <p:nvSpPr>
          <p:cNvPr id="37" name="Shape 31"/>
          <p:cNvSpPr/>
          <p:nvPr/>
        </p:nvSpPr>
        <p:spPr>
          <a:xfrm>
            <a:off x="502920" y="5102352"/>
            <a:ext cx="3606698" cy="859536"/>
          </a:xfrm>
          <a:prstGeom prst="roundRect">
            <a:avLst>
              <a:gd name="adj" fmla="val 6383"/>
            </a:avLst>
          </a:prstGeom>
          <a:solidFill>
            <a:srgbClr val="F1F3F7"/>
          </a:solidFill>
          <a:ln/>
        </p:spPr>
      </p:sp>
      <p:sp>
        <p:nvSpPr>
          <p:cNvPr id="38" name="Shape 32"/>
          <p:cNvSpPr/>
          <p:nvPr/>
        </p:nvSpPr>
        <p:spPr>
          <a:xfrm>
            <a:off x="630936" y="5212080"/>
            <a:ext cx="365760" cy="365760"/>
          </a:xfrm>
          <a:prstGeom prst="ellipse">
            <a:avLst/>
          </a:prstGeom>
          <a:solidFill>
            <a:srgbClr val="475569"/>
          </a:solidFill>
          <a:ln/>
        </p:spPr>
      </p:sp>
      <p:pic>
        <p:nvPicPr>
          <p:cNvPr id="39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13232" y="5294376"/>
            <a:ext cx="201168" cy="201168"/>
          </a:xfrm>
          <a:prstGeom prst="rect">
            <a:avLst/>
          </a:prstGeom>
        </p:spPr>
      </p:pic>
      <p:sp>
        <p:nvSpPr>
          <p:cNvPr id="40" name="Text 33"/>
          <p:cNvSpPr txBox="1"/>
          <p:nvPr/>
        </p:nvSpPr>
        <p:spPr>
          <a:xfrm>
            <a:off x="1069848" y="5157216"/>
            <a:ext cx="291175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2000"/>
              </a:lnSpc>
              <a:buNone/>
            </a:pPr>
            <a:r>
              <a:rPr lang="en-US" sz="1300" b="1" dirty="0">
                <a:solidFill>
                  <a:srgbClr val="16233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Recoverability preview</a:t>
            </a:r>
            <a:endParaRPr lang="en-US" sz="1300" dirty="0"/>
          </a:p>
        </p:txBody>
      </p:sp>
      <p:sp>
        <p:nvSpPr>
          <p:cNvPr id="41" name="Text 34"/>
          <p:cNvSpPr txBox="1"/>
          <p:nvPr/>
        </p:nvSpPr>
        <p:spPr>
          <a:xfrm>
            <a:off x="630936" y="5596128"/>
            <a:ext cx="335066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4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Hesitation-link 0.11 — post-purchase noise.</a:t>
            </a:r>
            <a:endParaRPr lang="en-US" sz="1400" dirty="0"/>
          </a:p>
        </p:txBody>
      </p:sp>
      <p:sp>
        <p:nvSpPr>
          <p:cNvPr id="42" name="Shape 35"/>
          <p:cNvSpPr/>
          <p:nvPr/>
        </p:nvSpPr>
        <p:spPr>
          <a:xfrm>
            <a:off x="4292498" y="5102352"/>
            <a:ext cx="3606698" cy="859536"/>
          </a:xfrm>
          <a:prstGeom prst="roundRect">
            <a:avLst>
              <a:gd name="adj" fmla="val 6383"/>
            </a:avLst>
          </a:prstGeom>
          <a:solidFill>
            <a:srgbClr val="F1F3F7"/>
          </a:solidFill>
          <a:ln/>
        </p:spPr>
      </p:sp>
      <p:sp>
        <p:nvSpPr>
          <p:cNvPr id="43" name="Shape 36"/>
          <p:cNvSpPr/>
          <p:nvPr/>
        </p:nvSpPr>
        <p:spPr>
          <a:xfrm>
            <a:off x="4420514" y="5212080"/>
            <a:ext cx="365760" cy="365760"/>
          </a:xfrm>
          <a:prstGeom prst="ellipse">
            <a:avLst/>
          </a:prstGeom>
          <a:solidFill>
            <a:srgbClr val="475569"/>
          </a:solidFill>
          <a:ln/>
        </p:spPr>
      </p:sp>
      <p:pic>
        <p:nvPicPr>
          <p:cNvPr id="44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502810" y="5294376"/>
            <a:ext cx="201168" cy="201168"/>
          </a:xfrm>
          <a:prstGeom prst="rect">
            <a:avLst/>
          </a:prstGeom>
        </p:spPr>
      </p:pic>
      <p:sp>
        <p:nvSpPr>
          <p:cNvPr id="45" name="Text 37"/>
          <p:cNvSpPr txBox="1"/>
          <p:nvPr/>
        </p:nvSpPr>
        <p:spPr>
          <a:xfrm>
            <a:off x="4859426" y="5157216"/>
            <a:ext cx="291175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2000"/>
              </a:lnSpc>
              <a:buNone/>
            </a:pPr>
            <a:r>
              <a:rPr lang="en-US" sz="1300" b="1" dirty="0">
                <a:solidFill>
                  <a:srgbClr val="16233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Worth-it proof at current price</a:t>
            </a:r>
            <a:endParaRPr lang="en-US" sz="1300" dirty="0"/>
          </a:p>
        </p:txBody>
      </p:sp>
      <p:sp>
        <p:nvSpPr>
          <p:cNvPr id="46" name="Text 38"/>
          <p:cNvSpPr txBox="1"/>
          <p:nvPr/>
        </p:nvSpPr>
        <p:spPr>
          <a:xfrm>
            <a:off x="4420514" y="5596128"/>
            <a:ext cx="335066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4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Reads as monetary framing — against our constraint.</a:t>
            </a:r>
            <a:endParaRPr lang="en-US" sz="1400" dirty="0"/>
          </a:p>
        </p:txBody>
      </p:sp>
      <p:sp>
        <p:nvSpPr>
          <p:cNvPr id="47" name="Shape 39"/>
          <p:cNvSpPr/>
          <p:nvPr/>
        </p:nvSpPr>
        <p:spPr>
          <a:xfrm>
            <a:off x="8082077" y="5102352"/>
            <a:ext cx="3606698" cy="859536"/>
          </a:xfrm>
          <a:prstGeom prst="roundRect">
            <a:avLst>
              <a:gd name="adj" fmla="val 6383"/>
            </a:avLst>
          </a:prstGeom>
          <a:solidFill>
            <a:srgbClr val="F1F3F7"/>
          </a:solidFill>
          <a:ln/>
        </p:spPr>
      </p:sp>
      <p:sp>
        <p:nvSpPr>
          <p:cNvPr id="48" name="Shape 40"/>
          <p:cNvSpPr/>
          <p:nvPr/>
        </p:nvSpPr>
        <p:spPr>
          <a:xfrm>
            <a:off x="8210093" y="5212080"/>
            <a:ext cx="365760" cy="365760"/>
          </a:xfrm>
          <a:prstGeom prst="ellipse">
            <a:avLst/>
          </a:prstGeom>
          <a:solidFill>
            <a:srgbClr val="475569"/>
          </a:solidFill>
          <a:ln/>
        </p:spPr>
      </p:sp>
      <p:pic>
        <p:nvPicPr>
          <p:cNvPr id="49" name="Image 6" descr="preencode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292389" y="5294376"/>
            <a:ext cx="201168" cy="201168"/>
          </a:xfrm>
          <a:prstGeom prst="rect">
            <a:avLst/>
          </a:prstGeom>
        </p:spPr>
      </p:pic>
      <p:sp>
        <p:nvSpPr>
          <p:cNvPr id="50" name="Text 41"/>
          <p:cNvSpPr txBox="1"/>
          <p:nvPr/>
        </p:nvSpPr>
        <p:spPr>
          <a:xfrm>
            <a:off x="8649005" y="5157216"/>
            <a:ext cx="291175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2000"/>
              </a:lnSpc>
              <a:buNone/>
            </a:pPr>
            <a:r>
              <a:rPr lang="en-US" sz="1300" b="1" dirty="0">
                <a:solidFill>
                  <a:srgbClr val="16233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Delivery date on SKU</a:t>
            </a:r>
            <a:endParaRPr lang="en-US" sz="1300" dirty="0"/>
          </a:p>
        </p:txBody>
      </p:sp>
      <p:sp>
        <p:nvSpPr>
          <p:cNvPr id="51" name="Text 42"/>
          <p:cNvSpPr txBox="1"/>
          <p:nvPr/>
        </p:nvSpPr>
        <p:spPr>
          <a:xfrm>
            <a:off x="8210093" y="5596128"/>
            <a:ext cx="335066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4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Evidence base only 0.82% — logistics only.</a:t>
            </a:r>
            <a:endParaRPr lang="en-US" sz="1400" dirty="0"/>
          </a:p>
        </p:txBody>
      </p:sp>
      <p:sp>
        <p:nvSpPr>
          <p:cNvPr id="52" name="Shape 43"/>
          <p:cNvSpPr/>
          <p:nvPr/>
        </p:nvSpPr>
        <p:spPr>
          <a:xfrm>
            <a:off x="502920" y="6007608"/>
            <a:ext cx="11185855" cy="420624"/>
          </a:xfrm>
          <a:prstGeom prst="roundRect">
            <a:avLst>
              <a:gd name="adj" fmla="val 13043"/>
            </a:avLst>
          </a:prstGeom>
          <a:solidFill>
            <a:srgbClr val="F6E7D2"/>
          </a:solidFill>
          <a:ln/>
        </p:spPr>
      </p:sp>
      <p:sp>
        <p:nvSpPr>
          <p:cNvPr id="53" name="Text 44"/>
          <p:cNvSpPr txBox="1"/>
          <p:nvPr/>
        </p:nvSpPr>
        <p:spPr>
          <a:xfrm>
            <a:off x="685800" y="6007608"/>
            <a:ext cx="10820095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400" b="1" dirty="0">
                <a:solidFill>
                  <a:srgbClr val="B4530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moat: every reason-tagged comparison feeds back into the dataset — at Myntra's scale (200M+ annual active users), that compounds faster than a smaller rival can replicate the same structured signal.</a:t>
            </a:r>
            <a:endParaRPr lang="en-US" sz="1400" dirty="0"/>
          </a:p>
        </p:txBody>
      </p:sp>
      <p:sp>
        <p:nvSpPr>
          <p:cNvPr id="54" name="Text 45"/>
          <p:cNvSpPr txBox="1"/>
          <p:nvPr/>
        </p:nvSpPr>
        <p:spPr>
          <a:xfrm>
            <a:off x="50292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Myntra Growth · Wishlist-to-Purchase Conversion</a:t>
            </a:r>
            <a:endParaRPr lang="en-US" sz="1400" dirty="0"/>
          </a:p>
        </p:txBody>
      </p:sp>
      <p:sp>
        <p:nvSpPr>
          <p:cNvPr id="55" name="Text 46"/>
          <p:cNvSpPr txBox="1"/>
          <p:nvPr/>
        </p:nvSpPr>
        <p:spPr>
          <a:xfrm>
            <a:off x="11368735" y="647395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14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32004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150" kern="0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 3 · THE SOLUTION — MVP</a:t>
            </a:r>
            <a:endParaRPr lang="en-US" sz="1400" dirty="0"/>
          </a:p>
        </p:txBody>
      </p:sp>
      <p:sp>
        <p:nvSpPr>
          <p:cNvPr id="3" name="Text 1"/>
          <p:cNvSpPr txBox="1"/>
          <p:nvPr/>
        </p:nvSpPr>
        <p:spPr>
          <a:xfrm>
            <a:off x="502920" y="566928"/>
            <a:ext cx="1118585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2000"/>
              </a:lnSpc>
              <a:buNone/>
            </a:pPr>
            <a:r>
              <a:rPr lang="en-US" sz="2700" b="1" dirty="0">
                <a:solidFill>
                  <a:srgbClr val="16233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TieBreaker: An AI Agent That Resolves the Comparison In-App</a:t>
            </a:r>
            <a:endParaRPr lang="en-US" sz="2700" dirty="0"/>
          </a:p>
        </p:txBody>
      </p:sp>
      <p:sp>
        <p:nvSpPr>
          <p:cNvPr id="4" name="Text 2"/>
          <p:cNvSpPr txBox="1"/>
          <p:nvPr/>
        </p:nvSpPr>
        <p:spPr>
          <a:xfrm>
            <a:off x="502920" y="1417320"/>
            <a:ext cx="1118585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5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standalone Streamlit app on the real Myntra catalog (451 in-stock items, 4 categories) and the same LLM client as the discovery pipeline — no mock data.</a:t>
            </a:r>
            <a:endParaRPr lang="en-US" sz="1500" dirty="0"/>
          </a:p>
        </p:txBody>
      </p:sp>
      <p:sp>
        <p:nvSpPr>
          <p:cNvPr id="5" name="Text 3"/>
          <p:cNvSpPr txBox="1"/>
          <p:nvPr/>
        </p:nvSpPr>
        <p:spPr>
          <a:xfrm>
            <a:off x="502920" y="1810512"/>
            <a:ext cx="11185855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a comparison gets resolved, end to end: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502920" y="2103120"/>
            <a:ext cx="2054291" cy="685800"/>
          </a:xfrm>
          <a:prstGeom prst="roundRect">
            <a:avLst>
              <a:gd name="adj" fmla="val 9333"/>
            </a:avLst>
          </a:prstGeom>
          <a:solidFill>
            <a:srgbClr val="E8EEF7"/>
          </a:solidFill>
          <a:ln/>
        </p:spPr>
      </p:sp>
      <p:sp>
        <p:nvSpPr>
          <p:cNvPr id="7" name="Shape 5"/>
          <p:cNvSpPr/>
          <p:nvPr/>
        </p:nvSpPr>
        <p:spPr>
          <a:xfrm>
            <a:off x="1356330" y="2212848"/>
            <a:ext cx="347472" cy="347472"/>
          </a:xfrm>
          <a:prstGeom prst="ellipse">
            <a:avLst/>
          </a:prstGeom>
          <a:solidFill>
            <a:srgbClr val="0F766E"/>
          </a:solidFill>
          <a:ln/>
        </p:spPr>
      </p:sp>
      <p:pic>
        <p:nvPicPr>
          <p:cNvPr id="8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434511" y="2291029"/>
            <a:ext cx="191110" cy="191110"/>
          </a:xfrm>
          <a:prstGeom prst="rect">
            <a:avLst/>
          </a:prstGeom>
        </p:spPr>
      </p:pic>
      <p:sp>
        <p:nvSpPr>
          <p:cNvPr id="9" name="Text 6"/>
          <p:cNvSpPr txBox="1"/>
          <p:nvPr/>
        </p:nvSpPr>
        <p:spPr>
          <a:xfrm>
            <a:off x="557784" y="2596896"/>
            <a:ext cx="1944563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4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2+ Tagged Items</a:t>
            </a:r>
            <a:endParaRPr lang="en-US" sz="1400" dirty="0"/>
          </a:p>
        </p:txBody>
      </p:sp>
      <p:pic>
        <p:nvPicPr>
          <p:cNvPr id="10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52639" y="2327148"/>
            <a:ext cx="237744" cy="237744"/>
          </a:xfrm>
          <a:prstGeom prst="rect">
            <a:avLst/>
          </a:prstGeom>
        </p:spPr>
      </p:pic>
      <p:sp>
        <p:nvSpPr>
          <p:cNvPr id="11" name="Shape 7"/>
          <p:cNvSpPr/>
          <p:nvPr/>
        </p:nvSpPr>
        <p:spPr>
          <a:xfrm>
            <a:off x="2785811" y="2103120"/>
            <a:ext cx="2054291" cy="685800"/>
          </a:xfrm>
          <a:prstGeom prst="roundRect">
            <a:avLst>
              <a:gd name="adj" fmla="val 9333"/>
            </a:avLst>
          </a:prstGeom>
          <a:solidFill>
            <a:srgbClr val="E8EEF7"/>
          </a:solidFill>
          <a:ln/>
        </p:spPr>
      </p:sp>
      <p:sp>
        <p:nvSpPr>
          <p:cNvPr id="12" name="Shape 8"/>
          <p:cNvSpPr/>
          <p:nvPr/>
        </p:nvSpPr>
        <p:spPr>
          <a:xfrm>
            <a:off x="3639221" y="2212848"/>
            <a:ext cx="347472" cy="347472"/>
          </a:xfrm>
          <a:prstGeom prst="ellipse">
            <a:avLst/>
          </a:prstGeom>
          <a:solidFill>
            <a:srgbClr val="0F766E"/>
          </a:solidFill>
          <a:ln/>
        </p:spPr>
      </p:sp>
      <p:pic>
        <p:nvPicPr>
          <p:cNvPr id="13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717402" y="2291029"/>
            <a:ext cx="191110" cy="191110"/>
          </a:xfrm>
          <a:prstGeom prst="rect">
            <a:avLst/>
          </a:prstGeom>
        </p:spPr>
      </p:pic>
      <p:sp>
        <p:nvSpPr>
          <p:cNvPr id="14" name="Text 9"/>
          <p:cNvSpPr txBox="1"/>
          <p:nvPr/>
        </p:nvSpPr>
        <p:spPr>
          <a:xfrm>
            <a:off x="2840675" y="2596896"/>
            <a:ext cx="1944563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4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Build Prompt</a:t>
            </a:r>
            <a:endParaRPr lang="en-US" sz="1400" dirty="0"/>
          </a:p>
        </p:txBody>
      </p:sp>
      <p:pic>
        <p:nvPicPr>
          <p:cNvPr id="15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835530" y="2327148"/>
            <a:ext cx="237744" cy="237744"/>
          </a:xfrm>
          <a:prstGeom prst="rect">
            <a:avLst/>
          </a:prstGeom>
        </p:spPr>
      </p:pic>
      <p:sp>
        <p:nvSpPr>
          <p:cNvPr id="16" name="Shape 10"/>
          <p:cNvSpPr/>
          <p:nvPr/>
        </p:nvSpPr>
        <p:spPr>
          <a:xfrm>
            <a:off x="5068702" y="2103120"/>
            <a:ext cx="2054291" cy="685800"/>
          </a:xfrm>
          <a:prstGeom prst="roundRect">
            <a:avLst>
              <a:gd name="adj" fmla="val 9333"/>
            </a:avLst>
          </a:prstGeom>
          <a:solidFill>
            <a:srgbClr val="E8EEF7"/>
          </a:solidFill>
          <a:ln/>
        </p:spPr>
      </p:sp>
      <p:sp>
        <p:nvSpPr>
          <p:cNvPr id="17" name="Shape 11"/>
          <p:cNvSpPr/>
          <p:nvPr/>
        </p:nvSpPr>
        <p:spPr>
          <a:xfrm>
            <a:off x="5922112" y="2212848"/>
            <a:ext cx="347472" cy="347472"/>
          </a:xfrm>
          <a:prstGeom prst="ellipse">
            <a:avLst/>
          </a:prstGeom>
          <a:solidFill>
            <a:srgbClr val="0F766E"/>
          </a:solidFill>
          <a:ln/>
        </p:spPr>
      </p:sp>
      <p:pic>
        <p:nvPicPr>
          <p:cNvPr id="18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000293" y="2291029"/>
            <a:ext cx="191110" cy="191110"/>
          </a:xfrm>
          <a:prstGeom prst="rect">
            <a:avLst/>
          </a:prstGeom>
        </p:spPr>
      </p:pic>
      <p:sp>
        <p:nvSpPr>
          <p:cNvPr id="19" name="Text 12"/>
          <p:cNvSpPr txBox="1"/>
          <p:nvPr/>
        </p:nvSpPr>
        <p:spPr>
          <a:xfrm>
            <a:off x="5123566" y="2596896"/>
            <a:ext cx="1944563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4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Groq LLM Call</a:t>
            </a:r>
            <a:endParaRPr lang="en-US" sz="1400" dirty="0"/>
          </a:p>
        </p:txBody>
      </p:sp>
      <p:pic>
        <p:nvPicPr>
          <p:cNvPr id="20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118421" y="2327148"/>
            <a:ext cx="237744" cy="237744"/>
          </a:xfrm>
          <a:prstGeom prst="rect">
            <a:avLst/>
          </a:prstGeom>
        </p:spPr>
      </p:pic>
      <p:sp>
        <p:nvSpPr>
          <p:cNvPr id="21" name="Shape 13"/>
          <p:cNvSpPr/>
          <p:nvPr/>
        </p:nvSpPr>
        <p:spPr>
          <a:xfrm>
            <a:off x="7351593" y="2103120"/>
            <a:ext cx="2054291" cy="685800"/>
          </a:xfrm>
          <a:prstGeom prst="roundRect">
            <a:avLst>
              <a:gd name="adj" fmla="val 9333"/>
            </a:avLst>
          </a:prstGeom>
          <a:solidFill>
            <a:srgbClr val="E8EEF7"/>
          </a:solidFill>
          <a:ln/>
        </p:spPr>
      </p:sp>
      <p:sp>
        <p:nvSpPr>
          <p:cNvPr id="22" name="Shape 14"/>
          <p:cNvSpPr/>
          <p:nvPr/>
        </p:nvSpPr>
        <p:spPr>
          <a:xfrm>
            <a:off x="8205003" y="2212848"/>
            <a:ext cx="347472" cy="347472"/>
          </a:xfrm>
          <a:prstGeom prst="ellipse">
            <a:avLst/>
          </a:prstGeom>
          <a:solidFill>
            <a:srgbClr val="0F766E"/>
          </a:solidFill>
          <a:ln/>
        </p:spPr>
      </p:sp>
      <p:pic>
        <p:nvPicPr>
          <p:cNvPr id="23" name="Image 6" descr="preencode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283184" y="2291029"/>
            <a:ext cx="191110" cy="191110"/>
          </a:xfrm>
          <a:prstGeom prst="rect">
            <a:avLst/>
          </a:prstGeom>
        </p:spPr>
      </p:pic>
      <p:sp>
        <p:nvSpPr>
          <p:cNvPr id="24" name="Text 15"/>
          <p:cNvSpPr txBox="1"/>
          <p:nvPr/>
        </p:nvSpPr>
        <p:spPr>
          <a:xfrm>
            <a:off x="7406457" y="2596896"/>
            <a:ext cx="1944563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4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Validate Response</a:t>
            </a:r>
            <a:endParaRPr lang="en-US" sz="1400" dirty="0"/>
          </a:p>
        </p:txBody>
      </p:sp>
      <p:pic>
        <p:nvPicPr>
          <p:cNvPr id="25" name="Image 7" descr="preencoded.pn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9401312" y="2327148"/>
            <a:ext cx="237744" cy="237744"/>
          </a:xfrm>
          <a:prstGeom prst="rect">
            <a:avLst/>
          </a:prstGeom>
        </p:spPr>
      </p:pic>
      <p:sp>
        <p:nvSpPr>
          <p:cNvPr id="26" name="Shape 16"/>
          <p:cNvSpPr/>
          <p:nvPr/>
        </p:nvSpPr>
        <p:spPr>
          <a:xfrm>
            <a:off x="9634484" y="2103120"/>
            <a:ext cx="2054291" cy="685800"/>
          </a:xfrm>
          <a:prstGeom prst="roundRect">
            <a:avLst>
              <a:gd name="adj" fmla="val 9333"/>
            </a:avLst>
          </a:prstGeom>
          <a:solidFill>
            <a:srgbClr val="E8EEF7"/>
          </a:solidFill>
          <a:ln/>
        </p:spPr>
      </p:sp>
      <p:sp>
        <p:nvSpPr>
          <p:cNvPr id="27" name="Shape 17"/>
          <p:cNvSpPr/>
          <p:nvPr/>
        </p:nvSpPr>
        <p:spPr>
          <a:xfrm>
            <a:off x="10487894" y="2212848"/>
            <a:ext cx="347472" cy="347472"/>
          </a:xfrm>
          <a:prstGeom prst="ellipse">
            <a:avLst/>
          </a:prstGeom>
          <a:solidFill>
            <a:srgbClr val="0F766E"/>
          </a:solidFill>
          <a:ln/>
        </p:spPr>
      </p:sp>
      <p:pic>
        <p:nvPicPr>
          <p:cNvPr id="28" name="Image 8" descr="preencoded.png">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10566075" y="2291029"/>
            <a:ext cx="191110" cy="191110"/>
          </a:xfrm>
          <a:prstGeom prst="rect">
            <a:avLst/>
          </a:prstGeom>
        </p:spPr>
      </p:pic>
      <p:sp>
        <p:nvSpPr>
          <p:cNvPr id="29" name="Text 18"/>
          <p:cNvSpPr txBox="1"/>
          <p:nvPr/>
        </p:nvSpPr>
        <p:spPr>
          <a:xfrm>
            <a:off x="9689348" y="2596896"/>
            <a:ext cx="1944563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4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User Decides</a:t>
            </a:r>
            <a:endParaRPr lang="en-US" sz="1400" dirty="0"/>
          </a:p>
        </p:txBody>
      </p:sp>
      <p:pic>
        <p:nvPicPr>
          <p:cNvPr id="30" name="Image 9" descr="./mvp_shots/shot_result_final.png">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502920" y="2898648"/>
            <a:ext cx="5458968" cy="3017520"/>
          </a:xfrm>
          <a:prstGeom prst="rect">
            <a:avLst/>
          </a:prstGeom>
        </p:spPr>
      </p:pic>
      <p:sp>
        <p:nvSpPr>
          <p:cNvPr id="31" name="Shape 19"/>
          <p:cNvSpPr/>
          <p:nvPr/>
        </p:nvSpPr>
        <p:spPr>
          <a:xfrm>
            <a:off x="502920" y="2898648"/>
            <a:ext cx="5458968" cy="3017520"/>
          </a:xfrm>
          <a:prstGeom prst="rect">
            <a:avLst/>
          </a:prstGeom>
          <a:ln w="12700">
            <a:solidFill>
              <a:srgbClr val="D6DCE5"/>
            </a:solidFill>
            <a:prstDash val="solid"/>
          </a:ln>
        </p:spPr>
      </p:sp>
      <p:sp>
        <p:nvSpPr>
          <p:cNvPr id="32" name="Shape 20"/>
          <p:cNvSpPr/>
          <p:nvPr/>
        </p:nvSpPr>
        <p:spPr>
          <a:xfrm>
            <a:off x="6236208" y="2898648"/>
            <a:ext cx="5452567" cy="1417320"/>
          </a:xfrm>
          <a:prstGeom prst="roundRect">
            <a:avLst>
              <a:gd name="adj" fmla="val 5161"/>
            </a:avLst>
          </a:prstGeom>
          <a:solidFill>
            <a:srgbClr val="E8EEF7"/>
          </a:solidFill>
          <a:ln/>
        </p:spPr>
      </p:sp>
      <p:sp>
        <p:nvSpPr>
          <p:cNvPr id="33" name="Shape 21"/>
          <p:cNvSpPr/>
          <p:nvPr/>
        </p:nvSpPr>
        <p:spPr>
          <a:xfrm>
            <a:off x="6419088" y="3081528"/>
            <a:ext cx="512064" cy="512064"/>
          </a:xfrm>
          <a:prstGeom prst="ellipse">
            <a:avLst/>
          </a:prstGeom>
          <a:solidFill>
            <a:srgbClr val="0F766E"/>
          </a:solidFill>
          <a:ln/>
        </p:spPr>
      </p:sp>
      <p:pic>
        <p:nvPicPr>
          <p:cNvPr id="34" name="Image 10" descr="preencoded.png">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6534302" y="3196742"/>
            <a:ext cx="281635" cy="281635"/>
          </a:xfrm>
          <a:prstGeom prst="rect">
            <a:avLst/>
          </a:prstGeom>
        </p:spPr>
      </p:pic>
      <p:sp>
        <p:nvSpPr>
          <p:cNvPr id="35" name="Text 22"/>
          <p:cNvSpPr txBox="1"/>
          <p:nvPr/>
        </p:nvSpPr>
        <p:spPr>
          <a:xfrm>
            <a:off x="6419088" y="3685032"/>
            <a:ext cx="5086807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B2A4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Reason capture</a:t>
            </a:r>
            <a:endParaRPr lang="en-US" sz="1500" dirty="0"/>
          </a:p>
        </p:txBody>
      </p:sp>
      <p:sp>
        <p:nvSpPr>
          <p:cNvPr id="36" name="Text 23"/>
          <p:cNvSpPr txBox="1"/>
          <p:nvPr/>
        </p:nvSpPr>
        <p:spPr>
          <a:xfrm>
            <a:off x="6419088" y="3959352"/>
            <a:ext cx="5086807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400" dirty="0">
                <a:solidFill>
                  <a:srgbClr val="1623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One-tap chip at save-time: comparing, occasion, fit, or just liked it.</a:t>
            </a:r>
            <a:endParaRPr lang="en-US" sz="1400" dirty="0"/>
          </a:p>
        </p:txBody>
      </p:sp>
      <p:sp>
        <p:nvSpPr>
          <p:cNvPr id="37" name="Shape 24"/>
          <p:cNvSpPr/>
          <p:nvPr/>
        </p:nvSpPr>
        <p:spPr>
          <a:xfrm>
            <a:off x="6236208" y="4498848"/>
            <a:ext cx="5452567" cy="1417320"/>
          </a:xfrm>
          <a:prstGeom prst="roundRect">
            <a:avLst>
              <a:gd name="adj" fmla="val 5161"/>
            </a:avLst>
          </a:prstGeom>
          <a:solidFill>
            <a:srgbClr val="E8EEF7"/>
          </a:solidFill>
          <a:ln/>
        </p:spPr>
      </p:sp>
      <p:sp>
        <p:nvSpPr>
          <p:cNvPr id="38" name="Shape 25"/>
          <p:cNvSpPr/>
          <p:nvPr/>
        </p:nvSpPr>
        <p:spPr>
          <a:xfrm>
            <a:off x="6419088" y="4681728"/>
            <a:ext cx="512064" cy="512064"/>
          </a:xfrm>
          <a:prstGeom prst="ellipse">
            <a:avLst/>
          </a:prstGeom>
          <a:solidFill>
            <a:srgbClr val="0F766E"/>
          </a:solidFill>
          <a:ln/>
        </p:spPr>
      </p:sp>
      <p:pic>
        <p:nvPicPr>
          <p:cNvPr id="39" name="Image 11" descr="preencoded.png">    </p:cNvPr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6534302" y="4796942"/>
            <a:ext cx="281635" cy="281635"/>
          </a:xfrm>
          <a:prstGeom prst="rect">
            <a:avLst/>
          </a:prstGeom>
        </p:spPr>
      </p:pic>
      <p:sp>
        <p:nvSpPr>
          <p:cNvPr id="40" name="Text 26"/>
          <p:cNvSpPr txBox="1"/>
          <p:nvPr/>
        </p:nvSpPr>
        <p:spPr>
          <a:xfrm>
            <a:off x="6419088" y="5285232"/>
            <a:ext cx="5086807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B2A4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AI comparison agent</a:t>
            </a:r>
            <a:endParaRPr lang="en-US" sz="1500" dirty="0"/>
          </a:p>
        </p:txBody>
      </p:sp>
      <p:sp>
        <p:nvSpPr>
          <p:cNvPr id="41" name="Text 27"/>
          <p:cNvSpPr txBox="1"/>
          <p:nvPr/>
        </p:nvSpPr>
        <p:spPr>
          <a:xfrm>
            <a:off x="6419088" y="5559552"/>
            <a:ext cx="5086807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400" dirty="0">
                <a:solidFill>
                  <a:srgbClr val="1623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Recommends between saved items using real attributes — no price framing.</a:t>
            </a:r>
            <a:endParaRPr lang="en-US" sz="1400" dirty="0"/>
          </a:p>
        </p:txBody>
      </p:sp>
      <p:sp>
        <p:nvSpPr>
          <p:cNvPr id="42" name="Shape 28"/>
          <p:cNvSpPr/>
          <p:nvPr/>
        </p:nvSpPr>
        <p:spPr>
          <a:xfrm>
            <a:off x="502920" y="6044184"/>
            <a:ext cx="11185855" cy="329184"/>
          </a:xfrm>
          <a:prstGeom prst="roundRect">
            <a:avLst>
              <a:gd name="adj" fmla="val 50000"/>
            </a:avLst>
          </a:prstGeom>
          <a:solidFill>
            <a:srgbClr val="F6E7D2"/>
          </a:solidFill>
          <a:ln w="15875">
            <a:solidFill>
              <a:srgbClr val="B45309"/>
            </a:solidFill>
            <a:prstDash val="solid"/>
          </a:ln>
        </p:spPr>
      </p:sp>
      <p:sp>
        <p:nvSpPr>
          <p:cNvPr id="43" name="Text 29"/>
          <p:cNvSpPr txBox="1"/>
          <p:nvPr/>
        </p:nvSpPr>
        <p:spPr>
          <a:xfrm>
            <a:off x="502920" y="6044184"/>
            <a:ext cx="11185855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B4530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Live MVP (“TieBreaker”)  →  link to be added</a:t>
            </a:r>
            <a:endParaRPr lang="en-US" sz="1400" dirty="0"/>
          </a:p>
        </p:txBody>
      </p:sp>
      <p:sp>
        <p:nvSpPr>
          <p:cNvPr id="44" name="Text 30"/>
          <p:cNvSpPr txBox="1"/>
          <p:nvPr/>
        </p:nvSpPr>
        <p:spPr>
          <a:xfrm>
            <a:off x="50292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Myntra Growth · Wishlist-to-Purchase Conversion</a:t>
            </a:r>
            <a:endParaRPr lang="en-US" sz="1400" dirty="0"/>
          </a:p>
        </p:txBody>
      </p:sp>
      <p:sp>
        <p:nvSpPr>
          <p:cNvPr id="45" name="Text 31"/>
          <p:cNvSpPr txBox="1"/>
          <p:nvPr/>
        </p:nvSpPr>
        <p:spPr>
          <a:xfrm>
            <a:off x="11368735" y="647395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14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32004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150" kern="0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 3 · THE SOLUTION — HOW IT WORKS</a:t>
            </a:r>
            <a:endParaRPr lang="en-US" sz="1400" dirty="0"/>
          </a:p>
        </p:txBody>
      </p:sp>
      <p:sp>
        <p:nvSpPr>
          <p:cNvPr id="3" name="Text 1"/>
          <p:cNvSpPr txBox="1"/>
          <p:nvPr/>
        </p:nvSpPr>
        <p:spPr>
          <a:xfrm>
            <a:off x="502920" y="566928"/>
            <a:ext cx="1118585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2000"/>
              </a:lnSpc>
              <a:buNone/>
            </a:pPr>
            <a:r>
              <a:rPr lang="en-US" sz="2700" b="1" dirty="0">
                <a:solidFill>
                  <a:srgbClr val="16233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From Browse to Decision in Four Steps</a:t>
            </a:r>
            <a:endParaRPr lang="en-US" sz="2700" dirty="0"/>
          </a:p>
        </p:txBody>
      </p:sp>
      <p:sp>
        <p:nvSpPr>
          <p:cNvPr id="4" name="Shape 2"/>
          <p:cNvSpPr/>
          <p:nvPr/>
        </p:nvSpPr>
        <p:spPr>
          <a:xfrm>
            <a:off x="502920" y="1828800"/>
            <a:ext cx="2606040" cy="3017520"/>
          </a:xfrm>
          <a:prstGeom prst="roundRect">
            <a:avLst>
              <a:gd name="adj" fmla="val 2807"/>
            </a:avLst>
          </a:prstGeom>
          <a:solidFill>
            <a:srgbClr val="0F766E"/>
          </a:solidFill>
          <a:ln/>
        </p:spPr>
      </p:sp>
      <p:sp>
        <p:nvSpPr>
          <p:cNvPr id="5" name="Shape 3"/>
          <p:cNvSpPr/>
          <p:nvPr/>
        </p:nvSpPr>
        <p:spPr>
          <a:xfrm>
            <a:off x="685800" y="1993392"/>
            <a:ext cx="457200" cy="457200"/>
          </a:xfrm>
          <a:prstGeom prst="ellipse">
            <a:avLst/>
          </a:prstGeom>
          <a:solidFill>
            <a:srgbClr val="FFFFFF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685800" y="199339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0F766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2000" dirty="0"/>
          </a:p>
        </p:txBody>
      </p:sp>
      <p:sp>
        <p:nvSpPr>
          <p:cNvPr id="7" name="Shape 5"/>
          <p:cNvSpPr/>
          <p:nvPr/>
        </p:nvSpPr>
        <p:spPr>
          <a:xfrm>
            <a:off x="1440180" y="2606040"/>
            <a:ext cx="731520" cy="731520"/>
          </a:xfrm>
          <a:prstGeom prst="ellipse">
            <a:avLst/>
          </a:prstGeom>
          <a:solidFill>
            <a:srgbClr val="FFFFFF"/>
          </a:solidFill>
          <a:ln/>
        </p:spPr>
      </p:sp>
      <p:pic>
        <p:nvPicPr>
          <p:cNvPr id="8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623060" y="2788920"/>
            <a:ext cx="365760" cy="365760"/>
          </a:xfrm>
          <a:prstGeom prst="rect">
            <a:avLst/>
          </a:prstGeom>
        </p:spPr>
      </p:pic>
      <p:sp>
        <p:nvSpPr>
          <p:cNvPr id="9" name="Text 6"/>
          <p:cNvSpPr txBox="1"/>
          <p:nvPr/>
        </p:nvSpPr>
        <p:spPr>
          <a:xfrm>
            <a:off x="667512" y="3520440"/>
            <a:ext cx="227685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Browse &amp; Save</a:t>
            </a:r>
            <a:endParaRPr lang="en-US" sz="1600" dirty="0"/>
          </a:p>
        </p:txBody>
      </p:sp>
      <p:sp>
        <p:nvSpPr>
          <p:cNvPr id="10" name="Text 7"/>
          <p:cNvSpPr txBox="1"/>
          <p:nvPr/>
        </p:nvSpPr>
        <p:spPr>
          <a:xfrm>
            <a:off x="667512" y="3977640"/>
            <a:ext cx="2276856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2000"/>
              </a:lnSpc>
              <a:buNone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User adds a real product to their wishlist from the catalog.</a:t>
            </a:r>
            <a:endParaRPr lang="en-US" sz="1400" dirty="0"/>
          </a:p>
        </p:txBody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099816" y="3182112"/>
            <a:ext cx="310896" cy="310896"/>
          </a:xfrm>
          <a:prstGeom prst="rect">
            <a:avLst/>
          </a:prstGeom>
        </p:spPr>
      </p:pic>
      <p:sp>
        <p:nvSpPr>
          <p:cNvPr id="12" name="Shape 8"/>
          <p:cNvSpPr/>
          <p:nvPr/>
        </p:nvSpPr>
        <p:spPr>
          <a:xfrm>
            <a:off x="3401568" y="1828800"/>
            <a:ext cx="2606040" cy="3017520"/>
          </a:xfrm>
          <a:prstGeom prst="roundRect">
            <a:avLst>
              <a:gd name="adj" fmla="val 2807"/>
            </a:avLst>
          </a:prstGeom>
          <a:solidFill>
            <a:srgbClr val="1B2A4A"/>
          </a:solidFill>
          <a:ln/>
        </p:spPr>
      </p:sp>
      <p:sp>
        <p:nvSpPr>
          <p:cNvPr id="13" name="Shape 9"/>
          <p:cNvSpPr/>
          <p:nvPr/>
        </p:nvSpPr>
        <p:spPr>
          <a:xfrm>
            <a:off x="3584448" y="1993392"/>
            <a:ext cx="457200" cy="457200"/>
          </a:xfrm>
          <a:prstGeom prst="ellipse">
            <a:avLst/>
          </a:prstGeom>
          <a:solidFill>
            <a:srgbClr val="FFFFFF"/>
          </a:solidFill>
          <a:ln/>
        </p:spPr>
      </p:sp>
      <p:sp>
        <p:nvSpPr>
          <p:cNvPr id="14" name="Text 10"/>
          <p:cNvSpPr txBox="1"/>
          <p:nvPr/>
        </p:nvSpPr>
        <p:spPr>
          <a:xfrm>
            <a:off x="3584448" y="199339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1B2A4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2000" dirty="0"/>
          </a:p>
        </p:txBody>
      </p:sp>
      <p:sp>
        <p:nvSpPr>
          <p:cNvPr id="15" name="Shape 11"/>
          <p:cNvSpPr/>
          <p:nvPr/>
        </p:nvSpPr>
        <p:spPr>
          <a:xfrm>
            <a:off x="4338828" y="2606040"/>
            <a:ext cx="731520" cy="731520"/>
          </a:xfrm>
          <a:prstGeom prst="ellipse">
            <a:avLst/>
          </a:prstGeom>
          <a:solidFill>
            <a:srgbClr val="FFFFFF"/>
          </a:solidFill>
          <a:ln/>
        </p:spPr>
      </p:sp>
      <p:pic>
        <p:nvPicPr>
          <p:cNvPr id="16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21708" y="2788920"/>
            <a:ext cx="365760" cy="365760"/>
          </a:xfrm>
          <a:prstGeom prst="rect">
            <a:avLst/>
          </a:prstGeom>
        </p:spPr>
      </p:pic>
      <p:sp>
        <p:nvSpPr>
          <p:cNvPr id="17" name="Text 12"/>
          <p:cNvSpPr txBox="1"/>
          <p:nvPr/>
        </p:nvSpPr>
        <p:spPr>
          <a:xfrm>
            <a:off x="3566160" y="3520440"/>
            <a:ext cx="227685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Tag the Reason</a:t>
            </a:r>
            <a:endParaRPr lang="en-US" sz="1600" dirty="0"/>
          </a:p>
        </p:txBody>
      </p:sp>
      <p:sp>
        <p:nvSpPr>
          <p:cNvPr id="18" name="Text 13"/>
          <p:cNvSpPr txBox="1"/>
          <p:nvPr/>
        </p:nvSpPr>
        <p:spPr>
          <a:xfrm>
            <a:off x="3566160" y="3977640"/>
            <a:ext cx="2276856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2000"/>
              </a:lnSpc>
              <a:buNone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tap: comparing, occasion, fit, or just liked it.</a:t>
            </a:r>
            <a:endParaRPr lang="en-US" sz="1400" dirty="0"/>
          </a:p>
        </p:txBody>
      </p:sp>
      <p:pic>
        <p:nvPicPr>
          <p:cNvPr id="19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998464" y="3182112"/>
            <a:ext cx="310896" cy="310896"/>
          </a:xfrm>
          <a:prstGeom prst="rect">
            <a:avLst/>
          </a:prstGeom>
        </p:spPr>
      </p:pic>
      <p:sp>
        <p:nvSpPr>
          <p:cNvPr id="20" name="Shape 14"/>
          <p:cNvSpPr/>
          <p:nvPr/>
        </p:nvSpPr>
        <p:spPr>
          <a:xfrm>
            <a:off x="6300216" y="1828800"/>
            <a:ext cx="2606040" cy="3017520"/>
          </a:xfrm>
          <a:prstGeom prst="roundRect">
            <a:avLst>
              <a:gd name="adj" fmla="val 2807"/>
            </a:avLst>
          </a:prstGeom>
          <a:solidFill>
            <a:srgbClr val="0F766E"/>
          </a:solidFill>
          <a:ln/>
        </p:spPr>
      </p:sp>
      <p:sp>
        <p:nvSpPr>
          <p:cNvPr id="21" name="Shape 15"/>
          <p:cNvSpPr/>
          <p:nvPr/>
        </p:nvSpPr>
        <p:spPr>
          <a:xfrm>
            <a:off x="6483096" y="1993392"/>
            <a:ext cx="457200" cy="457200"/>
          </a:xfrm>
          <a:prstGeom prst="ellipse">
            <a:avLst/>
          </a:prstGeom>
          <a:solidFill>
            <a:srgbClr val="FFFFFF"/>
          </a:solidFill>
          <a:ln/>
        </p:spPr>
      </p:sp>
      <p:sp>
        <p:nvSpPr>
          <p:cNvPr id="22" name="Text 16"/>
          <p:cNvSpPr txBox="1"/>
          <p:nvPr/>
        </p:nvSpPr>
        <p:spPr>
          <a:xfrm>
            <a:off x="6483096" y="199339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0F766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2000" dirty="0"/>
          </a:p>
        </p:txBody>
      </p:sp>
      <p:sp>
        <p:nvSpPr>
          <p:cNvPr id="23" name="Shape 17"/>
          <p:cNvSpPr/>
          <p:nvPr/>
        </p:nvSpPr>
        <p:spPr>
          <a:xfrm>
            <a:off x="7237476" y="2606040"/>
            <a:ext cx="731520" cy="731520"/>
          </a:xfrm>
          <a:prstGeom prst="ellipse">
            <a:avLst/>
          </a:prstGeom>
          <a:solidFill>
            <a:srgbClr val="FFFFFF"/>
          </a:solidFill>
          <a:ln/>
        </p:spPr>
      </p:sp>
      <p:pic>
        <p:nvPicPr>
          <p:cNvPr id="24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420356" y="2788920"/>
            <a:ext cx="365760" cy="365760"/>
          </a:xfrm>
          <a:prstGeom prst="rect">
            <a:avLst/>
          </a:prstGeom>
        </p:spPr>
      </p:pic>
      <p:sp>
        <p:nvSpPr>
          <p:cNvPr id="25" name="Text 18"/>
          <p:cNvSpPr txBox="1"/>
          <p:nvPr/>
        </p:nvSpPr>
        <p:spPr>
          <a:xfrm>
            <a:off x="6464808" y="3520440"/>
            <a:ext cx="227685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Get Nudged</a:t>
            </a:r>
            <a:endParaRPr lang="en-US" sz="1600" dirty="0"/>
          </a:p>
        </p:txBody>
      </p:sp>
      <p:sp>
        <p:nvSpPr>
          <p:cNvPr id="26" name="Text 19"/>
          <p:cNvSpPr txBox="1"/>
          <p:nvPr/>
        </p:nvSpPr>
        <p:spPr>
          <a:xfrm>
            <a:off x="6464808" y="3977640"/>
            <a:ext cx="2276856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2000"/>
              </a:lnSpc>
              <a:buNone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Stale comparisons surface a “still deciding?” prompt.</a:t>
            </a:r>
            <a:endParaRPr lang="en-US" sz="1400" dirty="0"/>
          </a:p>
        </p:txBody>
      </p:sp>
      <p:pic>
        <p:nvPicPr>
          <p:cNvPr id="27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897112" y="3182112"/>
            <a:ext cx="310896" cy="310896"/>
          </a:xfrm>
          <a:prstGeom prst="rect">
            <a:avLst/>
          </a:prstGeom>
        </p:spPr>
      </p:pic>
      <p:sp>
        <p:nvSpPr>
          <p:cNvPr id="28" name="Shape 20"/>
          <p:cNvSpPr/>
          <p:nvPr/>
        </p:nvSpPr>
        <p:spPr>
          <a:xfrm>
            <a:off x="9198864" y="1828800"/>
            <a:ext cx="2606040" cy="3017520"/>
          </a:xfrm>
          <a:prstGeom prst="roundRect">
            <a:avLst>
              <a:gd name="adj" fmla="val 2807"/>
            </a:avLst>
          </a:prstGeom>
          <a:solidFill>
            <a:srgbClr val="1B2A4A"/>
          </a:solidFill>
          <a:ln/>
        </p:spPr>
      </p:sp>
      <p:sp>
        <p:nvSpPr>
          <p:cNvPr id="29" name="Shape 21"/>
          <p:cNvSpPr/>
          <p:nvPr/>
        </p:nvSpPr>
        <p:spPr>
          <a:xfrm>
            <a:off x="9381744" y="1993392"/>
            <a:ext cx="457200" cy="457200"/>
          </a:xfrm>
          <a:prstGeom prst="ellipse">
            <a:avLst/>
          </a:prstGeom>
          <a:solidFill>
            <a:srgbClr val="FFFFFF"/>
          </a:solidFill>
          <a:ln/>
        </p:spPr>
      </p:sp>
      <p:sp>
        <p:nvSpPr>
          <p:cNvPr id="30" name="Text 22"/>
          <p:cNvSpPr txBox="1"/>
          <p:nvPr/>
        </p:nvSpPr>
        <p:spPr>
          <a:xfrm>
            <a:off x="9381744" y="199339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1B2A4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</a:t>
            </a:r>
            <a:endParaRPr lang="en-US" sz="2000" dirty="0"/>
          </a:p>
        </p:txBody>
      </p:sp>
      <p:sp>
        <p:nvSpPr>
          <p:cNvPr id="31" name="Shape 23"/>
          <p:cNvSpPr/>
          <p:nvPr/>
        </p:nvSpPr>
        <p:spPr>
          <a:xfrm>
            <a:off x="10136124" y="2606040"/>
            <a:ext cx="731520" cy="731520"/>
          </a:xfrm>
          <a:prstGeom prst="ellipse">
            <a:avLst/>
          </a:prstGeom>
          <a:solidFill>
            <a:srgbClr val="FFFFFF"/>
          </a:solidFill>
          <a:ln/>
        </p:spPr>
      </p:sp>
      <p:pic>
        <p:nvPicPr>
          <p:cNvPr id="32" name="Image 6" descr="preencode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0319004" y="2788920"/>
            <a:ext cx="365760" cy="365760"/>
          </a:xfrm>
          <a:prstGeom prst="rect">
            <a:avLst/>
          </a:prstGeom>
        </p:spPr>
      </p:pic>
      <p:sp>
        <p:nvSpPr>
          <p:cNvPr id="33" name="Text 24"/>
          <p:cNvSpPr txBox="1"/>
          <p:nvPr/>
        </p:nvSpPr>
        <p:spPr>
          <a:xfrm>
            <a:off x="9363456" y="3520440"/>
            <a:ext cx="227685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Agent Resolves It</a:t>
            </a:r>
            <a:endParaRPr lang="en-US" sz="1600" dirty="0"/>
          </a:p>
        </p:txBody>
      </p:sp>
      <p:sp>
        <p:nvSpPr>
          <p:cNvPr id="34" name="Text 25"/>
          <p:cNvSpPr txBox="1"/>
          <p:nvPr/>
        </p:nvSpPr>
        <p:spPr>
          <a:xfrm>
            <a:off x="9363456" y="3977640"/>
            <a:ext cx="2276856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2000"/>
              </a:lnSpc>
              <a:buNone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compares real attributes; user buys, keeps, or removes.</a:t>
            </a:r>
            <a:endParaRPr lang="en-US" sz="1400" dirty="0"/>
          </a:p>
        </p:txBody>
      </p:sp>
      <p:sp>
        <p:nvSpPr>
          <p:cNvPr id="35" name="Text 26"/>
          <p:cNvSpPr txBox="1"/>
          <p:nvPr/>
        </p:nvSpPr>
        <p:spPr>
          <a:xfrm>
            <a:off x="502920" y="5074920"/>
            <a:ext cx="1118585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step is a real Streamlit widget wired to session state and the live LLM agent — nothing here is a mockup.</a:t>
            </a:r>
            <a:endParaRPr lang="en-US" sz="1400" dirty="0"/>
          </a:p>
        </p:txBody>
      </p:sp>
      <p:sp>
        <p:nvSpPr>
          <p:cNvPr id="36" name="Text 27"/>
          <p:cNvSpPr txBox="1"/>
          <p:nvPr/>
        </p:nvSpPr>
        <p:spPr>
          <a:xfrm>
            <a:off x="50292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Myntra Growth · Wishlist-to-Purchase Conversion</a:t>
            </a:r>
            <a:endParaRPr lang="en-US" sz="1400" dirty="0"/>
          </a:p>
        </p:txBody>
      </p:sp>
      <p:sp>
        <p:nvSpPr>
          <p:cNvPr id="37" name="Text 28"/>
          <p:cNvSpPr txBox="1"/>
          <p:nvPr/>
        </p:nvSpPr>
        <p:spPr>
          <a:xfrm>
            <a:off x="11368735" y="647395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endParaRPr lang="en-US" sz="14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1B2A4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32004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150" kern="0" dirty="0">
                <a:solidFill>
                  <a:srgbClr val="AFC0D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 4 · PROOF &amp; PATH TO SCALE — METRICS &amp; RISKS</a:t>
            </a:r>
            <a:endParaRPr lang="en-US" sz="1400" dirty="0"/>
          </a:p>
        </p:txBody>
      </p:sp>
      <p:sp>
        <p:nvSpPr>
          <p:cNvPr id="3" name="Text 1"/>
          <p:cNvSpPr txBox="1"/>
          <p:nvPr/>
        </p:nvSpPr>
        <p:spPr>
          <a:xfrm>
            <a:off x="502920" y="566928"/>
            <a:ext cx="1118585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2000"/>
              </a:lnSpc>
              <a:buNone/>
            </a:pPr>
            <a:r>
              <a:rPr lang="en-US" sz="27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Comparison Resolution Rate Rises Only if Every Guardrail Holds</a:t>
            </a:r>
            <a:endParaRPr lang="en-US" sz="2700" dirty="0"/>
          </a:p>
        </p:txBody>
      </p:sp>
      <p:sp>
        <p:nvSpPr>
          <p:cNvPr id="4" name="Shape 2"/>
          <p:cNvSpPr/>
          <p:nvPr/>
        </p:nvSpPr>
        <p:spPr>
          <a:xfrm>
            <a:off x="502920" y="1417320"/>
            <a:ext cx="5349240" cy="548640"/>
          </a:xfrm>
          <a:prstGeom prst="roundRect">
            <a:avLst>
              <a:gd name="adj" fmla="val 13333"/>
            </a:avLst>
          </a:prstGeom>
          <a:solidFill>
            <a:srgbClr val="0F766E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658368" y="1417320"/>
            <a:ext cx="5029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Primary: resolved ÷ (resolved + still-cold)</a:t>
            </a:r>
            <a:endParaRPr lang="en-US" sz="1300" dirty="0"/>
          </a:p>
        </p:txBody>
      </p:sp>
      <p:sp>
        <p:nvSpPr>
          <p:cNvPr id="6" name="Text 4"/>
          <p:cNvSpPr txBox="1"/>
          <p:nvPr/>
        </p:nvSpPr>
        <p:spPr>
          <a:xfrm>
            <a:off x="502920" y="2084832"/>
            <a:ext cx="53492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80" kern="0" dirty="0">
                <a:solidFill>
                  <a:srgbClr val="8FE3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LEADING INDICATORS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548640" y="2414016"/>
            <a:ext cx="109728" cy="109728"/>
          </a:xfrm>
          <a:prstGeom prst="ellipse">
            <a:avLst/>
          </a:prstGeom>
          <a:solidFill>
            <a:srgbClr val="8FE3D6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777240" y="2322576"/>
            <a:ext cx="4937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Reason-capture rate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548640" y="2706624"/>
            <a:ext cx="109728" cy="109728"/>
          </a:xfrm>
          <a:prstGeom prst="ellipse">
            <a:avLst/>
          </a:prstGeom>
          <a:solidFill>
            <a:srgbClr val="8FE3D6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777240" y="2615184"/>
            <a:ext cx="4937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Nudge-to-engagement rate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548640" y="2999232"/>
            <a:ext cx="109728" cy="109728"/>
          </a:xfrm>
          <a:prstGeom prst="ellipse">
            <a:avLst/>
          </a:prstGeom>
          <a:solidFill>
            <a:srgbClr val="8FE3D6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777240" y="2907792"/>
            <a:ext cx="4937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“Help me decide” invocation rate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548640" y="3291840"/>
            <a:ext cx="109728" cy="109728"/>
          </a:xfrm>
          <a:prstGeom prst="ellipse">
            <a:avLst/>
          </a:prstGeom>
          <a:solidFill>
            <a:srgbClr val="8FE3D6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777240" y="3200400"/>
            <a:ext cx="4937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Recommendation-acceptance rate</a:t>
            </a:r>
            <a:endParaRPr lang="en-US" sz="1400" dirty="0"/>
          </a:p>
        </p:txBody>
      </p:sp>
      <p:sp>
        <p:nvSpPr>
          <p:cNvPr id="15" name="Text 13"/>
          <p:cNvSpPr txBox="1"/>
          <p:nvPr/>
        </p:nvSpPr>
        <p:spPr>
          <a:xfrm>
            <a:off x="502920" y="3621024"/>
            <a:ext cx="53492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80" kern="0" dirty="0">
                <a:solidFill>
                  <a:srgbClr val="F3C0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GUARDRAILS (metrics that pause rollout on breach)</a:t>
            </a:r>
            <a:endParaRPr lang="en-US" sz="1400" dirty="0"/>
          </a:p>
        </p:txBody>
      </p:sp>
      <p:sp>
        <p:nvSpPr>
          <p:cNvPr id="16" name="Shape 14"/>
          <p:cNvSpPr/>
          <p:nvPr/>
        </p:nvSpPr>
        <p:spPr>
          <a:xfrm>
            <a:off x="548640" y="3950208"/>
            <a:ext cx="109728" cy="109728"/>
          </a:xfrm>
          <a:prstGeom prst="ellipse">
            <a:avLst/>
          </a:prstGeom>
          <a:solidFill>
            <a:srgbClr val="F3C089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777240" y="3858768"/>
            <a:ext cx="4937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Wishlist add rate (must hold)</a:t>
            </a:r>
            <a:endParaRPr lang="en-US" sz="1400" dirty="0"/>
          </a:p>
        </p:txBody>
      </p:sp>
      <p:sp>
        <p:nvSpPr>
          <p:cNvPr id="18" name="Shape 16"/>
          <p:cNvSpPr/>
          <p:nvPr/>
        </p:nvSpPr>
        <p:spPr>
          <a:xfrm>
            <a:off x="548640" y="4242816"/>
            <a:ext cx="109728" cy="109728"/>
          </a:xfrm>
          <a:prstGeom prst="ellipse">
            <a:avLst/>
          </a:prstGeom>
          <a:solidFill>
            <a:srgbClr val="F3C089"/>
          </a:solidFill>
          <a:ln/>
        </p:spPr>
      </p:sp>
      <p:sp>
        <p:nvSpPr>
          <p:cNvPr id="19" name="Text 17"/>
          <p:cNvSpPr txBox="1"/>
          <p:nvPr/>
        </p:nvSpPr>
        <p:spPr>
          <a:xfrm>
            <a:off x="777240" y="4151376"/>
            <a:ext cx="4937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Add-flow abandonment rate</a:t>
            </a:r>
            <a:endParaRPr lang="en-US" sz="1400" dirty="0"/>
          </a:p>
        </p:txBody>
      </p:sp>
      <p:sp>
        <p:nvSpPr>
          <p:cNvPr id="20" name="Shape 18"/>
          <p:cNvSpPr/>
          <p:nvPr/>
        </p:nvSpPr>
        <p:spPr>
          <a:xfrm>
            <a:off x="548640" y="4535424"/>
            <a:ext cx="109728" cy="109728"/>
          </a:xfrm>
          <a:prstGeom prst="ellipse">
            <a:avLst/>
          </a:prstGeom>
          <a:solidFill>
            <a:srgbClr val="F3C089"/>
          </a:solidFill>
          <a:ln/>
        </p:spPr>
      </p:sp>
      <p:sp>
        <p:nvSpPr>
          <p:cNvPr id="21" name="Text 19"/>
          <p:cNvSpPr txBox="1"/>
          <p:nvPr/>
        </p:nvSpPr>
        <p:spPr>
          <a:xfrm>
            <a:off x="777240" y="4443984"/>
            <a:ext cx="4937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Regretted-removal rate</a:t>
            </a:r>
            <a:endParaRPr lang="en-US" sz="1400" dirty="0"/>
          </a:p>
        </p:txBody>
      </p:sp>
      <p:sp>
        <p:nvSpPr>
          <p:cNvPr id="22" name="Shape 20"/>
          <p:cNvSpPr/>
          <p:nvPr/>
        </p:nvSpPr>
        <p:spPr>
          <a:xfrm>
            <a:off x="548640" y="4828032"/>
            <a:ext cx="109728" cy="109728"/>
          </a:xfrm>
          <a:prstGeom prst="ellipse">
            <a:avLst/>
          </a:prstGeom>
          <a:solidFill>
            <a:srgbClr val="F3C089"/>
          </a:solidFill>
          <a:ln/>
        </p:spPr>
      </p:sp>
      <p:sp>
        <p:nvSpPr>
          <p:cNvPr id="23" name="Text 21"/>
          <p:cNvSpPr txBox="1"/>
          <p:nvPr/>
        </p:nvSpPr>
        <p:spPr>
          <a:xfrm>
            <a:off x="777240" y="4736592"/>
            <a:ext cx="4937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 failure rate</a:t>
            </a:r>
            <a:endParaRPr lang="en-US" sz="1400" dirty="0"/>
          </a:p>
        </p:txBody>
      </p:sp>
      <p:sp>
        <p:nvSpPr>
          <p:cNvPr id="24" name="Shape 22"/>
          <p:cNvSpPr/>
          <p:nvPr/>
        </p:nvSpPr>
        <p:spPr>
          <a:xfrm>
            <a:off x="548640" y="5120640"/>
            <a:ext cx="109728" cy="109728"/>
          </a:xfrm>
          <a:prstGeom prst="ellipse">
            <a:avLst/>
          </a:prstGeom>
          <a:solidFill>
            <a:srgbClr val="F3C089"/>
          </a:solidFill>
          <a:ln/>
        </p:spPr>
      </p:sp>
      <p:sp>
        <p:nvSpPr>
          <p:cNvPr id="25" name="Text 23"/>
          <p:cNvSpPr txBox="1"/>
          <p:nvPr/>
        </p:nvSpPr>
        <p:spPr>
          <a:xfrm>
            <a:off x="777240" y="5029200"/>
            <a:ext cx="4937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Monetary-language leakage (0%)</a:t>
            </a:r>
            <a:endParaRPr lang="en-US" sz="1400" dirty="0"/>
          </a:p>
        </p:txBody>
      </p:sp>
      <p:sp>
        <p:nvSpPr>
          <p:cNvPr id="26" name="Text 24">
            <a:hlinkClick r:id="rId1" tooltip=""/>
          </p:cNvPr>
          <p:cNvSpPr txBox="1"/>
          <p:nvPr/>
        </p:nvSpPr>
        <p:spPr>
          <a:xfrm>
            <a:off x="502920" y="5468112"/>
            <a:ext cx="53492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u="sng" dirty="0">
                <a:solidFill>
                  <a:srgbClr val="8FE3D6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1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Full metrics: reports/define_success.md</a:t>
            </a:r>
            <a:endParaRPr lang="en-US" sz="1400" dirty="0"/>
          </a:p>
        </p:txBody>
      </p:sp>
      <p:sp>
        <p:nvSpPr>
          <p:cNvPr id="27" name="Text 25"/>
          <p:cNvSpPr txBox="1"/>
          <p:nvPr/>
        </p:nvSpPr>
        <p:spPr>
          <a:xfrm>
            <a:off x="6126480" y="1417320"/>
            <a:ext cx="55778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80" kern="0" dirty="0">
                <a:solidFill>
                  <a:srgbClr val="AFC0D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CRITICAL RISKS THESE GUARDRAILS WATCH (4 of 11)</a:t>
            </a:r>
            <a:endParaRPr lang="en-US" sz="1400" dirty="0"/>
          </a:p>
        </p:txBody>
      </p:sp>
      <p:sp>
        <p:nvSpPr>
          <p:cNvPr id="28" name="Shape 26"/>
          <p:cNvSpPr/>
          <p:nvPr/>
        </p:nvSpPr>
        <p:spPr>
          <a:xfrm>
            <a:off x="6126480" y="1700784"/>
            <a:ext cx="5577840" cy="896112"/>
          </a:xfrm>
          <a:prstGeom prst="roundRect">
            <a:avLst>
              <a:gd name="adj" fmla="val 6122"/>
            </a:avLst>
          </a:prstGeom>
          <a:solidFill>
            <a:srgbClr val="27395F"/>
          </a:solidFill>
          <a:ln/>
        </p:spPr>
      </p:sp>
      <p:sp>
        <p:nvSpPr>
          <p:cNvPr id="29" name="Shape 27"/>
          <p:cNvSpPr/>
          <p:nvPr/>
        </p:nvSpPr>
        <p:spPr>
          <a:xfrm>
            <a:off x="6272784" y="1929384"/>
            <a:ext cx="438912" cy="438912"/>
          </a:xfrm>
          <a:prstGeom prst="ellipse">
            <a:avLst/>
          </a:prstGeom>
          <a:solidFill>
            <a:srgbClr val="B45309"/>
          </a:solidFill>
          <a:ln/>
        </p:spPr>
      </p:sp>
      <p:pic>
        <p:nvPicPr>
          <p:cNvPr id="30" name="Image 0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71539" y="2028139"/>
            <a:ext cx="241402" cy="241402"/>
          </a:xfrm>
          <a:prstGeom prst="rect">
            <a:avLst/>
          </a:prstGeom>
        </p:spPr>
      </p:pic>
      <p:sp>
        <p:nvSpPr>
          <p:cNvPr id="31" name="Text 28"/>
          <p:cNvSpPr txBox="1"/>
          <p:nvPr/>
        </p:nvSpPr>
        <p:spPr>
          <a:xfrm>
            <a:off x="6821424" y="1792224"/>
            <a:ext cx="4709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Correlation, not causation</a:t>
            </a:r>
            <a:endParaRPr lang="en-US" sz="1400" dirty="0"/>
          </a:p>
        </p:txBody>
      </p:sp>
      <p:sp>
        <p:nvSpPr>
          <p:cNvPr id="32" name="Text 29"/>
          <p:cNvSpPr txBox="1"/>
          <p:nvPr/>
        </p:nvSpPr>
        <p:spPr>
          <a:xfrm>
            <a:off x="6821424" y="2103120"/>
            <a:ext cx="47091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2000"/>
              </a:lnSpc>
              <a:buNone/>
            </a:pPr>
            <a:r>
              <a:rPr lang="en-US" sz="1400" dirty="0">
                <a:solidFill>
                  <a:srgbClr val="AFC0D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Mitigation: primary metric framed as a hypothesis-linked proxy, gated by a real A/B test.</a:t>
            </a:r>
            <a:endParaRPr lang="en-US" sz="1400" dirty="0"/>
          </a:p>
        </p:txBody>
      </p:sp>
      <p:sp>
        <p:nvSpPr>
          <p:cNvPr id="33" name="Shape 30"/>
          <p:cNvSpPr/>
          <p:nvPr/>
        </p:nvSpPr>
        <p:spPr>
          <a:xfrm>
            <a:off x="6126480" y="2706624"/>
            <a:ext cx="5577840" cy="896112"/>
          </a:xfrm>
          <a:prstGeom prst="roundRect">
            <a:avLst>
              <a:gd name="adj" fmla="val 6122"/>
            </a:avLst>
          </a:prstGeom>
          <a:solidFill>
            <a:srgbClr val="27395F"/>
          </a:solidFill>
          <a:ln/>
        </p:spPr>
      </p:sp>
      <p:sp>
        <p:nvSpPr>
          <p:cNvPr id="34" name="Shape 31"/>
          <p:cNvSpPr/>
          <p:nvPr/>
        </p:nvSpPr>
        <p:spPr>
          <a:xfrm>
            <a:off x="6272784" y="2935224"/>
            <a:ext cx="438912" cy="438912"/>
          </a:xfrm>
          <a:prstGeom prst="ellipse">
            <a:avLst/>
          </a:prstGeom>
          <a:solidFill>
            <a:srgbClr val="B45309"/>
          </a:solidFill>
          <a:ln/>
        </p:spPr>
      </p:sp>
      <p:pic>
        <p:nvPicPr>
          <p:cNvPr id="35" name="Image 1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71539" y="3033979"/>
            <a:ext cx="241402" cy="241402"/>
          </a:xfrm>
          <a:prstGeom prst="rect">
            <a:avLst/>
          </a:prstGeom>
        </p:spPr>
      </p:pic>
      <p:sp>
        <p:nvSpPr>
          <p:cNvPr id="36" name="Text 32"/>
          <p:cNvSpPr txBox="1"/>
          <p:nvPr/>
        </p:nvSpPr>
        <p:spPr>
          <a:xfrm>
            <a:off x="6821424" y="2798064"/>
            <a:ext cx="4709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Reason-tag friction shrinks the funnel</a:t>
            </a:r>
            <a:endParaRPr lang="en-US" sz="1400" dirty="0"/>
          </a:p>
        </p:txBody>
      </p:sp>
      <p:sp>
        <p:nvSpPr>
          <p:cNvPr id="37" name="Text 33"/>
          <p:cNvSpPr txBox="1"/>
          <p:nvPr/>
        </p:nvSpPr>
        <p:spPr>
          <a:xfrm>
            <a:off x="6821424" y="3108960"/>
            <a:ext cx="47091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2000"/>
              </a:lnSpc>
              <a:buNone/>
            </a:pPr>
            <a:r>
              <a:rPr lang="en-US" sz="1400" dirty="0">
                <a:solidFill>
                  <a:srgbClr val="AFC0D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Guardrail: wishlist add rate must hold steady or grow.</a:t>
            </a:r>
            <a:endParaRPr lang="en-US" sz="1400" dirty="0"/>
          </a:p>
        </p:txBody>
      </p:sp>
      <p:sp>
        <p:nvSpPr>
          <p:cNvPr id="38" name="Shape 34"/>
          <p:cNvSpPr/>
          <p:nvPr/>
        </p:nvSpPr>
        <p:spPr>
          <a:xfrm>
            <a:off x="6126480" y="3712464"/>
            <a:ext cx="5577840" cy="896112"/>
          </a:xfrm>
          <a:prstGeom prst="roundRect">
            <a:avLst>
              <a:gd name="adj" fmla="val 6122"/>
            </a:avLst>
          </a:prstGeom>
          <a:solidFill>
            <a:srgbClr val="27395F"/>
          </a:solidFill>
          <a:ln/>
        </p:spPr>
      </p:sp>
      <p:sp>
        <p:nvSpPr>
          <p:cNvPr id="39" name="Shape 35"/>
          <p:cNvSpPr/>
          <p:nvPr/>
        </p:nvSpPr>
        <p:spPr>
          <a:xfrm>
            <a:off x="6272784" y="3941064"/>
            <a:ext cx="438912" cy="438912"/>
          </a:xfrm>
          <a:prstGeom prst="ellipse">
            <a:avLst/>
          </a:prstGeom>
          <a:solidFill>
            <a:srgbClr val="B45309"/>
          </a:solidFill>
          <a:ln/>
        </p:spPr>
      </p:sp>
      <p:pic>
        <p:nvPicPr>
          <p:cNvPr id="40" name="Image 2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371539" y="4039819"/>
            <a:ext cx="241402" cy="241402"/>
          </a:xfrm>
          <a:prstGeom prst="rect">
            <a:avLst/>
          </a:prstGeom>
        </p:spPr>
      </p:pic>
      <p:sp>
        <p:nvSpPr>
          <p:cNvPr id="41" name="Text 36"/>
          <p:cNvSpPr txBox="1"/>
          <p:nvPr/>
        </p:nvSpPr>
        <p:spPr>
          <a:xfrm>
            <a:off x="6821424" y="3803904"/>
            <a:ext cx="4709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Agent steers a bad decision</a:t>
            </a:r>
            <a:endParaRPr lang="en-US" sz="1400" dirty="0"/>
          </a:p>
        </p:txBody>
      </p:sp>
      <p:sp>
        <p:nvSpPr>
          <p:cNvPr id="42" name="Text 37"/>
          <p:cNvSpPr txBox="1"/>
          <p:nvPr/>
        </p:nvSpPr>
        <p:spPr>
          <a:xfrm>
            <a:off x="6821424" y="4114800"/>
            <a:ext cx="47091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2000"/>
              </a:lnSpc>
              <a:buNone/>
            </a:pPr>
            <a:r>
              <a:rPr lang="en-US" sz="1400" dirty="0">
                <a:solidFill>
                  <a:srgbClr val="AFC0D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Guardrail: regretted-removal rate.</a:t>
            </a:r>
            <a:endParaRPr lang="en-US" sz="1400" dirty="0"/>
          </a:p>
        </p:txBody>
      </p:sp>
      <p:sp>
        <p:nvSpPr>
          <p:cNvPr id="43" name="Shape 38"/>
          <p:cNvSpPr/>
          <p:nvPr/>
        </p:nvSpPr>
        <p:spPr>
          <a:xfrm>
            <a:off x="6126480" y="4718304"/>
            <a:ext cx="5577840" cy="896112"/>
          </a:xfrm>
          <a:prstGeom prst="roundRect">
            <a:avLst>
              <a:gd name="adj" fmla="val 6122"/>
            </a:avLst>
          </a:prstGeom>
          <a:solidFill>
            <a:srgbClr val="27395F"/>
          </a:solidFill>
          <a:ln/>
        </p:spPr>
      </p:sp>
      <p:sp>
        <p:nvSpPr>
          <p:cNvPr id="44" name="Shape 39"/>
          <p:cNvSpPr/>
          <p:nvPr/>
        </p:nvSpPr>
        <p:spPr>
          <a:xfrm>
            <a:off x="6272784" y="4946904"/>
            <a:ext cx="438912" cy="438912"/>
          </a:xfrm>
          <a:prstGeom prst="ellipse">
            <a:avLst/>
          </a:prstGeom>
          <a:solidFill>
            <a:srgbClr val="B45309"/>
          </a:solidFill>
          <a:ln/>
        </p:spPr>
      </p:sp>
      <p:pic>
        <p:nvPicPr>
          <p:cNvPr id="45" name="Image 3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371539" y="5045659"/>
            <a:ext cx="241402" cy="241402"/>
          </a:xfrm>
          <a:prstGeom prst="rect">
            <a:avLst/>
          </a:prstGeom>
        </p:spPr>
      </p:pic>
      <p:sp>
        <p:nvSpPr>
          <p:cNvPr id="46" name="Text 40"/>
          <p:cNvSpPr txBox="1"/>
          <p:nvPr/>
        </p:nvSpPr>
        <p:spPr>
          <a:xfrm>
            <a:off x="6821424" y="4809744"/>
            <a:ext cx="4709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Monetary-language leakage</a:t>
            </a:r>
            <a:endParaRPr lang="en-US" sz="1400" dirty="0"/>
          </a:p>
        </p:txBody>
      </p:sp>
      <p:sp>
        <p:nvSpPr>
          <p:cNvPr id="47" name="Text 41"/>
          <p:cNvSpPr txBox="1"/>
          <p:nvPr/>
        </p:nvSpPr>
        <p:spPr>
          <a:xfrm>
            <a:off x="6821424" y="5120640"/>
            <a:ext cx="47091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2000"/>
              </a:lnSpc>
              <a:buNone/>
            </a:pPr>
            <a:r>
              <a:rPr lang="en-US" sz="1400" dirty="0">
                <a:solidFill>
                  <a:srgbClr val="AFC0D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Guardrail: automated scan, target 0%.</a:t>
            </a:r>
            <a:endParaRPr lang="en-US" sz="1400" dirty="0"/>
          </a:p>
        </p:txBody>
      </p:sp>
      <p:sp>
        <p:nvSpPr>
          <p:cNvPr id="48" name="Text 42">
            <a:hlinkClick r:id="rId6" tooltip=""/>
          </p:cNvPr>
          <p:cNvSpPr txBox="1"/>
          <p:nvPr/>
        </p:nvSpPr>
        <p:spPr>
          <a:xfrm>
            <a:off x="6126480" y="5705856"/>
            <a:ext cx="55778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u="sng" dirty="0">
                <a:solidFill>
                  <a:srgbClr val="8FE3D6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6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Full risk register (11 total): reports/risks_and_mitigation.md</a:t>
            </a:r>
            <a:endParaRPr lang="en-US" sz="1400" dirty="0"/>
          </a:p>
        </p:txBody>
      </p:sp>
      <p:sp>
        <p:nvSpPr>
          <p:cNvPr id="49" name="Text 43"/>
          <p:cNvSpPr txBox="1"/>
          <p:nvPr/>
        </p:nvSpPr>
        <p:spPr>
          <a:xfrm>
            <a:off x="50292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AFC0D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Myntra Growth · Wishlist-to-Purchase Conversion</a:t>
            </a:r>
            <a:endParaRPr lang="en-US" sz="1400" dirty="0"/>
          </a:p>
        </p:txBody>
      </p:sp>
      <p:sp>
        <p:nvSpPr>
          <p:cNvPr id="50" name="Text 44"/>
          <p:cNvSpPr txBox="1"/>
          <p:nvPr/>
        </p:nvSpPr>
        <p:spPr>
          <a:xfrm>
            <a:off x="11368735" y="647395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AFC0D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</a:t>
            </a:r>
            <a:endParaRPr lang="en-US" sz="14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1B2A4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384048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150" kern="0" dirty="0">
                <a:solidFill>
                  <a:srgbClr val="AFC0D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 4 · PROOF &amp; PATH TO SCALE — CLOSING</a:t>
            </a:r>
            <a:endParaRPr lang="en-US" sz="1400" dirty="0"/>
          </a:p>
        </p:txBody>
      </p:sp>
      <p:sp>
        <p:nvSpPr>
          <p:cNvPr id="3" name="Text 1"/>
          <p:cNvSpPr txBox="1"/>
          <p:nvPr/>
        </p:nvSpPr>
        <p:spPr>
          <a:xfrm>
            <a:off x="502920" y="658368"/>
            <a:ext cx="1118585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2000"/>
              </a:lnSpc>
              <a:buNone/>
            </a:pPr>
            <a:r>
              <a:rPr lang="en-US" sz="27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Closing This Gap Is Worth ₹265–688 Crore a Year</a:t>
            </a:r>
            <a:endParaRPr lang="en-US" sz="2700" dirty="0"/>
          </a:p>
        </p:txBody>
      </p:sp>
      <p:graphicFrame>
        <p:nvGraphicFramePr>
          <p:cNvPr id="1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02920" y="1600200"/>
          <a:ext cx="11185855" cy="1965960"/>
        </p:xfrm>
        <a:graphic>
          <a:graphicData uri="http://schemas.openxmlformats.org/drawingml/2006/table">
            <a:tbl>
              <a:tblPr/>
              <a:tblGrid>
                <a:gridCol w="2237171"/>
                <a:gridCol w="2237171"/>
                <a:gridCol w="2237171"/>
                <a:gridCol w="2237171"/>
                <a:gridCol w="2237171"/>
              </a:tblGrid>
              <a:tr h="49149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SCENARIO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33446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3446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3446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3446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7395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CONVERSION LIFT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33446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3446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3446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3446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7395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INCR. ANNUAL GMV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33446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3446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3446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3446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7395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INCR. REVENUE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33446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3446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3446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3446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7395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INCR. PROFIT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33446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3446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3446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3446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7395F"/>
                    </a:solidFill>
                  </a:tcPr>
                </a:tc>
              </a:tr>
              <a:tr h="49149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Conservative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33446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3446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3446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3446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2335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AFC0D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12% → 17% (+5pp)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33446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3446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3446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3446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2335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8FE3D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₹2,205 Cr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33446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3446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3446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3446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2335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₹265 Cr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33446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3446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3446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3446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2335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₹66 Cr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33446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3446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3446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3446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2335A"/>
                    </a:solidFill>
                  </a:tcPr>
                </a:tc>
              </a:tr>
              <a:tr h="49149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Moderate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33446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3446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3446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3446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7395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AFC0D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12% → 20% (+8pp)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33446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3446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3446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3446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7395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8FE3D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₹3,528 Cr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33446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3446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3446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3446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7395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₹423 Cr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33446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3446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3446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3446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7395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₹106 Cr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33446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3446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3446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3446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7395F"/>
                    </a:solidFill>
                  </a:tcPr>
                </a:tc>
              </a:tr>
              <a:tr h="49149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Aggressive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33446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3446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3446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3446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2335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AFC0D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12% → 25% (+13pp)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33446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3446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3446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3446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2335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8FE3D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₹5,733 Cr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33446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3446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3446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3446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2335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₹688 Cr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33446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3446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3446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3446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2335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₹172 Cr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33446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3446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3446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3446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2335A"/>
                    </a:solidFill>
                  </a:tcPr>
                </a:tc>
              </a:tr>
            </a:tbl>
          </a:graphicData>
        </a:graphic>
      </p:graphicFrame>
      <p:sp>
        <p:nvSpPr>
          <p:cNvPr id="5" name="Text 2"/>
          <p:cNvSpPr txBox="1"/>
          <p:nvPr/>
        </p:nvSpPr>
        <p:spPr>
          <a:xfrm>
            <a:off x="502920" y="3657600"/>
            <a:ext cx="1118585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400" i="1" dirty="0">
                <a:solidFill>
                  <a:srgbClr val="AFC0D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Even the conservative scenario (+5pp) is ~4.4% of Myntra's entire FY25 revenue and ~12% of its FY25 net profit — at a higher margin than average, since it monetizes demand already on the platform. Modeled estimate on labeled assumptions, not a Myntra-disclosed figure.</a:t>
            </a:r>
            <a:endParaRPr lang="en-US" sz="1400" dirty="0"/>
          </a:p>
        </p:txBody>
      </p:sp>
      <p:sp>
        <p:nvSpPr>
          <p:cNvPr id="6" name="Shape 3"/>
          <p:cNvSpPr/>
          <p:nvPr/>
        </p:nvSpPr>
        <p:spPr>
          <a:xfrm>
            <a:off x="502920" y="4334256"/>
            <a:ext cx="11185855" cy="777240"/>
          </a:xfrm>
          <a:prstGeom prst="roundRect">
            <a:avLst>
              <a:gd name="adj" fmla="val 8235"/>
            </a:avLst>
          </a:prstGeom>
          <a:solidFill>
            <a:srgbClr val="0F766E"/>
          </a:solidFill>
          <a:ln/>
        </p:spPr>
      </p:sp>
      <p:sp>
        <p:nvSpPr>
          <p:cNvPr id="7" name="Shape 4"/>
          <p:cNvSpPr/>
          <p:nvPr/>
        </p:nvSpPr>
        <p:spPr>
          <a:xfrm>
            <a:off x="713232" y="4471416"/>
            <a:ext cx="512064" cy="512064"/>
          </a:xfrm>
          <a:prstGeom prst="ellipse">
            <a:avLst/>
          </a:prstGeom>
          <a:solidFill>
            <a:srgbClr val="FFFFFF"/>
          </a:solidFill>
          <a:ln/>
        </p:spPr>
      </p:sp>
      <p:pic>
        <p:nvPicPr>
          <p:cNvPr id="8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28446" y="4586630"/>
            <a:ext cx="281635" cy="281635"/>
          </a:xfrm>
          <a:prstGeom prst="rect">
            <a:avLst/>
          </a:prstGeom>
        </p:spPr>
      </p:pic>
      <p:sp>
        <p:nvSpPr>
          <p:cNvPr id="9" name="Text 5"/>
          <p:cNvSpPr txBox="1"/>
          <p:nvPr/>
        </p:nvSpPr>
        <p:spPr>
          <a:xfrm>
            <a:off x="1371600" y="4334256"/>
            <a:ext cx="1018001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 of the 11 identified risks already have a guardrail or leading-indicator metric watching for them — designed against these exact failure modes, not in a vacuum.</a:t>
            </a:r>
            <a:endParaRPr lang="en-US" sz="1400" dirty="0"/>
          </a:p>
        </p:txBody>
      </p:sp>
      <p:sp>
        <p:nvSpPr>
          <p:cNvPr id="10" name="Text 6"/>
          <p:cNvSpPr txBox="1"/>
          <p:nvPr/>
        </p:nvSpPr>
        <p:spPr>
          <a:xfrm>
            <a:off x="502920" y="5212080"/>
            <a:ext cx="11185855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80" kern="0" dirty="0">
                <a:solidFill>
                  <a:srgbClr val="AFC0D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PATH TO SCALE</a:t>
            </a:r>
            <a:endParaRPr lang="en-US" sz="1400" dirty="0"/>
          </a:p>
        </p:txBody>
      </p:sp>
      <p:sp>
        <p:nvSpPr>
          <p:cNvPr id="11" name="Shape 7"/>
          <p:cNvSpPr/>
          <p:nvPr/>
        </p:nvSpPr>
        <p:spPr>
          <a:xfrm>
            <a:off x="502920" y="5449824"/>
            <a:ext cx="3606698" cy="822960"/>
          </a:xfrm>
          <a:prstGeom prst="roundRect">
            <a:avLst>
              <a:gd name="adj" fmla="val 6667"/>
            </a:avLst>
          </a:prstGeom>
          <a:solidFill>
            <a:srgbClr val="27395F"/>
          </a:solidFill>
          <a:ln/>
        </p:spPr>
      </p:sp>
      <p:sp>
        <p:nvSpPr>
          <p:cNvPr id="12" name="Text 8"/>
          <p:cNvSpPr txBox="1"/>
          <p:nvPr/>
        </p:nvSpPr>
        <p:spPr>
          <a:xfrm>
            <a:off x="649224" y="5522976"/>
            <a:ext cx="331409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8FE3D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 · Pilot</a:t>
            </a:r>
            <a:endParaRPr lang="en-US" sz="1400" dirty="0"/>
          </a:p>
        </p:txBody>
      </p:sp>
      <p:sp>
        <p:nvSpPr>
          <p:cNvPr id="13" name="Text 9"/>
          <p:cNvSpPr txBox="1"/>
          <p:nvPr/>
        </p:nvSpPr>
        <p:spPr>
          <a:xfrm>
            <a:off x="649224" y="5760720"/>
            <a:ext cx="331409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2000"/>
              </a:lnSpc>
              <a:buNone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Ready-to-test experiments as scoped prototypes. </a:t>
            </a:r>
            <a:pPr indent="0" marL="0">
              <a:lnSpc>
                <a:spcPct val="102000"/>
              </a:lnSpc>
              <a:buNone/>
            </a:pPr>
            <a:r>
              <a:rPr lang="en-US" sz="1400" i="1" dirty="0">
                <a:solidFill>
                  <a:srgbClr val="AFC0D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Gate: directional lift, 0% leakage.</a:t>
            </a:r>
            <a:endParaRPr lang="en-US" sz="1400" dirty="0"/>
          </a:p>
        </p:txBody>
      </p:sp>
      <p:sp>
        <p:nvSpPr>
          <p:cNvPr id="14" name="Shape 10"/>
          <p:cNvSpPr/>
          <p:nvPr/>
        </p:nvSpPr>
        <p:spPr>
          <a:xfrm>
            <a:off x="4292498" y="5449824"/>
            <a:ext cx="3606698" cy="822960"/>
          </a:xfrm>
          <a:prstGeom prst="roundRect">
            <a:avLst>
              <a:gd name="adj" fmla="val 6667"/>
            </a:avLst>
          </a:prstGeom>
          <a:solidFill>
            <a:srgbClr val="27395F"/>
          </a:solidFill>
          <a:ln/>
        </p:spPr>
      </p:sp>
      <p:sp>
        <p:nvSpPr>
          <p:cNvPr id="15" name="Text 11"/>
          <p:cNvSpPr txBox="1"/>
          <p:nvPr/>
        </p:nvSpPr>
        <p:spPr>
          <a:xfrm>
            <a:off x="4438802" y="5522976"/>
            <a:ext cx="331409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8FE3D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 · Validate</a:t>
            </a:r>
            <a:endParaRPr lang="en-US" sz="1400" dirty="0"/>
          </a:p>
        </p:txBody>
      </p:sp>
      <p:sp>
        <p:nvSpPr>
          <p:cNvPr id="16" name="Text 12"/>
          <p:cNvSpPr txBox="1"/>
          <p:nvPr/>
        </p:nvSpPr>
        <p:spPr>
          <a:xfrm>
            <a:off x="4438802" y="5760720"/>
            <a:ext cx="331409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2000"/>
              </a:lnSpc>
              <a:buNone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Powered 30-day A/B on real conversion. </a:t>
            </a:r>
            <a:pPr indent="0" marL="0">
              <a:lnSpc>
                <a:spcPct val="102000"/>
              </a:lnSpc>
              <a:buNone/>
            </a:pPr>
            <a:r>
              <a:rPr lang="en-US" sz="1400" i="1" dirty="0">
                <a:solidFill>
                  <a:srgbClr val="AFC0D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Gate: significant lift, guardrails hold.</a:t>
            </a:r>
            <a:endParaRPr lang="en-US" sz="1400" dirty="0"/>
          </a:p>
        </p:txBody>
      </p:sp>
      <p:sp>
        <p:nvSpPr>
          <p:cNvPr id="17" name="Shape 13"/>
          <p:cNvSpPr/>
          <p:nvPr/>
        </p:nvSpPr>
        <p:spPr>
          <a:xfrm>
            <a:off x="8082077" y="5449824"/>
            <a:ext cx="3606698" cy="822960"/>
          </a:xfrm>
          <a:prstGeom prst="roundRect">
            <a:avLst>
              <a:gd name="adj" fmla="val 6667"/>
            </a:avLst>
          </a:prstGeom>
          <a:solidFill>
            <a:srgbClr val="27395F"/>
          </a:solidFill>
          <a:ln/>
        </p:spPr>
      </p:sp>
      <p:sp>
        <p:nvSpPr>
          <p:cNvPr id="18" name="Text 14"/>
          <p:cNvSpPr txBox="1"/>
          <p:nvPr/>
        </p:nvSpPr>
        <p:spPr>
          <a:xfrm>
            <a:off x="8228381" y="5522976"/>
            <a:ext cx="331409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8FE3D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 · Scale</a:t>
            </a:r>
            <a:endParaRPr lang="en-US" sz="1400" dirty="0"/>
          </a:p>
        </p:txBody>
      </p:sp>
      <p:sp>
        <p:nvSpPr>
          <p:cNvPr id="19" name="Text 15"/>
          <p:cNvSpPr txBox="1"/>
          <p:nvPr/>
        </p:nvSpPr>
        <p:spPr>
          <a:xfrm>
            <a:off x="8228381" y="5760720"/>
            <a:ext cx="331409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2000"/>
              </a:lnSpc>
              <a:buNone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Public deployment + mechanism-preference signal. </a:t>
            </a:r>
            <a:pPr indent="0" marL="0">
              <a:lnSpc>
                <a:spcPct val="102000"/>
              </a:lnSpc>
              <a:buNone/>
            </a:pPr>
            <a:r>
              <a:rPr lang="en-US" sz="1400" i="1" dirty="0">
                <a:solidFill>
                  <a:srgbClr val="AFC0D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Gate: north star trending up, base-wide.</a:t>
            </a:r>
            <a:endParaRPr lang="en-US" sz="1400" dirty="0"/>
          </a:p>
        </p:txBody>
      </p:sp>
      <p:sp>
        <p:nvSpPr>
          <p:cNvPr id="20" name="Text 16"/>
          <p:cNvSpPr txBox="1"/>
          <p:nvPr/>
        </p:nvSpPr>
        <p:spPr>
          <a:xfrm>
            <a:off x="50292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AFC0D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Myntra Growth · Wishlist-to-Purchase Conversion</a:t>
            </a:r>
            <a:endParaRPr lang="en-US" sz="1400" dirty="0"/>
          </a:p>
        </p:txBody>
      </p:sp>
      <p:sp>
        <p:nvSpPr>
          <p:cNvPr id="21" name="Text 17"/>
          <p:cNvSpPr txBox="1"/>
          <p:nvPr/>
        </p:nvSpPr>
        <p:spPr>
          <a:xfrm>
            <a:off x="11368735" y="647395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AFC0D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</a:t>
            </a:r>
            <a:endParaRPr lang="en-US" sz="14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2026-09-04T21:16:10Z</dcterms:created>
  <dcterms:modified xsi:type="dcterms:W3CDTF">2026-09-04T21:16:10Z</dcterms:modified>
</cp:coreProperties>
</file>