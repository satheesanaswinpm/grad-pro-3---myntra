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Removal reason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F766E"/>
              </a:solidFill>
              <a:effectLst/>
            </c:spPr>
          </c:dPt>
          <c:dPt>
            <c:idx val="1"/>
            <c:bubble3D val="0"/>
            <c:spPr>
              <a:solidFill>
                <a:srgbClr val="3B9E93"/>
              </a:solidFill>
              <a:effectLst/>
            </c:spPr>
          </c:dPt>
          <c:dPt>
            <c:idx val="2"/>
            <c:bubble3D val="0"/>
            <c:spPr>
              <a:solidFill>
                <a:srgbClr val="B45309"/>
              </a:solidFill>
              <a:effectLst/>
            </c:spPr>
          </c:dPt>
          <c:dPt>
            <c:idx val="3"/>
            <c:bubble3D val="0"/>
            <c:spPr>
              <a:solidFill>
                <a:srgbClr val="D8A85C"/>
              </a:solidFill>
              <a:effectLst/>
            </c:spPr>
          </c:dPt>
          <c:dPt>
            <c:idx val="4"/>
            <c:bubble3D val="0"/>
            <c:spPr>
              <a:solidFill>
                <a:srgbClr val="475569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Found a better alternative</c:v>
                </c:pt>
                <c:pt idx="1">
                  <c:v>Price never dropped</c:v>
                </c:pt>
                <c:pt idx="2">
                  <c:v>Lost interest / no longer needed</c:v>
                </c:pt>
                <c:pt idx="3">
                  <c:v>Realized it wouldn't fit/suit</c:v>
                </c:pt>
                <c:pt idx="4">
                  <c:v>Went out of stock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41.7</c:v>
                </c:pt>
                <c:pt idx="1">
                  <c:v>19.4</c:v>
                </c:pt>
                <c:pt idx="2">
                  <c:v>13.9</c:v>
                </c:pt>
                <c:pt idx="3">
                  <c:v>13.9</c:v>
                </c:pt>
                <c:pt idx="4">
                  <c:v>11.1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atheesanaswinPM/grad-pro-3---myntra/blob/master/reports/myntra_market_research.pdf" TargetMode="External"/><Relationship Id="rId1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7" Type="http://schemas.openxmlformats.org/officeDocument/2006/relationships/hyperlink" Target="https://grad-pro-3---myntra-hfr85fubntp9nefmfqmfis.streamlit.app/" TargetMode="External"/><Relationship Id="rId8" Type="http://schemas.openxmlformats.org/officeDocument/2006/relationships/hyperlink" Target="https://grad-pro-3---myntra-iu4m3qeeuyveu4s5xzdq8w.streamlit.app/" TargetMode="External"/><Relationship Id="rId9" Type="http://schemas.openxmlformats.org/officeDocument/2006/relationships/hyperlink" Target="https://github.com/satheesanaswinPM/grad-pro-3---myntra/blob/master/reports/metric_decomposition.md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2" Type="http://schemas.openxmlformats.org/officeDocument/2006/relationships/hyperlink" Target="https://github.com/satheesanaswinPM/grad-pro-3---myntra/blob/master/reports/opportunity_register.md" TargetMode="Externa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google.com/spreadsheets/d/1VwXdunQdj3jlc9xdDAIXCJq32vKBCHUKbpNLawxBhKQ/edit" TargetMode="External"/><Relationship Id="rId5" Type="http://schemas.openxmlformats.org/officeDocument/2006/relationships/hyperlink" Target="https://github.com/satheesanaswinPM/grad-pro-3---myntra/blob/master/reports/interview_findings.md" TargetMode="External"/><Relationship Id="rId1" Type="http://schemas.openxmlformats.org/officeDocument/2006/relationships/chart" Target="/ppt/charts/chart1.xml"/><Relationship Id="rId3" Type="http://schemas.openxmlformats.org/officeDocument/2006/relationships/image" Target="../media/image-4-1.png"/><Relationship Id="rId4" Type="http://schemas.openxmlformats.org/officeDocument/2006/relationships/image" Target="../media/image-4-2.png"/><Relationship Id="rId6" Type="http://schemas.openxmlformats.org/officeDocument/2006/relationships/image" Target="../media/image-4-3.png"/><Relationship Id="rId7" Type="http://schemas.openxmlformats.org/officeDocument/2006/relationships/image" Target="../media/image-4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hyperlink" Target="https://grad-pro-3---myntra-hfr85fubntp9nefmfqmfis.streamlit.app/" TargetMode="Externa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image" Target="../media/image-7-12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satheesanaswinPM/grad-pro-3---myntra/blob/master/reports/define_success.md" TargetMode="External"/><Relationship Id="rId6" Type="http://schemas.openxmlformats.org/officeDocument/2006/relationships/hyperlink" Target="https://github.com/satheesanaswinPM/grad-pro-3---myntra/blob/master/reports/risks_and_mitigation.md" TargetMode="External"/><Relationship Id="rId2" Type="http://schemas.openxmlformats.org/officeDocument/2006/relationships/image" Target="../media/image-9-1.png"/><Relationship Id="rId3" Type="http://schemas.openxmlformats.org/officeDocument/2006/relationships/image" Target="../media/image-9-2.png"/><Relationship Id="rId4" Type="http://schemas.openxmlformats.org/officeDocument/2006/relationships/image" Target="../media/image-9-3.png"/><Relationship Id="rId5" Type="http://schemas.openxmlformats.org/officeDocument/2006/relationships/image" Target="../media/image-9-4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THE OPPORTUNITY — MARKET CONTEXT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Myntra's Scale Makes a Small Wishlist-Conversion Gap Worth Hundreds of Crores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4813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OPPORTUNITY, SIZED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85855" cy="777240"/>
          </a:xfrm>
          <a:prstGeom prst="roundRect">
            <a:avLst>
              <a:gd name="adj" fmla="val 7059"/>
            </a:avLst>
          </a:prstGeom>
          <a:solidFill>
            <a:srgbClr val="1B2A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810512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 </a:t>
            </a:r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$21B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121408"/>
            <a:ext cx="10728655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India's fashion e-commerce market. </a:t>
            </a:r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Outlook Business/Whalesbook, 2026 — Myntra ~30–35% share.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2633472"/>
            <a:ext cx="8724967" cy="777240"/>
          </a:xfrm>
          <a:prstGeom prst="roundRect">
            <a:avLst>
              <a:gd name="adj" fmla="val 7059"/>
            </a:avLst>
          </a:prstGeom>
          <a:solidFill>
            <a:srgbClr val="0F766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2706624"/>
            <a:ext cx="82677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7EC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  </a:t>
            </a:r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24.5M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017520"/>
            <a:ext cx="826776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Myntra wishlist-active users per month. </a:t>
            </a:r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D7EC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 — 35% of 70M MAU, market research case study.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02920" y="3529584"/>
            <a:ext cx="6264079" cy="777240"/>
          </a:xfrm>
          <a:prstGeom prst="roundRect">
            <a:avLst>
              <a:gd name="adj" fmla="val 7059"/>
            </a:avLst>
          </a:prstGeom>
          <a:solidFill>
            <a:srgbClr val="B4530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13232" y="3602736"/>
            <a:ext cx="5806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6E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  </a:t>
            </a:r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~15M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3913632"/>
            <a:ext cx="5806879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Comparers, 61% of wishlist-active users. </a:t>
            </a:r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F6E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Behavior Survey, n=36.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436168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India's online fashion sector grows at a 21.1% CAGR through 2030 — Myntra is its largest dedicated platform. (Whalesbook)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4690872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this scale, a few percentage points of wishlist conversion is not a rounding error — it's real money already sitting on the platform: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2920" y="5148072"/>
            <a:ext cx="11185855" cy="868680"/>
          </a:xfrm>
          <a:prstGeom prst="roundRect">
            <a:avLst>
              <a:gd name="adj" fmla="val 8421"/>
            </a:avLst>
          </a:prstGeom>
          <a:solidFill>
            <a:srgbClr val="1B2A4A"/>
          </a:solidFill>
          <a:ln/>
        </p:spPr>
      </p:sp>
      <p:sp>
        <p:nvSpPr>
          <p:cNvPr id="17" name="Shape 15"/>
          <p:cNvSpPr/>
          <p:nvPr/>
        </p:nvSpPr>
        <p:spPr>
          <a:xfrm>
            <a:off x="731520" y="5312664"/>
            <a:ext cx="548640" cy="548640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" y="5436108"/>
            <a:ext cx="301752" cy="301752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508760" y="5148072"/>
            <a:ext cx="99971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the conservative scenario — a 5-point conversion lift — is modeled at ₹265 Cr in incremental annual revenue, ~12% of Myntra's entire FY25 net profit, with no new acquisition spend, because it monetizes demand already on the platform.</a:t>
            </a:r>
            <a:endParaRPr lang="en-US" sz="1400" dirty="0"/>
          </a:p>
        </p:txBody>
      </p:sp>
      <p:sp>
        <p:nvSpPr>
          <p:cNvPr id="20" name="Text 17">
            <a:hlinkClick r:id="rId2" tooltip=""/>
          </p:cNvPr>
          <p:cNvSpPr txBox="1"/>
          <p:nvPr/>
        </p:nvSpPr>
        <p:spPr>
          <a:xfrm>
            <a:off x="502920" y="6108192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u="sng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Source: Myntra Market Research &amp; Case Study (Sept 2026).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Myntra Growth · Wishlist-to-Purchase Conversion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THE OPPORTUNITY — METRIC DECOMPOSITION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30-Day Conversion Metric Hides Five Separate Failure Points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5074920" cy="2331720"/>
          </a:xfrm>
          <a:prstGeom prst="roundRect">
            <a:avLst>
              <a:gd name="adj" fmla="val 3529"/>
            </a:avLst>
          </a:prstGeom>
          <a:solidFill>
            <a:srgbClr val="E8EEF7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56232"/>
            <a:ext cx="566928" cy="566928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4799" y="1983791"/>
            <a:ext cx="311810" cy="31181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78308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“% of users who purchase at least one wishlisted item within 30 days of adding it”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77240" y="2971800"/>
            <a:ext cx="4480560" cy="841248"/>
          </a:xfrm>
          <a:prstGeom prst="roundRect">
            <a:avLst>
              <a:gd name="adj" fmla="val 7609"/>
            </a:avLst>
          </a:prstGeom>
          <a:solidFill>
            <a:srgbClr val="F6E7D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60120" y="3026664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Constraint: no monetary incentives — discounts, coupons, and cashback are excluded as the primary lever.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806440" y="1627632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number can't say where the item is lost: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806440" y="2084832"/>
            <a:ext cx="5852160" cy="365760"/>
          </a:xfrm>
          <a:prstGeom prst="roundRect">
            <a:avLst>
              <a:gd name="adj" fmla="val 12500"/>
            </a:avLst>
          </a:prstGeom>
          <a:solidFill>
            <a:srgbClr val="0F766E"/>
          </a:solidFill>
          <a:ln/>
        </p:spPr>
      </p:sp>
      <p:sp>
        <p:nvSpPr>
          <p:cNvPr id="12" name="Shape 9"/>
          <p:cNvSpPr/>
          <p:nvPr/>
        </p:nvSpPr>
        <p:spPr>
          <a:xfrm>
            <a:off x="5897880" y="2121408"/>
            <a:ext cx="292608" cy="292608"/>
          </a:xfrm>
          <a:prstGeom prst="ellipse">
            <a:avLst/>
          </a:prstGeom>
          <a:solidFill>
            <a:srgbClr val="1E8A80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3717" y="2187245"/>
            <a:ext cx="160934" cy="16093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309360" y="20848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Re-engagement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10515600" y="2121408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10515600" y="212140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806440" y="2510028"/>
            <a:ext cx="5852160" cy="365760"/>
          </a:xfrm>
          <a:prstGeom prst="roundRect">
            <a:avLst>
              <a:gd name="adj" fmla="val 12500"/>
            </a:avLst>
          </a:prstGeom>
          <a:solidFill>
            <a:srgbClr val="E8EEF7"/>
          </a:solidFill>
          <a:ln/>
        </p:spPr>
      </p:sp>
      <p:sp>
        <p:nvSpPr>
          <p:cNvPr id="18" name="Shape 14"/>
          <p:cNvSpPr/>
          <p:nvPr/>
        </p:nvSpPr>
        <p:spPr>
          <a:xfrm>
            <a:off x="5897880" y="2546604"/>
            <a:ext cx="292608" cy="29260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3717" y="2612441"/>
            <a:ext cx="160934" cy="16093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309360" y="25100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Uncertainty Resolution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5806440" y="2935224"/>
            <a:ext cx="5852160" cy="365760"/>
          </a:xfrm>
          <a:prstGeom prst="roundRect">
            <a:avLst>
              <a:gd name="adj" fmla="val 12500"/>
            </a:avLst>
          </a:prstGeom>
          <a:solidFill>
            <a:srgbClr val="0F766E"/>
          </a:solidFill>
          <a:ln/>
        </p:spPr>
      </p:sp>
      <p:sp>
        <p:nvSpPr>
          <p:cNvPr id="22" name="Shape 17"/>
          <p:cNvSpPr/>
          <p:nvPr/>
        </p:nvSpPr>
        <p:spPr>
          <a:xfrm>
            <a:off x="5897880" y="2971800"/>
            <a:ext cx="292608" cy="292608"/>
          </a:xfrm>
          <a:prstGeom prst="ellipse">
            <a:avLst/>
          </a:prstGeom>
          <a:solidFill>
            <a:srgbClr val="1E8A80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3717" y="3037637"/>
            <a:ext cx="160934" cy="16093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309360" y="29352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Comparison Resolution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10515600" y="297180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10515600" y="297180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5806440" y="3360420"/>
            <a:ext cx="5852160" cy="365760"/>
          </a:xfrm>
          <a:prstGeom prst="roundRect">
            <a:avLst>
              <a:gd name="adj" fmla="val 12500"/>
            </a:avLst>
          </a:prstGeom>
          <a:solidFill>
            <a:srgbClr val="E8EEF7"/>
          </a:solidFill>
          <a:ln/>
        </p:spPr>
      </p:sp>
      <p:sp>
        <p:nvSpPr>
          <p:cNvPr id="28" name="Shape 22"/>
          <p:cNvSpPr/>
          <p:nvPr/>
        </p:nvSpPr>
        <p:spPr>
          <a:xfrm>
            <a:off x="5897880" y="3396996"/>
            <a:ext cx="292608" cy="29260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3717" y="3462833"/>
            <a:ext cx="160934" cy="160934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6309360" y="33604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Decision Trigger</a:t>
            </a:r>
            <a:endParaRPr lang="en-US" sz="1400" dirty="0"/>
          </a:p>
        </p:txBody>
      </p:sp>
      <p:sp>
        <p:nvSpPr>
          <p:cNvPr id="31" name="Shape 24"/>
          <p:cNvSpPr/>
          <p:nvPr/>
        </p:nvSpPr>
        <p:spPr>
          <a:xfrm>
            <a:off x="5806440" y="3785616"/>
            <a:ext cx="5852160" cy="365760"/>
          </a:xfrm>
          <a:prstGeom prst="roundRect">
            <a:avLst>
              <a:gd name="adj" fmla="val 12500"/>
            </a:avLst>
          </a:prstGeom>
          <a:solidFill>
            <a:srgbClr val="E8EEF7"/>
          </a:solidFill>
          <a:ln/>
        </p:spPr>
      </p:sp>
      <p:sp>
        <p:nvSpPr>
          <p:cNvPr id="32" name="Shape 25"/>
          <p:cNvSpPr/>
          <p:nvPr/>
        </p:nvSpPr>
        <p:spPr>
          <a:xfrm>
            <a:off x="5897880" y="3822192"/>
            <a:ext cx="292608" cy="29260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63717" y="3888029"/>
            <a:ext cx="160934" cy="160934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309360" y="378561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Purchase Completion</a:t>
            </a:r>
            <a:endParaRPr lang="en-US" sz="1400" dirty="0"/>
          </a:p>
        </p:txBody>
      </p:sp>
      <p:sp>
        <p:nvSpPr>
          <p:cNvPr id="35" name="Shape 27"/>
          <p:cNvSpPr/>
          <p:nvPr/>
        </p:nvSpPr>
        <p:spPr>
          <a:xfrm>
            <a:off x="502920" y="4160520"/>
            <a:ext cx="11185855" cy="777240"/>
          </a:xfrm>
          <a:prstGeom prst="roundRect">
            <a:avLst>
              <a:gd name="adj" fmla="val 9412"/>
            </a:avLst>
          </a:prstGeom>
          <a:solidFill>
            <a:srgbClr val="1B2A4A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777240" y="416052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FOCUS: Stage A → C. Fixing re-engagement and comparison resolution raises the ceiling on every downstream stage — not a returns or price fix.</a:t>
            </a:r>
            <a:endParaRPr lang="en-US" sz="1500" dirty="0"/>
          </a:p>
        </p:txBody>
      </p:sp>
      <p:sp>
        <p:nvSpPr>
          <p:cNvPr id="37" name="Shape 29"/>
          <p:cNvSpPr/>
          <p:nvPr/>
        </p:nvSpPr>
        <p:spPr>
          <a:xfrm>
            <a:off x="502920" y="5029200"/>
            <a:ext cx="11185855" cy="43891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38" name="Text 30">
            <a:hlinkClick r:id="rId7" tooltip=""/>
          </p:cNvPr>
          <p:cNvSpPr txBox="1"/>
          <p:nvPr/>
        </p:nvSpPr>
        <p:spPr>
          <a:xfrm>
            <a:off x="502920" y="5029200"/>
            <a:ext cx="111858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MVP (“TieBreaker”)  →  open ↗</a:t>
            </a:r>
            <a:endParaRPr lang="en-US" sz="1500" dirty="0"/>
          </a:p>
        </p:txBody>
      </p:sp>
      <p:sp>
        <p:nvSpPr>
          <p:cNvPr id="39" name="Shape 31"/>
          <p:cNvSpPr/>
          <p:nvPr/>
        </p:nvSpPr>
        <p:spPr>
          <a:xfrm>
            <a:off x="502920" y="5559552"/>
            <a:ext cx="11185855" cy="43891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40" name="Text 32">
            <a:hlinkClick r:id="rId8" tooltip=""/>
          </p:cNvPr>
          <p:cNvSpPr txBox="1"/>
          <p:nvPr/>
        </p:nvSpPr>
        <p:spPr>
          <a:xfrm>
            <a:off x="502920" y="5559552"/>
            <a:ext cx="111858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Review Analysis Agent  →  open ↗</a:t>
            </a:r>
            <a:endParaRPr lang="en-US" sz="1500" dirty="0"/>
          </a:p>
        </p:txBody>
      </p:sp>
      <p:sp>
        <p:nvSpPr>
          <p:cNvPr id="41" name="Text 33">
            <a:hlinkClick r:id="rId9" tooltip=""/>
          </p:cNvPr>
          <p:cNvSpPr txBox="1"/>
          <p:nvPr/>
        </p:nvSpPr>
        <p:spPr>
          <a:xfrm>
            <a:off x="502920" y="6126480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u="sng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Full decomposition: reports/metric_decomposition.md</a:t>
            </a:r>
            <a:endParaRPr lang="en-US" sz="1400" dirty="0"/>
          </a:p>
        </p:txBody>
      </p:sp>
      <p:sp>
        <p:nvSpPr>
          <p:cNvPr id="42" name="Text 3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Myntra Growth · Wishlist-to-Purchase Conversion</a:t>
            </a:r>
            <a:endParaRPr lang="en-US" sz="1400" dirty="0"/>
          </a:p>
        </p:txBody>
      </p:sp>
      <p:sp>
        <p:nvSpPr>
          <p:cNvPr id="43" name="Text 35"/>
          <p:cNvSpPr txBox="1"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DISCOVERY &amp; RESEARCH — AI ENGINE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Loudest Complaint in Reviews Isn't the Real Wishlist Blocker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371600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AI discovery engine reached this ranking: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664208"/>
            <a:ext cx="1696669" cy="777240"/>
          </a:xfrm>
          <a:prstGeom prst="roundRect">
            <a:avLst>
              <a:gd name="adj" fmla="val 8235"/>
            </a:avLst>
          </a:prstGeom>
          <a:solidFill>
            <a:srgbClr val="E8EEF7"/>
          </a:solidFill>
          <a:ln/>
        </p:spPr>
      </p:sp>
      <p:sp>
        <p:nvSpPr>
          <p:cNvPr id="6" name="Shape 4"/>
          <p:cNvSpPr/>
          <p:nvPr/>
        </p:nvSpPr>
        <p:spPr>
          <a:xfrm>
            <a:off x="1177519" y="1773936"/>
            <a:ext cx="347472" cy="347472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5700" y="1852117"/>
            <a:ext cx="191110" cy="1911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57784" y="2157984"/>
            <a:ext cx="1586941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14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1301" y="1933956"/>
            <a:ext cx="237744" cy="237744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2400757" y="1664208"/>
            <a:ext cx="1696669" cy="777240"/>
          </a:xfrm>
          <a:prstGeom prst="roundRect">
            <a:avLst>
              <a:gd name="adj" fmla="val 8235"/>
            </a:avLst>
          </a:prstGeom>
          <a:solidFill>
            <a:srgbClr val="E8EEF7"/>
          </a:solidFill>
          <a:ln/>
        </p:spPr>
      </p:sp>
      <p:sp>
        <p:nvSpPr>
          <p:cNvPr id="11" name="Shape 7"/>
          <p:cNvSpPr/>
          <p:nvPr/>
        </p:nvSpPr>
        <p:spPr>
          <a:xfrm>
            <a:off x="3075356" y="1773936"/>
            <a:ext cx="347472" cy="347472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3537" y="1852117"/>
            <a:ext cx="191110" cy="19111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455621" y="2157984"/>
            <a:ext cx="1586941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Relevance Filter</a:t>
            </a:r>
            <a:endParaRPr lang="en-US" sz="14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9138" y="1933956"/>
            <a:ext cx="237744" cy="237744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4298594" y="1664208"/>
            <a:ext cx="1696669" cy="777240"/>
          </a:xfrm>
          <a:prstGeom prst="roundRect">
            <a:avLst>
              <a:gd name="adj" fmla="val 8235"/>
            </a:avLst>
          </a:prstGeom>
          <a:solidFill>
            <a:srgbClr val="E8EEF7"/>
          </a:solidFill>
          <a:ln/>
        </p:spPr>
      </p:sp>
      <p:sp>
        <p:nvSpPr>
          <p:cNvPr id="16" name="Shape 10"/>
          <p:cNvSpPr/>
          <p:nvPr/>
        </p:nvSpPr>
        <p:spPr>
          <a:xfrm>
            <a:off x="4973193" y="1773936"/>
            <a:ext cx="347472" cy="347472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51374" y="1852117"/>
            <a:ext cx="191110" cy="19111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4353458" y="2157984"/>
            <a:ext cx="1586941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Extraction</a:t>
            </a:r>
            <a:endParaRPr lang="en-US" sz="1400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76976" y="1933956"/>
            <a:ext cx="237744" cy="237744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6196432" y="1664208"/>
            <a:ext cx="1696669" cy="777240"/>
          </a:xfrm>
          <a:prstGeom prst="roundRect">
            <a:avLst>
              <a:gd name="adj" fmla="val 8235"/>
            </a:avLst>
          </a:prstGeom>
          <a:solidFill>
            <a:srgbClr val="E8EEF7"/>
          </a:solidFill>
          <a:ln/>
        </p:spPr>
      </p:sp>
      <p:sp>
        <p:nvSpPr>
          <p:cNvPr id="21" name="Shape 13"/>
          <p:cNvSpPr/>
          <p:nvPr/>
        </p:nvSpPr>
        <p:spPr>
          <a:xfrm>
            <a:off x="6871030" y="1773936"/>
            <a:ext cx="347472" cy="347472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9211" y="1852117"/>
            <a:ext cx="191110" cy="19111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6251296" y="2157984"/>
            <a:ext cx="1586941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Synthesize</a:t>
            </a:r>
            <a:endParaRPr lang="en-US" sz="1400" dirty="0"/>
          </a:p>
        </p:txBody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74813" y="1933956"/>
            <a:ext cx="237744" cy="237744"/>
          </a:xfrm>
          <a:prstGeom prst="rect">
            <a:avLst/>
          </a:prstGeom>
        </p:spPr>
      </p:pic>
      <p:sp>
        <p:nvSpPr>
          <p:cNvPr id="25" name="Shape 15"/>
          <p:cNvSpPr/>
          <p:nvPr/>
        </p:nvSpPr>
        <p:spPr>
          <a:xfrm>
            <a:off x="8094269" y="1664208"/>
            <a:ext cx="1696669" cy="777240"/>
          </a:xfrm>
          <a:prstGeom prst="roundRect">
            <a:avLst>
              <a:gd name="adj" fmla="val 8235"/>
            </a:avLst>
          </a:prstGeom>
          <a:solidFill>
            <a:srgbClr val="E8EEF7"/>
          </a:solidFill>
          <a:ln/>
        </p:spPr>
      </p:sp>
      <p:sp>
        <p:nvSpPr>
          <p:cNvPr id="26" name="Shape 16"/>
          <p:cNvSpPr/>
          <p:nvPr/>
        </p:nvSpPr>
        <p:spPr>
          <a:xfrm>
            <a:off x="8768867" y="1773936"/>
            <a:ext cx="347472" cy="347472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2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47049" y="1852117"/>
            <a:ext cx="191110" cy="191110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8149133" y="2157984"/>
            <a:ext cx="1586941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400" dirty="0"/>
          </a:p>
        </p:txBody>
      </p:sp>
      <p:pic>
        <p:nvPicPr>
          <p:cNvPr id="2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72650" y="1933956"/>
            <a:ext cx="237744" cy="237744"/>
          </a:xfrm>
          <a:prstGeom prst="rect">
            <a:avLst/>
          </a:prstGeom>
        </p:spPr>
      </p:pic>
      <p:sp>
        <p:nvSpPr>
          <p:cNvPr id="30" name="Shape 18"/>
          <p:cNvSpPr/>
          <p:nvPr/>
        </p:nvSpPr>
        <p:spPr>
          <a:xfrm>
            <a:off x="9992106" y="1664208"/>
            <a:ext cx="1696669" cy="777240"/>
          </a:xfrm>
          <a:prstGeom prst="roundRect">
            <a:avLst>
              <a:gd name="adj" fmla="val 8235"/>
            </a:avLst>
          </a:prstGeom>
          <a:solidFill>
            <a:srgbClr val="E8EEF7"/>
          </a:solidFill>
          <a:ln/>
        </p:spPr>
      </p:sp>
      <p:sp>
        <p:nvSpPr>
          <p:cNvPr id="31" name="Shape 19"/>
          <p:cNvSpPr/>
          <p:nvPr/>
        </p:nvSpPr>
        <p:spPr>
          <a:xfrm>
            <a:off x="10666705" y="1773936"/>
            <a:ext cx="347472" cy="347472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3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744886" y="1852117"/>
            <a:ext cx="191110" cy="191110"/>
          </a:xfrm>
          <a:prstGeom prst="rect">
            <a:avLst/>
          </a:prstGeom>
        </p:spPr>
      </p:pic>
      <p:sp>
        <p:nvSpPr>
          <p:cNvPr id="33" name="Text 20"/>
          <p:cNvSpPr txBox="1"/>
          <p:nvPr/>
        </p:nvSpPr>
        <p:spPr>
          <a:xfrm>
            <a:off x="10046970" y="2157984"/>
            <a:ext cx="1586941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</a:t>
            </a:r>
            <a:endParaRPr lang="en-US" sz="1400" dirty="0"/>
          </a:p>
        </p:txBody>
      </p:sp>
      <p:sp>
        <p:nvSpPr>
          <p:cNvPr id="34" name="Shape 21"/>
          <p:cNvSpPr/>
          <p:nvPr/>
        </p:nvSpPr>
        <p:spPr>
          <a:xfrm>
            <a:off x="502920" y="2606040"/>
            <a:ext cx="2651760" cy="777240"/>
          </a:xfrm>
          <a:prstGeom prst="roundRect">
            <a:avLst>
              <a:gd name="adj" fmla="val 8235"/>
            </a:avLst>
          </a:prstGeom>
          <a:solidFill>
            <a:srgbClr val="E8EEF7"/>
          </a:solidFill>
          <a:ln/>
        </p:spPr>
      </p:sp>
      <p:sp>
        <p:nvSpPr>
          <p:cNvPr id="35" name="Text 22"/>
          <p:cNvSpPr txBox="1"/>
          <p:nvPr/>
        </p:nvSpPr>
        <p:spPr>
          <a:xfrm>
            <a:off x="640080" y="266090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24,575</a:t>
            </a:r>
            <a:endParaRPr lang="en-US" sz="2000" dirty="0"/>
          </a:p>
        </p:txBody>
      </p:sp>
      <p:sp>
        <p:nvSpPr>
          <p:cNvPr id="36" name="Text 23"/>
          <p:cNvSpPr txBox="1"/>
          <p:nvPr/>
        </p:nvSpPr>
        <p:spPr>
          <a:xfrm>
            <a:off x="640080" y="30815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 records</a:t>
            </a:r>
            <a:endParaRPr lang="en-US" sz="1400" dirty="0"/>
          </a:p>
        </p:txBody>
      </p:sp>
      <p:sp>
        <p:nvSpPr>
          <p:cNvPr id="37" name="Shape 24"/>
          <p:cNvSpPr/>
          <p:nvPr/>
        </p:nvSpPr>
        <p:spPr>
          <a:xfrm>
            <a:off x="3337560" y="2606040"/>
            <a:ext cx="2651760" cy="777240"/>
          </a:xfrm>
          <a:prstGeom prst="roundRect">
            <a:avLst>
              <a:gd name="adj" fmla="val 8235"/>
            </a:avLst>
          </a:prstGeom>
          <a:solidFill>
            <a:srgbClr val="E8EEF7"/>
          </a:solidFill>
          <a:ln/>
        </p:spPr>
      </p:sp>
      <p:sp>
        <p:nvSpPr>
          <p:cNvPr id="38" name="Text 25"/>
          <p:cNvSpPr txBox="1"/>
          <p:nvPr/>
        </p:nvSpPr>
        <p:spPr>
          <a:xfrm>
            <a:off x="3474720" y="266090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17,343</a:t>
            </a:r>
            <a:endParaRPr lang="en-US" sz="2000" dirty="0"/>
          </a:p>
        </p:txBody>
      </p:sp>
      <p:sp>
        <p:nvSpPr>
          <p:cNvPr id="39" name="Text 26"/>
          <p:cNvSpPr txBox="1"/>
          <p:nvPr/>
        </p:nvSpPr>
        <p:spPr>
          <a:xfrm>
            <a:off x="3474720" y="30815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 records</a:t>
            </a:r>
            <a:endParaRPr lang="en-US" sz="1400" dirty="0"/>
          </a:p>
        </p:txBody>
      </p:sp>
      <p:sp>
        <p:nvSpPr>
          <p:cNvPr id="40" name="Shape 27"/>
          <p:cNvSpPr/>
          <p:nvPr/>
        </p:nvSpPr>
        <p:spPr>
          <a:xfrm>
            <a:off x="6172200" y="2606040"/>
            <a:ext cx="2651760" cy="777240"/>
          </a:xfrm>
          <a:prstGeom prst="roundRect">
            <a:avLst>
              <a:gd name="adj" fmla="val 8235"/>
            </a:avLst>
          </a:prstGeom>
          <a:solidFill>
            <a:srgbClr val="E8EEF7"/>
          </a:solidFill>
          <a:ln/>
        </p:spPr>
      </p:sp>
      <p:sp>
        <p:nvSpPr>
          <p:cNvPr id="41" name="Text 28"/>
          <p:cNvSpPr txBox="1"/>
          <p:nvPr/>
        </p:nvSpPr>
        <p:spPr>
          <a:xfrm>
            <a:off x="6309360" y="266090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12,277</a:t>
            </a:r>
            <a:endParaRPr lang="en-US" sz="2000" dirty="0"/>
          </a:p>
        </p:txBody>
      </p:sp>
      <p:sp>
        <p:nvSpPr>
          <p:cNvPr id="42" name="Text 29"/>
          <p:cNvSpPr txBox="1"/>
          <p:nvPr/>
        </p:nvSpPr>
        <p:spPr>
          <a:xfrm>
            <a:off x="6309360" y="30815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extracted</a:t>
            </a:r>
            <a:endParaRPr lang="en-US" sz="1400" dirty="0"/>
          </a:p>
        </p:txBody>
      </p:sp>
      <p:sp>
        <p:nvSpPr>
          <p:cNvPr id="43" name="Shape 30"/>
          <p:cNvSpPr/>
          <p:nvPr/>
        </p:nvSpPr>
        <p:spPr>
          <a:xfrm>
            <a:off x="9006840" y="2606040"/>
            <a:ext cx="2651760" cy="777240"/>
          </a:xfrm>
          <a:prstGeom prst="roundRect">
            <a:avLst>
              <a:gd name="adj" fmla="val 8235"/>
            </a:avLst>
          </a:prstGeom>
          <a:solidFill>
            <a:srgbClr val="E8EEF7"/>
          </a:solidFill>
          <a:ln/>
        </p:spPr>
      </p:sp>
      <p:sp>
        <p:nvSpPr>
          <p:cNvPr id="44" name="Text 31"/>
          <p:cNvSpPr txBox="1"/>
          <p:nvPr/>
        </p:nvSpPr>
        <p:spPr>
          <a:xfrm>
            <a:off x="9144000" y="266090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2000" dirty="0"/>
          </a:p>
        </p:txBody>
      </p:sp>
      <p:sp>
        <p:nvSpPr>
          <p:cNvPr id="45" name="Text 32"/>
          <p:cNvSpPr txBox="1"/>
          <p:nvPr/>
        </p:nvSpPr>
        <p:spPr>
          <a:xfrm>
            <a:off x="9144000" y="30815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opportunities</a:t>
            </a:r>
            <a:endParaRPr lang="en-US" sz="1400" dirty="0"/>
          </a:p>
        </p:txBody>
      </p:sp>
      <p:sp>
        <p:nvSpPr>
          <p:cNvPr id="46" name="Text 33"/>
          <p:cNvSpPr txBox="1"/>
          <p:nvPr/>
        </p:nvSpPr>
        <p:spPr>
          <a:xfrm>
            <a:off x="502920" y="3401568"/>
            <a:ext cx="111858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−1,307 not real feedback (catalog copy / too short / ops-only)  ·  −767 non-English, dialect, or emoji-only  ·  −5,066 no quotable evidence span</a:t>
            </a:r>
            <a:endParaRPr lang="en-US" sz="1400" dirty="0"/>
          </a:p>
        </p:txBody>
      </p:sp>
      <p:sp>
        <p:nvSpPr>
          <p:cNvPr id="47" name="Text 34"/>
          <p:cNvSpPr txBox="1"/>
          <p:nvPr/>
        </p:nvSpPr>
        <p:spPr>
          <a:xfrm>
            <a:off x="502920" y="363931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rankings disagree on where to fix the funnel:</a:t>
            </a:r>
            <a:endParaRPr lang="en-US" sz="1500" dirty="0"/>
          </a:p>
        </p:txBody>
      </p:sp>
      <p:sp>
        <p:nvSpPr>
          <p:cNvPr id="48" name="Shape 35"/>
          <p:cNvSpPr/>
          <p:nvPr/>
        </p:nvSpPr>
        <p:spPr>
          <a:xfrm>
            <a:off x="502920" y="3941064"/>
            <a:ext cx="5349240" cy="2048256"/>
          </a:xfrm>
          <a:prstGeom prst="roundRect">
            <a:avLst>
              <a:gd name="adj" fmla="val 3571"/>
            </a:avLst>
          </a:prstGeom>
          <a:solidFill>
            <a:srgbClr val="F6E7D2"/>
          </a:solidFill>
          <a:ln/>
        </p:spPr>
      </p:sp>
      <p:sp>
        <p:nvSpPr>
          <p:cNvPr id="49" name="Text 36"/>
          <p:cNvSpPr txBox="1"/>
          <p:nvPr/>
        </p:nvSpPr>
        <p:spPr>
          <a:xfrm>
            <a:off x="731520" y="4087368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 BY RAW VOLUME</a:t>
            </a:r>
            <a:endParaRPr lang="en-US" sz="1400" dirty="0"/>
          </a:p>
        </p:txBody>
      </p:sp>
      <p:sp>
        <p:nvSpPr>
          <p:cNvPr id="50" name="Text 37"/>
          <p:cNvSpPr txBox="1"/>
          <p:nvPr/>
        </p:nvSpPr>
        <p:spPr>
          <a:xfrm>
            <a:off x="731520" y="4361688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opp:returns_exchange</a:t>
            </a:r>
            <a:endParaRPr lang="en-US" sz="1700" dirty="0"/>
          </a:p>
        </p:txBody>
      </p:sp>
      <p:sp>
        <p:nvSpPr>
          <p:cNvPr id="51" name="Text 38"/>
          <p:cNvSpPr txBox="1"/>
          <p:nvPr/>
        </p:nvSpPr>
        <p:spPr>
          <a:xfrm>
            <a:off x="731520" y="4782312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12.0% of relevant records (2,084) — hesitation-link 0.11, the LOWEST of the top 10.</a:t>
            </a:r>
            <a:endParaRPr lang="en-US" sz="1400" dirty="0"/>
          </a:p>
        </p:txBody>
      </p:sp>
      <p:sp>
        <p:nvSpPr>
          <p:cNvPr id="52" name="Text 39"/>
          <p:cNvSpPr txBox="1"/>
          <p:nvPr/>
        </p:nvSpPr>
        <p:spPr>
          <a:xfrm>
            <a:off x="731520" y="5385816"/>
            <a:ext cx="4892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i="1" dirty="0">
                <a:solidFill>
                  <a:srgbClr val="8A5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App-store reviewers are disproportionately people who already bought and are complaining post-purchase.</a:t>
            </a:r>
            <a:endParaRPr lang="en-US" sz="1400" dirty="0"/>
          </a:p>
        </p:txBody>
      </p:sp>
      <p:sp>
        <p:nvSpPr>
          <p:cNvPr id="53" name="Shape 40"/>
          <p:cNvSpPr/>
          <p:nvPr/>
        </p:nvSpPr>
        <p:spPr>
          <a:xfrm>
            <a:off x="6126480" y="3941064"/>
            <a:ext cx="5349240" cy="2048256"/>
          </a:xfrm>
          <a:prstGeom prst="roundRect">
            <a:avLst>
              <a:gd name="adj" fmla="val 3571"/>
            </a:avLst>
          </a:prstGeom>
          <a:solidFill>
            <a:srgbClr val="D7ECE9"/>
          </a:solidFill>
          <a:ln/>
        </p:spPr>
      </p:sp>
      <p:sp>
        <p:nvSpPr>
          <p:cNvPr id="54" name="Text 41"/>
          <p:cNvSpPr txBox="1"/>
          <p:nvPr/>
        </p:nvSpPr>
        <p:spPr>
          <a:xfrm>
            <a:off x="6355080" y="4087368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 BY WISHLIST-RELEVANCE</a:t>
            </a:r>
            <a:endParaRPr lang="en-US" sz="1400" dirty="0"/>
          </a:p>
        </p:txBody>
      </p:sp>
      <p:sp>
        <p:nvSpPr>
          <p:cNvPr id="55" name="Text 42"/>
          <p:cNvSpPr txBox="1"/>
          <p:nvPr/>
        </p:nvSpPr>
        <p:spPr>
          <a:xfrm>
            <a:off x="6355080" y="4361688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opp:comparison_loop</a:t>
            </a:r>
            <a:endParaRPr lang="en-US" sz="1700" dirty="0"/>
          </a:p>
        </p:txBody>
      </p:sp>
      <p:sp>
        <p:nvSpPr>
          <p:cNvPr id="56" name="Text 43"/>
          <p:cNvSpPr txBox="1"/>
          <p:nvPr/>
        </p:nvSpPr>
        <p:spPr>
          <a:xfrm>
            <a:off x="6355080" y="4782312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3.0% of relevant records (522) — hesitation-link 0.63, the HIGHEST of all 20 scored.</a:t>
            </a:r>
            <a:endParaRPr lang="en-US" sz="1400" dirty="0"/>
          </a:p>
        </p:txBody>
      </p:sp>
      <p:sp>
        <p:nvSpPr>
          <p:cNvPr id="57" name="Text 44"/>
          <p:cNvSpPr txBox="1"/>
          <p:nvPr/>
        </p:nvSpPr>
        <p:spPr>
          <a:xfrm>
            <a:off x="6355080" y="5385816"/>
            <a:ext cx="4892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i="1" dirty="0">
                <a:solidFill>
                  <a:srgbClr val="0B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volume, but structurally the theme most tightly coupled to the actual wishlist-to-buy decision.</a:t>
            </a:r>
            <a:endParaRPr lang="en-US" sz="1400" dirty="0"/>
          </a:p>
        </p:txBody>
      </p:sp>
      <p:sp>
        <p:nvSpPr>
          <p:cNvPr id="58" name="Text 45">
            <a:hlinkClick r:id="rId12" tooltip=""/>
          </p:cNvPr>
          <p:cNvSpPr txBox="1"/>
          <p:nvPr/>
        </p:nvSpPr>
        <p:spPr>
          <a:xfrm>
            <a:off x="502920" y="6071616"/>
            <a:ext cx="111858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u="sng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Full register: reports/opportunity_register.md</a:t>
            </a:r>
            <a:endParaRPr lang="en-US" sz="1400" dirty="0"/>
          </a:p>
        </p:txBody>
      </p:sp>
      <p:sp>
        <p:nvSpPr>
          <p:cNvPr id="59" name="Text 4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Myntra Growth · Wishlist-to-Purchase Conversion</a:t>
            </a:r>
            <a:endParaRPr lang="en-US" sz="1400" dirty="0"/>
          </a:p>
        </p:txBody>
      </p:sp>
      <p:sp>
        <p:nvSpPr>
          <p:cNvPr id="60" name="Text 47"/>
          <p:cNvSpPr txBox="1"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DISCOVERY &amp; RESEARCH — PRIMARY RESEARCH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Survey and Interviews Agree: Shoppers Compare, Then They Forget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3716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an item gets removed without ever being bought (n=36):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02920" y="1874520"/>
          <a:ext cx="521208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4142232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Wishlist Behavior Survey — </a:t>
            </a:r>
            <a:pPr indent="0" marL="0">
              <a:lnSpc>
                <a:spcPct val="105000"/>
              </a:lnSpc>
              <a:buNone/>
            </a:pPr>
            <a:r>
              <a:rPr lang="en-US" sz="1400" i="1" u="sng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view full responses</a:t>
            </a:r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Top slice = the “42%” cited throughout this deck.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806440" y="1371600"/>
            <a:ext cx="5882335" cy="1325880"/>
          </a:xfrm>
          <a:prstGeom prst="roundRect">
            <a:avLst>
              <a:gd name="adj" fmla="val 5517"/>
            </a:avLst>
          </a:prstGeom>
          <a:solidFill>
            <a:srgbClr val="E8EEF7"/>
          </a:solidFill>
          <a:ln/>
        </p:spPr>
      </p:sp>
      <p:sp>
        <p:nvSpPr>
          <p:cNvPr id="8" name="Shape 5"/>
          <p:cNvSpPr/>
          <p:nvPr/>
        </p:nvSpPr>
        <p:spPr>
          <a:xfrm>
            <a:off x="5989320" y="1536192"/>
            <a:ext cx="457200" cy="457200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2190" y="1639062"/>
            <a:ext cx="251460" cy="2514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583680" y="1517904"/>
            <a:ext cx="4922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CONVERTER · SMALL, CURATED WISHLIST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6583680" y="1755648"/>
            <a:ext cx="4922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Anjali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989320" y="2084832"/>
            <a:ext cx="5516575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wanted to compare, shortlist and compare.” Wants a physical Try &amp; Buy bundle to resolve fit doubt on unfamiliar brands.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806440" y="2843784"/>
            <a:ext cx="5882335" cy="1325880"/>
          </a:xfrm>
          <a:prstGeom prst="roundRect">
            <a:avLst>
              <a:gd name="adj" fmla="val 5517"/>
            </a:avLst>
          </a:prstGeom>
          <a:solidFill>
            <a:srgbClr val="E8EEF7"/>
          </a:solidFill>
          <a:ln/>
        </p:spPr>
      </p:sp>
      <p:sp>
        <p:nvSpPr>
          <p:cNvPr id="14" name="Shape 10"/>
          <p:cNvSpPr/>
          <p:nvPr/>
        </p:nvSpPr>
        <p:spPr>
          <a:xfrm>
            <a:off x="5989320" y="3008376"/>
            <a:ext cx="457200" cy="457200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2190" y="3111246"/>
            <a:ext cx="251460" cy="251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583680" y="2990088"/>
            <a:ext cx="4922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NON-CONVERTER · 1,220-ITEM WISHLIST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6583680" y="3227832"/>
            <a:ext cx="4922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Bhargavi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5989320" y="3557016"/>
            <a:ext cx="5516575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get bombarded with alerts... I end up ignoring them.” Wants AI-curated wishlist surfacing, not a comparison tool.</a:t>
            </a:r>
            <a:endParaRPr lang="en-US" sz="1400" dirty="0"/>
          </a:p>
        </p:txBody>
      </p:sp>
      <p:sp>
        <p:nvSpPr>
          <p:cNvPr id="19" name="Text 14">
            <a:hlinkClick r:id="rId5" tooltip=""/>
          </p:cNvPr>
          <p:cNvSpPr txBox="1"/>
          <p:nvPr/>
        </p:nvSpPr>
        <p:spPr>
          <a:xfrm>
            <a:off x="5806440" y="4224528"/>
            <a:ext cx="5882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u="sng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Full findings: reports/interview_findings.md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502920" y="4553712"/>
            <a:ext cx="111858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personas (segment archetypes built from the survey + both interviews -- not additional respondents):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502920" y="4809744"/>
            <a:ext cx="5440680" cy="1554480"/>
          </a:xfrm>
          <a:prstGeom prst="roundRect">
            <a:avLst>
              <a:gd name="adj" fmla="val 4706"/>
            </a:avLst>
          </a:prstGeom>
          <a:solidFill>
            <a:srgbClr val="1B2A4A"/>
          </a:solidFill>
          <a:ln/>
        </p:spPr>
      </p:sp>
      <p:sp>
        <p:nvSpPr>
          <p:cNvPr id="22" name="Shape 17"/>
          <p:cNvSpPr/>
          <p:nvPr/>
        </p:nvSpPr>
        <p:spPr>
          <a:xfrm>
            <a:off x="685800" y="4974336"/>
            <a:ext cx="457200" cy="457200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8670" y="5077206"/>
            <a:ext cx="251460" cy="25146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280160" y="49377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Active Comparer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1280160" y="52120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when the comparison resolves in-app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685800" y="5522976"/>
            <a:ext cx="5074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Small, curated wishlist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Wishlists specifically to compare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61% of survey respondents show this motive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6217920" y="4809744"/>
            <a:ext cx="5440680" cy="1554480"/>
          </a:xfrm>
          <a:prstGeom prst="roundRect">
            <a:avLst>
              <a:gd name="adj" fmla="val 4706"/>
            </a:avLst>
          </a:prstGeom>
          <a:solidFill>
            <a:srgbClr val="1B2A4A"/>
          </a:solidFill>
          <a:ln/>
        </p:spPr>
      </p:sp>
      <p:sp>
        <p:nvSpPr>
          <p:cNvPr id="28" name="Shape 22"/>
          <p:cNvSpPr/>
          <p:nvPr/>
        </p:nvSpPr>
        <p:spPr>
          <a:xfrm>
            <a:off x="6400800" y="4974336"/>
            <a:ext cx="457200" cy="457200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3670" y="5077206"/>
            <a:ext cx="251460" cy="25146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6995160" y="49377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Serial Bookmarker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6995160" y="52120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wishlist, many intents -- mostly passive</a:t>
            </a:r>
            <a:endParaRPr lang="en-US" sz="1400" dirty="0"/>
          </a:p>
        </p:txBody>
      </p:sp>
      <p:sp>
        <p:nvSpPr>
          <p:cNvPr id="32" name="Text 25"/>
          <p:cNvSpPr txBox="1"/>
          <p:nvPr/>
        </p:nvSpPr>
        <p:spPr>
          <a:xfrm>
            <a:off x="6400800" y="5522976"/>
            <a:ext cx="5074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Wishlist in the hundreds to thousands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Active Comparer for one item at a time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Notification-fatigued at scale (interview)</a:t>
            </a:r>
            <a:endParaRPr lang="en-US" sz="1400" dirty="0"/>
          </a:p>
        </p:txBody>
      </p:sp>
      <p:sp>
        <p:nvSpPr>
          <p:cNvPr id="33" name="Text 2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Myntra Growth · Wishlist-to-Purchase Conversion</a:t>
            </a:r>
            <a:endParaRPr lang="en-US" sz="1400" dirty="0"/>
          </a:p>
        </p:txBody>
      </p:sp>
      <p:sp>
        <p:nvSpPr>
          <p:cNvPr id="34" name="Text 27"/>
          <p:cNvSpPr txBox="1"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DISCOVERY &amp; RESEARCH — PROBLEM DEFINITION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Active Comparers Don't Say No — They Just Never Decide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11185855" cy="960120"/>
          </a:xfrm>
          <a:prstGeom prst="roundRect">
            <a:avLst>
              <a:gd name="adj" fmla="val 7619"/>
            </a:avLst>
          </a:prstGeom>
          <a:solidFill>
            <a:srgbClr val="27395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417320"/>
            <a:ext cx="106372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“Active Comparers” — users who wishlist an item while still comparing it against alternatives. The largest, most consistent segment across the AI pipeline, the survey, and both interviews (61% comparison motive) — confirmed as a per-item state, not a fixed user trait.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2514600"/>
            <a:ext cx="3546043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642616"/>
            <a:ext cx="512064" cy="512064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2726" y="2757830"/>
            <a:ext cx="281635" cy="28163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89304" y="2624328"/>
            <a:ext cx="25859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Root cause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289304" y="2898648"/>
            <a:ext cx="258592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wishlist is a passive bookmark, not a decision workspace.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323283" y="2514600"/>
            <a:ext cx="3546043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12" name="Shape 9"/>
          <p:cNvSpPr/>
          <p:nvPr/>
        </p:nvSpPr>
        <p:spPr>
          <a:xfrm>
            <a:off x="4487875" y="2642616"/>
            <a:ext cx="512064" cy="512064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3090" y="2757830"/>
            <a:ext cx="281635" cy="281635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109667" y="2624328"/>
            <a:ext cx="25859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5109667" y="2898648"/>
            <a:ext cx="258592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Resolves off-platform (42%) or never at all (32% forget).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8143646" y="2514600"/>
            <a:ext cx="3546043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17" name="Shape 13"/>
          <p:cNvSpPr/>
          <p:nvPr/>
        </p:nvSpPr>
        <p:spPr>
          <a:xfrm>
            <a:off x="8308238" y="2642616"/>
            <a:ext cx="512064" cy="512064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3453" y="2757830"/>
            <a:ext cx="281635" cy="28163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930030" y="2624328"/>
            <a:ext cx="25859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8930030" y="2898648"/>
            <a:ext cx="258592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price or returns — decision support, no incentive needed.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502920" y="3639312"/>
            <a:ext cx="111858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i="1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prioritization — same Frequency / Hesitation-link / Evidence-confidence columns already published in reports/opportunity_register.md, plus a labeled engineering-effort estimate. This reinforces, not revises, the funnel ranking: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059936"/>
          <a:ext cx="11185855" cy="1691640"/>
        </p:xfrm>
        <a:graphic>
          <a:graphicData uri="http://schemas.openxmlformats.org/drawingml/2006/table">
            <a:tbl>
              <a:tblPr/>
              <a:tblGrid>
                <a:gridCol w="3383280"/>
                <a:gridCol w="1371600"/>
                <a:gridCol w="1371600"/>
                <a:gridCol w="1371600"/>
                <a:gridCol w="1371600"/>
                <a:gridCol w="2407615"/>
              </a:tblGrid>
              <a:tr h="2819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Opportunity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Confid.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Effort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</a:tr>
              <a:tr h="2819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8FE3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Comparison Resolution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8FE3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</a:tr>
              <a:tr h="2819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8FE3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Re-engagement (forgetting)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8FE3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</a:tr>
              <a:tr h="2819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 Confidence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</a:tr>
              <a:tr h="2819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Visual/Review Proof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</a:tr>
              <a:tr h="2819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E8C7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Returns/Exchange Friction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E8C7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</a:tr>
            </a:tbl>
          </a:graphicData>
        </a:graphic>
      </p:graphicFrame>
      <p:sp>
        <p:nvSpPr>
          <p:cNvPr id="23" name="Text 17"/>
          <p:cNvSpPr txBox="1"/>
          <p:nvPr/>
        </p:nvSpPr>
        <p:spPr>
          <a:xfrm>
            <a:off x="502920" y="5815584"/>
            <a:ext cx="11185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i="1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= % of relevant records · Impact = hesitation-link · Confidence = evidence_confidence · Effort is a planning estimate (not published elsewhere) · RICE = (Reach×Impact×Confidence)/Effort-weight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Myntra Growth · Wishlist-to-Purchase Conversion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THE SOLUTION — RATIONALE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Validated Hypotheses, One Mechanism That Resolves Them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11185855" cy="777240"/>
          </a:xfrm>
          <a:prstGeom prst="roundRect">
            <a:avLst>
              <a:gd name="adj" fmla="val 8235"/>
            </a:avLst>
          </a:prstGeom>
          <a:solidFill>
            <a:srgbClr val="E8EEF7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540764"/>
            <a:ext cx="438912" cy="438912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5407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261872" y="1540764"/>
            <a:ext cx="438912" cy="438912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0627" y="1639519"/>
            <a:ext cx="241402" cy="24140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874520" y="144475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Resolution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874520" y="1719072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opp:comparison_loop · hesitation-link 0.63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263640" y="1426464"/>
            <a:ext cx="5287975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“TieBreaker” fits: the AI agent resolves the exact comparison respondents described unprompted, in-app instead of on a competitor's site.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258568"/>
            <a:ext cx="11185855" cy="777240"/>
          </a:xfrm>
          <a:prstGeom prst="roundRect">
            <a:avLst>
              <a:gd name="adj" fmla="val 8235"/>
            </a:avLst>
          </a:prstGeom>
          <a:solidFill>
            <a:srgbClr val="D7ECE9"/>
          </a:solidFill>
          <a:ln/>
        </p:spPr>
      </p:sp>
      <p:sp>
        <p:nvSpPr>
          <p:cNvPr id="13" name="Shape 10"/>
          <p:cNvSpPr/>
          <p:nvPr/>
        </p:nvSpPr>
        <p:spPr>
          <a:xfrm>
            <a:off x="640080" y="2427732"/>
            <a:ext cx="438912" cy="438912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0080" y="24277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1261872" y="2427732"/>
            <a:ext cx="438912" cy="438912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0627" y="2526487"/>
            <a:ext cx="241402" cy="24140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874520" y="23317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Re-engagement (forgetting)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1874520" y="260604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opp:intent:uncertain · hesitation-link 0.50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6263640" y="2313432"/>
            <a:ext cx="5287975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“TieBreaker” fits: the fast-forward nudge pulls a stale comparison back before attention decays — the #1 blocker among non-converters.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502920" y="3145536"/>
            <a:ext cx="11185855" cy="777240"/>
          </a:xfrm>
          <a:prstGeom prst="roundRect">
            <a:avLst>
              <a:gd name="adj" fmla="val 8235"/>
            </a:avLst>
          </a:prstGeom>
          <a:solidFill>
            <a:srgbClr val="E8EEF7"/>
          </a:solidFill>
          <a:ln/>
        </p:spPr>
      </p:sp>
      <p:sp>
        <p:nvSpPr>
          <p:cNvPr id="21" name="Shape 17"/>
          <p:cNvSpPr/>
          <p:nvPr/>
        </p:nvSpPr>
        <p:spPr>
          <a:xfrm>
            <a:off x="640080" y="3314700"/>
            <a:ext cx="438912" cy="438912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640080" y="33147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1261872" y="3314700"/>
            <a:ext cx="438912" cy="438912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0627" y="3413455"/>
            <a:ext cx="241402" cy="241402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1874520" y="321868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Visual / Review Proof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1874520" y="3493008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opp:image_vs_reality · hesitation-link 0.27</a:t>
            </a:r>
            <a:endParaRPr lang="en-US" sz="1400" dirty="0"/>
          </a:p>
        </p:txBody>
      </p:sp>
      <p:sp>
        <p:nvSpPr>
          <p:cNvPr id="27" name="Text 22"/>
          <p:cNvSpPr txBox="1"/>
          <p:nvPr/>
        </p:nvSpPr>
        <p:spPr>
          <a:xfrm>
            <a:off x="6263640" y="3200400"/>
            <a:ext cx="5287975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“TieBreaker” fits: the comparison card surfaces the same structured product detail respondents said they lacked, without leaving the app.</a:t>
            </a:r>
            <a:endParaRPr lang="en-US" sz="1400" dirty="0"/>
          </a:p>
        </p:txBody>
      </p:sp>
      <p:sp>
        <p:nvSpPr>
          <p:cNvPr id="28" name="Shape 23"/>
          <p:cNvSpPr/>
          <p:nvPr/>
        </p:nvSpPr>
        <p:spPr>
          <a:xfrm>
            <a:off x="502920" y="4032504"/>
            <a:ext cx="11185855" cy="777240"/>
          </a:xfrm>
          <a:prstGeom prst="roundRect">
            <a:avLst>
              <a:gd name="adj" fmla="val 8235"/>
            </a:avLst>
          </a:prstGeom>
          <a:solidFill>
            <a:srgbClr val="D7ECE9"/>
          </a:solidFill>
          <a:ln/>
        </p:spPr>
      </p:sp>
      <p:sp>
        <p:nvSpPr>
          <p:cNvPr id="29" name="Shape 24"/>
          <p:cNvSpPr/>
          <p:nvPr/>
        </p:nvSpPr>
        <p:spPr>
          <a:xfrm>
            <a:off x="640080" y="4201668"/>
            <a:ext cx="438912" cy="438912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640080" y="42016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31" name="Shape 26"/>
          <p:cNvSpPr/>
          <p:nvPr/>
        </p:nvSpPr>
        <p:spPr>
          <a:xfrm>
            <a:off x="1261872" y="4201668"/>
            <a:ext cx="438912" cy="438912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60627" y="4300423"/>
            <a:ext cx="241402" cy="241402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1874520" y="4105656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Fit Confidence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1874520" y="4379976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opp:fit_uncertainty · hesitation-link 0.24</a:t>
            </a:r>
            <a:endParaRPr lang="en-US" sz="1400" dirty="0"/>
          </a:p>
        </p:txBody>
      </p:sp>
      <p:sp>
        <p:nvSpPr>
          <p:cNvPr id="35" name="Text 29"/>
          <p:cNvSpPr txBox="1"/>
          <p:nvPr/>
        </p:nvSpPr>
        <p:spPr>
          <a:xfrm>
            <a:off x="6263640" y="4087368"/>
            <a:ext cx="5287975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“TieBreaker” fits: the agent reasons directly over each item's size/fit notes — precisely the unfamiliar-brand uncertainty both interviews described.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502920" y="4882896"/>
            <a:ext cx="111858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ALTERNATIVES CONSIDERED AND REJECTED (reports/solution_concepts.md)</a:t>
            </a:r>
            <a:endParaRPr lang="en-US" sz="1400" dirty="0"/>
          </a:p>
        </p:txBody>
      </p:sp>
      <p:sp>
        <p:nvSpPr>
          <p:cNvPr id="37" name="Shape 31"/>
          <p:cNvSpPr/>
          <p:nvPr/>
        </p:nvSpPr>
        <p:spPr>
          <a:xfrm>
            <a:off x="502920" y="5102352"/>
            <a:ext cx="3606698" cy="859536"/>
          </a:xfrm>
          <a:prstGeom prst="roundRect">
            <a:avLst>
              <a:gd name="adj" fmla="val 6383"/>
            </a:avLst>
          </a:prstGeom>
          <a:solidFill>
            <a:srgbClr val="F1F3F7"/>
          </a:solidFill>
          <a:ln/>
        </p:spPr>
      </p:sp>
      <p:sp>
        <p:nvSpPr>
          <p:cNvPr id="38" name="Shape 32"/>
          <p:cNvSpPr/>
          <p:nvPr/>
        </p:nvSpPr>
        <p:spPr>
          <a:xfrm>
            <a:off x="630936" y="5212080"/>
            <a:ext cx="365760" cy="365760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3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5294376"/>
            <a:ext cx="201168" cy="201168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1069848" y="5157216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Recoverability preview</a:t>
            </a:r>
            <a:endParaRPr lang="en-US" sz="1300" dirty="0"/>
          </a:p>
        </p:txBody>
      </p:sp>
      <p:sp>
        <p:nvSpPr>
          <p:cNvPr id="41" name="Text 34"/>
          <p:cNvSpPr txBox="1"/>
          <p:nvPr/>
        </p:nvSpPr>
        <p:spPr>
          <a:xfrm>
            <a:off x="630936" y="5596128"/>
            <a:ext cx="33506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Hesitation-link 0.11 — post-purchase noise.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4292498" y="5102352"/>
            <a:ext cx="3606698" cy="859536"/>
          </a:xfrm>
          <a:prstGeom prst="roundRect">
            <a:avLst>
              <a:gd name="adj" fmla="val 6383"/>
            </a:avLst>
          </a:prstGeom>
          <a:solidFill>
            <a:srgbClr val="F1F3F7"/>
          </a:solidFill>
          <a:ln/>
        </p:spPr>
      </p:sp>
      <p:sp>
        <p:nvSpPr>
          <p:cNvPr id="43" name="Shape 36"/>
          <p:cNvSpPr/>
          <p:nvPr/>
        </p:nvSpPr>
        <p:spPr>
          <a:xfrm>
            <a:off x="4420514" y="5212080"/>
            <a:ext cx="365760" cy="365760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4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2810" y="5294376"/>
            <a:ext cx="201168" cy="201168"/>
          </a:xfrm>
          <a:prstGeom prst="rect">
            <a:avLst/>
          </a:prstGeom>
        </p:spPr>
      </p:pic>
      <p:sp>
        <p:nvSpPr>
          <p:cNvPr id="45" name="Text 37"/>
          <p:cNvSpPr txBox="1"/>
          <p:nvPr/>
        </p:nvSpPr>
        <p:spPr>
          <a:xfrm>
            <a:off x="4859426" y="5157216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Worth-it proof at current price</a:t>
            </a:r>
            <a:endParaRPr lang="en-US" sz="1300" dirty="0"/>
          </a:p>
        </p:txBody>
      </p:sp>
      <p:sp>
        <p:nvSpPr>
          <p:cNvPr id="46" name="Text 38"/>
          <p:cNvSpPr txBox="1"/>
          <p:nvPr/>
        </p:nvSpPr>
        <p:spPr>
          <a:xfrm>
            <a:off x="4420514" y="5596128"/>
            <a:ext cx="33506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as monetary framing — against our constraint.</a:t>
            </a:r>
            <a:endParaRPr lang="en-US" sz="1400" dirty="0"/>
          </a:p>
        </p:txBody>
      </p:sp>
      <p:sp>
        <p:nvSpPr>
          <p:cNvPr id="47" name="Shape 39"/>
          <p:cNvSpPr/>
          <p:nvPr/>
        </p:nvSpPr>
        <p:spPr>
          <a:xfrm>
            <a:off x="8082077" y="5102352"/>
            <a:ext cx="3606698" cy="859536"/>
          </a:xfrm>
          <a:prstGeom prst="roundRect">
            <a:avLst>
              <a:gd name="adj" fmla="val 6383"/>
            </a:avLst>
          </a:prstGeom>
          <a:solidFill>
            <a:srgbClr val="F1F3F7"/>
          </a:solidFill>
          <a:ln/>
        </p:spPr>
      </p:sp>
      <p:sp>
        <p:nvSpPr>
          <p:cNvPr id="48" name="Shape 40"/>
          <p:cNvSpPr/>
          <p:nvPr/>
        </p:nvSpPr>
        <p:spPr>
          <a:xfrm>
            <a:off x="8210093" y="5212080"/>
            <a:ext cx="365760" cy="365760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4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92389" y="5294376"/>
            <a:ext cx="201168" cy="201168"/>
          </a:xfrm>
          <a:prstGeom prst="rect">
            <a:avLst/>
          </a:prstGeom>
        </p:spPr>
      </p:pic>
      <p:sp>
        <p:nvSpPr>
          <p:cNvPr id="50" name="Text 41"/>
          <p:cNvSpPr txBox="1"/>
          <p:nvPr/>
        </p:nvSpPr>
        <p:spPr>
          <a:xfrm>
            <a:off x="8649005" y="5157216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Delivery date on SKU</a:t>
            </a:r>
            <a:endParaRPr lang="en-US" sz="1300" dirty="0"/>
          </a:p>
        </p:txBody>
      </p:sp>
      <p:sp>
        <p:nvSpPr>
          <p:cNvPr id="51" name="Text 42"/>
          <p:cNvSpPr txBox="1"/>
          <p:nvPr/>
        </p:nvSpPr>
        <p:spPr>
          <a:xfrm>
            <a:off x="8210093" y="5596128"/>
            <a:ext cx="33506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base only 0.82% — logistics only.</a:t>
            </a:r>
            <a:endParaRPr lang="en-US" sz="1400" dirty="0"/>
          </a:p>
        </p:txBody>
      </p:sp>
      <p:sp>
        <p:nvSpPr>
          <p:cNvPr id="52" name="Shape 43"/>
          <p:cNvSpPr/>
          <p:nvPr/>
        </p:nvSpPr>
        <p:spPr>
          <a:xfrm>
            <a:off x="502920" y="6007608"/>
            <a:ext cx="11185855" cy="420624"/>
          </a:xfrm>
          <a:prstGeom prst="roundRect">
            <a:avLst>
              <a:gd name="adj" fmla="val 13043"/>
            </a:avLst>
          </a:prstGeom>
          <a:solidFill>
            <a:srgbClr val="F6E7D2"/>
          </a:solidFill>
          <a:ln/>
        </p:spPr>
      </p:sp>
      <p:sp>
        <p:nvSpPr>
          <p:cNvPr id="53" name="Text 44"/>
          <p:cNvSpPr txBox="1"/>
          <p:nvPr/>
        </p:nvSpPr>
        <p:spPr>
          <a:xfrm>
            <a:off x="685800" y="6007608"/>
            <a:ext cx="10820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moat: every reason-tagged comparison feeds back into the dataset — at Myntra's scale (200M+ annual active users), that compounds faster than a smaller rival can replicate the same structured signal.</a:t>
            </a:r>
            <a:endParaRPr lang="en-US" sz="1400" dirty="0"/>
          </a:p>
        </p:txBody>
      </p:sp>
      <p:sp>
        <p:nvSpPr>
          <p:cNvPr id="54" name="Text 4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Myntra Growth · Wishlist-to-Purchase Conversion</a:t>
            </a:r>
            <a:endParaRPr lang="en-US" sz="1400" dirty="0"/>
          </a:p>
        </p:txBody>
      </p:sp>
      <p:sp>
        <p:nvSpPr>
          <p:cNvPr id="55" name="Text 46"/>
          <p:cNvSpPr txBox="1"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THE SOLUTION — MVP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TieBreaker: An AI Agent That Resolves the Comparison In-App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41732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standalone Streamlit app on the real Myntra catalog (451 in-stock items, 4 categories) and the same LLM client as the discovery pipeline — no mock data.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810512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comparison gets resolved, end to end: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2103120"/>
            <a:ext cx="2054291" cy="685800"/>
          </a:xfrm>
          <a:prstGeom prst="roundRect">
            <a:avLst>
              <a:gd name="adj" fmla="val 9333"/>
            </a:avLst>
          </a:prstGeom>
          <a:solidFill>
            <a:srgbClr val="E8EEF7"/>
          </a:solidFill>
          <a:ln/>
        </p:spPr>
      </p:sp>
      <p:sp>
        <p:nvSpPr>
          <p:cNvPr id="7" name="Shape 5"/>
          <p:cNvSpPr/>
          <p:nvPr/>
        </p:nvSpPr>
        <p:spPr>
          <a:xfrm>
            <a:off x="1356330" y="2212848"/>
            <a:ext cx="347472" cy="347472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4511" y="2291029"/>
            <a:ext cx="191110" cy="19111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7784" y="2596896"/>
            <a:ext cx="194456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 Tagged Items</a:t>
            </a:r>
            <a:endParaRPr lang="en-US" sz="14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2639" y="2327148"/>
            <a:ext cx="237744" cy="237744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785811" y="2103120"/>
            <a:ext cx="2054291" cy="685800"/>
          </a:xfrm>
          <a:prstGeom prst="roundRect">
            <a:avLst>
              <a:gd name="adj" fmla="val 9333"/>
            </a:avLst>
          </a:prstGeom>
          <a:solidFill>
            <a:srgbClr val="E8EEF7"/>
          </a:solidFill>
          <a:ln/>
        </p:spPr>
      </p:sp>
      <p:sp>
        <p:nvSpPr>
          <p:cNvPr id="12" name="Shape 8"/>
          <p:cNvSpPr/>
          <p:nvPr/>
        </p:nvSpPr>
        <p:spPr>
          <a:xfrm>
            <a:off x="3639221" y="2212848"/>
            <a:ext cx="347472" cy="347472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7402" y="2291029"/>
            <a:ext cx="191110" cy="19111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840675" y="2596896"/>
            <a:ext cx="194456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Prompt</a:t>
            </a:r>
            <a:endParaRPr lang="en-US" sz="14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5530" y="2327148"/>
            <a:ext cx="237744" cy="237744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5068702" y="2103120"/>
            <a:ext cx="2054291" cy="685800"/>
          </a:xfrm>
          <a:prstGeom prst="roundRect">
            <a:avLst>
              <a:gd name="adj" fmla="val 9333"/>
            </a:avLst>
          </a:prstGeom>
          <a:solidFill>
            <a:srgbClr val="E8EEF7"/>
          </a:solidFill>
          <a:ln/>
        </p:spPr>
      </p:sp>
      <p:sp>
        <p:nvSpPr>
          <p:cNvPr id="17" name="Shape 11"/>
          <p:cNvSpPr/>
          <p:nvPr/>
        </p:nvSpPr>
        <p:spPr>
          <a:xfrm>
            <a:off x="5922112" y="2212848"/>
            <a:ext cx="347472" cy="347472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00293" y="2291029"/>
            <a:ext cx="191110" cy="19111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123566" y="2596896"/>
            <a:ext cx="194456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LLM Call</a:t>
            </a:r>
            <a:endParaRPr lang="en-US" sz="140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18421" y="2327148"/>
            <a:ext cx="237744" cy="237744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7351593" y="2103120"/>
            <a:ext cx="2054291" cy="685800"/>
          </a:xfrm>
          <a:prstGeom prst="roundRect">
            <a:avLst>
              <a:gd name="adj" fmla="val 9333"/>
            </a:avLst>
          </a:prstGeom>
          <a:solidFill>
            <a:srgbClr val="E8EEF7"/>
          </a:solidFill>
          <a:ln/>
        </p:spPr>
      </p:sp>
      <p:sp>
        <p:nvSpPr>
          <p:cNvPr id="22" name="Shape 14"/>
          <p:cNvSpPr/>
          <p:nvPr/>
        </p:nvSpPr>
        <p:spPr>
          <a:xfrm>
            <a:off x="8205003" y="2212848"/>
            <a:ext cx="347472" cy="347472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83184" y="2291029"/>
            <a:ext cx="191110" cy="19111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7406457" y="2596896"/>
            <a:ext cx="194456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Response</a:t>
            </a:r>
            <a:endParaRPr lang="en-US" sz="1400" dirty="0"/>
          </a:p>
        </p:txBody>
      </p:sp>
      <p:pic>
        <p:nvPicPr>
          <p:cNvPr id="2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1312" y="2327148"/>
            <a:ext cx="237744" cy="237744"/>
          </a:xfrm>
          <a:prstGeom prst="rect">
            <a:avLst/>
          </a:prstGeom>
        </p:spPr>
      </p:pic>
      <p:sp>
        <p:nvSpPr>
          <p:cNvPr id="26" name="Shape 16"/>
          <p:cNvSpPr/>
          <p:nvPr/>
        </p:nvSpPr>
        <p:spPr>
          <a:xfrm>
            <a:off x="9634484" y="2103120"/>
            <a:ext cx="2054291" cy="685800"/>
          </a:xfrm>
          <a:prstGeom prst="roundRect">
            <a:avLst>
              <a:gd name="adj" fmla="val 9333"/>
            </a:avLst>
          </a:prstGeom>
          <a:solidFill>
            <a:srgbClr val="E8EEF7"/>
          </a:solidFill>
          <a:ln/>
        </p:spPr>
      </p:sp>
      <p:sp>
        <p:nvSpPr>
          <p:cNvPr id="27" name="Shape 17"/>
          <p:cNvSpPr/>
          <p:nvPr/>
        </p:nvSpPr>
        <p:spPr>
          <a:xfrm>
            <a:off x="10487894" y="2212848"/>
            <a:ext cx="347472" cy="347472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2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66075" y="2291029"/>
            <a:ext cx="191110" cy="191110"/>
          </a:xfrm>
          <a:prstGeom prst="rect">
            <a:avLst/>
          </a:prstGeom>
        </p:spPr>
      </p:pic>
      <p:sp>
        <p:nvSpPr>
          <p:cNvPr id="29" name="Text 18"/>
          <p:cNvSpPr txBox="1"/>
          <p:nvPr/>
        </p:nvSpPr>
        <p:spPr>
          <a:xfrm>
            <a:off x="9689348" y="2596896"/>
            <a:ext cx="194456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Decides</a:t>
            </a:r>
            <a:endParaRPr lang="en-US" sz="1400" dirty="0"/>
          </a:p>
        </p:txBody>
      </p:sp>
      <p:pic>
        <p:nvPicPr>
          <p:cNvPr id="30" name="Image 9" descr="./mvp_shots/shot_result_final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920" y="2898648"/>
            <a:ext cx="5458968" cy="3017520"/>
          </a:xfrm>
          <a:prstGeom prst="rect">
            <a:avLst/>
          </a:prstGeom>
        </p:spPr>
      </p:pic>
      <p:sp>
        <p:nvSpPr>
          <p:cNvPr id="31" name="Shape 19"/>
          <p:cNvSpPr/>
          <p:nvPr/>
        </p:nvSpPr>
        <p:spPr>
          <a:xfrm>
            <a:off x="502920" y="2898648"/>
            <a:ext cx="5458968" cy="3017520"/>
          </a:xfrm>
          <a:prstGeom prst="rect">
            <a:avLst/>
          </a:prstGeom>
          <a:ln w="12700">
            <a:solidFill>
              <a:srgbClr val="D6DCE5"/>
            </a:solidFill>
            <a:prstDash val="solid"/>
          </a:ln>
        </p:spPr>
      </p:sp>
      <p:sp>
        <p:nvSpPr>
          <p:cNvPr id="32" name="Shape 20"/>
          <p:cNvSpPr/>
          <p:nvPr/>
        </p:nvSpPr>
        <p:spPr>
          <a:xfrm>
            <a:off x="6236208" y="2898648"/>
            <a:ext cx="5452567" cy="1417320"/>
          </a:xfrm>
          <a:prstGeom prst="roundRect">
            <a:avLst>
              <a:gd name="adj" fmla="val 5161"/>
            </a:avLst>
          </a:prstGeom>
          <a:solidFill>
            <a:srgbClr val="E8EEF7"/>
          </a:solidFill>
          <a:ln/>
        </p:spPr>
      </p:sp>
      <p:sp>
        <p:nvSpPr>
          <p:cNvPr id="33" name="Shape 21"/>
          <p:cNvSpPr/>
          <p:nvPr/>
        </p:nvSpPr>
        <p:spPr>
          <a:xfrm>
            <a:off x="6419088" y="3081528"/>
            <a:ext cx="512064" cy="512064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34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34302" y="3196742"/>
            <a:ext cx="281635" cy="281635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6419088" y="3685032"/>
            <a:ext cx="508680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Reason capture</a:t>
            </a:r>
            <a:endParaRPr lang="en-US" sz="1500" dirty="0"/>
          </a:p>
        </p:txBody>
      </p:sp>
      <p:sp>
        <p:nvSpPr>
          <p:cNvPr id="36" name="Text 23"/>
          <p:cNvSpPr txBox="1"/>
          <p:nvPr/>
        </p:nvSpPr>
        <p:spPr>
          <a:xfrm>
            <a:off x="6419088" y="3959352"/>
            <a:ext cx="508680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One-tap chip at save-time: comparing, occasion, fit, or just liked it.</a:t>
            </a:r>
            <a:endParaRPr lang="en-US" sz="1400" dirty="0"/>
          </a:p>
        </p:txBody>
      </p:sp>
      <p:sp>
        <p:nvSpPr>
          <p:cNvPr id="37" name="Shape 24"/>
          <p:cNvSpPr/>
          <p:nvPr/>
        </p:nvSpPr>
        <p:spPr>
          <a:xfrm>
            <a:off x="6236208" y="4498848"/>
            <a:ext cx="5452567" cy="1417320"/>
          </a:xfrm>
          <a:prstGeom prst="roundRect">
            <a:avLst>
              <a:gd name="adj" fmla="val 5161"/>
            </a:avLst>
          </a:prstGeom>
          <a:solidFill>
            <a:srgbClr val="E8EEF7"/>
          </a:solidFill>
          <a:ln/>
        </p:spPr>
      </p:sp>
      <p:sp>
        <p:nvSpPr>
          <p:cNvPr id="38" name="Shape 25"/>
          <p:cNvSpPr/>
          <p:nvPr/>
        </p:nvSpPr>
        <p:spPr>
          <a:xfrm>
            <a:off x="6419088" y="4681728"/>
            <a:ext cx="512064" cy="512064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3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34302" y="4796942"/>
            <a:ext cx="281635" cy="281635"/>
          </a:xfrm>
          <a:prstGeom prst="rect">
            <a:avLst/>
          </a:prstGeom>
        </p:spPr>
      </p:pic>
      <p:sp>
        <p:nvSpPr>
          <p:cNvPr id="40" name="Text 26"/>
          <p:cNvSpPr txBox="1"/>
          <p:nvPr/>
        </p:nvSpPr>
        <p:spPr>
          <a:xfrm>
            <a:off x="6419088" y="5285232"/>
            <a:ext cx="508680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comparison agent</a:t>
            </a:r>
            <a:endParaRPr lang="en-US" sz="1500" dirty="0"/>
          </a:p>
        </p:txBody>
      </p:sp>
      <p:sp>
        <p:nvSpPr>
          <p:cNvPr id="41" name="Text 27"/>
          <p:cNvSpPr txBox="1"/>
          <p:nvPr/>
        </p:nvSpPr>
        <p:spPr>
          <a:xfrm>
            <a:off x="6419088" y="5559552"/>
            <a:ext cx="508680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Recommends between saved items using real attributes — no price framing.</a:t>
            </a:r>
            <a:endParaRPr lang="en-US" sz="1400" dirty="0"/>
          </a:p>
        </p:txBody>
      </p:sp>
      <p:sp>
        <p:nvSpPr>
          <p:cNvPr id="42" name="Shape 28"/>
          <p:cNvSpPr/>
          <p:nvPr/>
        </p:nvSpPr>
        <p:spPr>
          <a:xfrm>
            <a:off x="502920" y="6044184"/>
            <a:ext cx="11185855" cy="329184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43" name="Text 29">
            <a:hlinkClick r:id="rId13" tooltip=""/>
          </p:cNvPr>
          <p:cNvSpPr txBox="1"/>
          <p:nvPr/>
        </p:nvSpPr>
        <p:spPr>
          <a:xfrm>
            <a:off x="502920" y="6044184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MVP (“TieBreaker”)  →  open ↗</a:t>
            </a:r>
            <a:endParaRPr lang="en-US" sz="1400" dirty="0"/>
          </a:p>
        </p:txBody>
      </p:sp>
      <p:sp>
        <p:nvSpPr>
          <p:cNvPr id="44" name="Text 30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Myntra Growth · Wishlist-to-Purchase Conversion</a:t>
            </a:r>
            <a:endParaRPr lang="en-US" sz="1400" dirty="0"/>
          </a:p>
        </p:txBody>
      </p:sp>
      <p:sp>
        <p:nvSpPr>
          <p:cNvPr id="45" name="Text 31"/>
          <p:cNvSpPr txBox="1"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THE SOLUTION — HOW IT WORKS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Browse to Decision in Four Steps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82880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0F766E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993392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440180" y="260604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23060" y="2788920"/>
            <a:ext cx="365760" cy="365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67512" y="3520440"/>
            <a:ext cx="2276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Browse &amp; Save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667512" y="3977640"/>
            <a:ext cx="2276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adds a real product to their wishlist from the catalog.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9816" y="3182112"/>
            <a:ext cx="310896" cy="31089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3401568" y="182880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1B2A4A"/>
          </a:solidFill>
          <a:ln/>
        </p:spPr>
      </p:sp>
      <p:sp>
        <p:nvSpPr>
          <p:cNvPr id="13" name="Shape 9"/>
          <p:cNvSpPr/>
          <p:nvPr/>
        </p:nvSpPr>
        <p:spPr>
          <a:xfrm>
            <a:off x="3584448" y="1993392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3584448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Shape 11"/>
          <p:cNvSpPr/>
          <p:nvPr/>
        </p:nvSpPr>
        <p:spPr>
          <a:xfrm>
            <a:off x="4338828" y="260604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1708" y="2788920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566160" y="3520440"/>
            <a:ext cx="2276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Tag the Reason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3566160" y="3977640"/>
            <a:ext cx="2276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tap: comparing, occasion, fit, or just liked it.</a:t>
            </a:r>
            <a:endParaRPr lang="en-US" sz="14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8464" y="3182112"/>
            <a:ext cx="310896" cy="310896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300216" y="182880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0F766E"/>
          </a:solidFill>
          <a:ln/>
        </p:spPr>
      </p:sp>
      <p:sp>
        <p:nvSpPr>
          <p:cNvPr id="21" name="Shape 15"/>
          <p:cNvSpPr/>
          <p:nvPr/>
        </p:nvSpPr>
        <p:spPr>
          <a:xfrm>
            <a:off x="6483096" y="1993392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6483096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3" name="Shape 17"/>
          <p:cNvSpPr/>
          <p:nvPr/>
        </p:nvSpPr>
        <p:spPr>
          <a:xfrm>
            <a:off x="7237476" y="260604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0356" y="2788920"/>
            <a:ext cx="365760" cy="36576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6464808" y="3520440"/>
            <a:ext cx="2276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Nudged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6464808" y="3977640"/>
            <a:ext cx="2276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 comparisons surface a “still deciding?” prompt.</a:t>
            </a:r>
            <a:endParaRPr lang="en-US" sz="1400" dirty="0"/>
          </a:p>
        </p:txBody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97112" y="3182112"/>
            <a:ext cx="310896" cy="310896"/>
          </a:xfrm>
          <a:prstGeom prst="rect">
            <a:avLst/>
          </a:prstGeom>
        </p:spPr>
      </p:pic>
      <p:sp>
        <p:nvSpPr>
          <p:cNvPr id="28" name="Shape 20"/>
          <p:cNvSpPr/>
          <p:nvPr/>
        </p:nvSpPr>
        <p:spPr>
          <a:xfrm>
            <a:off x="9198864" y="182880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1B2A4A"/>
          </a:solidFill>
          <a:ln/>
        </p:spPr>
      </p:sp>
      <p:sp>
        <p:nvSpPr>
          <p:cNvPr id="29" name="Shape 21"/>
          <p:cNvSpPr/>
          <p:nvPr/>
        </p:nvSpPr>
        <p:spPr>
          <a:xfrm>
            <a:off x="9381744" y="1993392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9381744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31" name="Shape 23"/>
          <p:cNvSpPr/>
          <p:nvPr/>
        </p:nvSpPr>
        <p:spPr>
          <a:xfrm>
            <a:off x="10136124" y="260604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19004" y="2788920"/>
            <a:ext cx="365760" cy="36576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9363456" y="3520440"/>
            <a:ext cx="2276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Resolves It</a:t>
            </a:r>
            <a:endParaRPr lang="en-US" sz="1600" dirty="0"/>
          </a:p>
        </p:txBody>
      </p:sp>
      <p:sp>
        <p:nvSpPr>
          <p:cNvPr id="34" name="Text 25"/>
          <p:cNvSpPr txBox="1"/>
          <p:nvPr/>
        </p:nvSpPr>
        <p:spPr>
          <a:xfrm>
            <a:off x="9363456" y="3977640"/>
            <a:ext cx="2276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compares real attributes; user buys, keeps, or removes.</a:t>
            </a:r>
            <a:endParaRPr lang="en-US" sz="1400" dirty="0"/>
          </a:p>
        </p:txBody>
      </p:sp>
      <p:sp>
        <p:nvSpPr>
          <p:cNvPr id="35" name="Text 26"/>
          <p:cNvSpPr txBox="1"/>
          <p:nvPr/>
        </p:nvSpPr>
        <p:spPr>
          <a:xfrm>
            <a:off x="502920" y="5074920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step is a real Streamlit widget wired to session state and the live LLM agent — nothing here is a mockup.</a:t>
            </a:r>
            <a:endParaRPr lang="en-US" sz="1400" dirty="0"/>
          </a:p>
        </p:txBody>
      </p:sp>
      <p:sp>
        <p:nvSpPr>
          <p:cNvPr id="36" name="Text 27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Myntra Growth · Wishlist-to-Purchase Conversion</a:t>
            </a:r>
            <a:endParaRPr lang="en-US" sz="1400" dirty="0"/>
          </a:p>
        </p:txBody>
      </p:sp>
      <p:sp>
        <p:nvSpPr>
          <p:cNvPr id="37" name="Text 28"/>
          <p:cNvSpPr txBox="1"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PROOF &amp; PATH TO SCALE — METRICS &amp; RISKS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Resolution Rate Rises Only if Every Guardrail Holds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5349240" cy="548640"/>
          </a:xfrm>
          <a:prstGeom prst="roundRect">
            <a:avLst>
              <a:gd name="adj" fmla="val 13333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141732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Primary: resolved ÷ (resolved + still-cold)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084832"/>
            <a:ext cx="5349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8FE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INDICATORS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414016"/>
            <a:ext cx="109728" cy="109728"/>
          </a:xfrm>
          <a:prstGeom prst="ellipse">
            <a:avLst/>
          </a:prstGeom>
          <a:solidFill>
            <a:srgbClr val="8FE3D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32257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Reason-capture rate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706624"/>
            <a:ext cx="109728" cy="109728"/>
          </a:xfrm>
          <a:prstGeom prst="ellipse">
            <a:avLst/>
          </a:prstGeom>
          <a:solidFill>
            <a:srgbClr val="8FE3D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261518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Nudge-to-engagement rate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999232"/>
            <a:ext cx="109728" cy="109728"/>
          </a:xfrm>
          <a:prstGeom prst="ellipse">
            <a:avLst/>
          </a:prstGeom>
          <a:solidFill>
            <a:srgbClr val="8FE3D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290779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“Help me decide” invocation rate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291840"/>
            <a:ext cx="109728" cy="109728"/>
          </a:xfrm>
          <a:prstGeom prst="ellipse">
            <a:avLst/>
          </a:prstGeom>
          <a:solidFill>
            <a:srgbClr val="8FE3D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32004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Recommendation-acceptance rate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3621024"/>
            <a:ext cx="5349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F3C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(metrics that pause rollout on breach)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3950208"/>
            <a:ext cx="109728" cy="109728"/>
          </a:xfrm>
          <a:prstGeom prst="ellipse">
            <a:avLst/>
          </a:prstGeom>
          <a:solidFill>
            <a:srgbClr val="F3C08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385876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add rate (must hold)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4242816"/>
            <a:ext cx="109728" cy="109728"/>
          </a:xfrm>
          <a:prstGeom prst="ellipse">
            <a:avLst/>
          </a:prstGeom>
          <a:solidFill>
            <a:srgbClr val="F3C089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77240" y="415137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Add-flow abandonment rate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4535424"/>
            <a:ext cx="109728" cy="109728"/>
          </a:xfrm>
          <a:prstGeom prst="ellipse">
            <a:avLst/>
          </a:prstGeom>
          <a:solidFill>
            <a:srgbClr val="F3C08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7240" y="444398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Regretted-removal rate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4828032"/>
            <a:ext cx="109728" cy="109728"/>
          </a:xfrm>
          <a:prstGeom prst="ellipse">
            <a:avLst/>
          </a:prstGeom>
          <a:solidFill>
            <a:srgbClr val="F3C08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77240" y="473659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failure rate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5120640"/>
            <a:ext cx="109728" cy="109728"/>
          </a:xfrm>
          <a:prstGeom prst="ellipse">
            <a:avLst/>
          </a:prstGeom>
          <a:solidFill>
            <a:srgbClr val="F3C089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77240" y="50292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Monetary-language leakage (0%)</a:t>
            </a:r>
            <a:endParaRPr lang="en-US" sz="1400" dirty="0"/>
          </a:p>
        </p:txBody>
      </p:sp>
      <p:sp>
        <p:nvSpPr>
          <p:cNvPr id="26" name="Text 24">
            <a:hlinkClick r:id="rId1" tooltip=""/>
          </p:cNvPr>
          <p:cNvSpPr txBox="1"/>
          <p:nvPr/>
        </p:nvSpPr>
        <p:spPr>
          <a:xfrm>
            <a:off x="502920" y="5468112"/>
            <a:ext cx="5349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u="sng" dirty="0">
                <a:solidFill>
                  <a:srgbClr val="8FE3D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Full metrics: reports/define_success.md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126480" y="1417320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RISKS THESE GUARDRAILS WATCH (4 of 11)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126480" y="1700784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27395F"/>
          </a:solidFill>
          <a:ln/>
        </p:spPr>
      </p:sp>
      <p:sp>
        <p:nvSpPr>
          <p:cNvPr id="29" name="Shape 27"/>
          <p:cNvSpPr/>
          <p:nvPr/>
        </p:nvSpPr>
        <p:spPr>
          <a:xfrm>
            <a:off x="6272784" y="1929384"/>
            <a:ext cx="438912" cy="438912"/>
          </a:xfrm>
          <a:prstGeom prst="ellipse">
            <a:avLst/>
          </a:prstGeom>
          <a:solidFill>
            <a:srgbClr val="B45309"/>
          </a:solidFill>
          <a:ln/>
        </p:spPr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1539" y="2028139"/>
            <a:ext cx="241402" cy="241402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6821424" y="1792224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Correlation, not causation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6821424" y="2103120"/>
            <a:ext cx="4709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primary metric framed as a hypothesis-linked proxy, gated by a real A/B test.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6126480" y="2706624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27395F"/>
          </a:solidFill>
          <a:ln/>
        </p:spPr>
      </p:sp>
      <p:sp>
        <p:nvSpPr>
          <p:cNvPr id="34" name="Shape 31"/>
          <p:cNvSpPr/>
          <p:nvPr/>
        </p:nvSpPr>
        <p:spPr>
          <a:xfrm>
            <a:off x="6272784" y="2935224"/>
            <a:ext cx="438912" cy="438912"/>
          </a:xfrm>
          <a:prstGeom prst="ellipse">
            <a:avLst/>
          </a:prstGeom>
          <a:solidFill>
            <a:srgbClr val="B45309"/>
          </a:solidFill>
          <a:ln/>
        </p:spPr>
      </p:sp>
      <p:pic>
        <p:nvPicPr>
          <p:cNvPr id="3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1539" y="3033979"/>
            <a:ext cx="241402" cy="241402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6821424" y="2798064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Reason-tag friction shrinks the funnel</a:t>
            </a:r>
            <a:endParaRPr lang="en-US" sz="1400" dirty="0"/>
          </a:p>
        </p:txBody>
      </p:sp>
      <p:sp>
        <p:nvSpPr>
          <p:cNvPr id="37" name="Text 33"/>
          <p:cNvSpPr txBox="1"/>
          <p:nvPr/>
        </p:nvSpPr>
        <p:spPr>
          <a:xfrm>
            <a:off x="6821424" y="3108960"/>
            <a:ext cx="4709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Guardrail: wishlist add rate must hold steady or grow.</a:t>
            </a:r>
            <a:endParaRPr lang="en-US" sz="1400" dirty="0"/>
          </a:p>
        </p:txBody>
      </p:sp>
      <p:sp>
        <p:nvSpPr>
          <p:cNvPr id="38" name="Shape 34"/>
          <p:cNvSpPr/>
          <p:nvPr/>
        </p:nvSpPr>
        <p:spPr>
          <a:xfrm>
            <a:off x="6126480" y="3712464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27395F"/>
          </a:solidFill>
          <a:ln/>
        </p:spPr>
      </p:sp>
      <p:sp>
        <p:nvSpPr>
          <p:cNvPr id="39" name="Shape 35"/>
          <p:cNvSpPr/>
          <p:nvPr/>
        </p:nvSpPr>
        <p:spPr>
          <a:xfrm>
            <a:off x="6272784" y="3941064"/>
            <a:ext cx="438912" cy="438912"/>
          </a:xfrm>
          <a:prstGeom prst="ellipse">
            <a:avLst/>
          </a:prstGeom>
          <a:solidFill>
            <a:srgbClr val="B45309"/>
          </a:solidFill>
          <a:ln/>
        </p:spPr>
      </p:sp>
      <p:pic>
        <p:nvPicPr>
          <p:cNvPr id="40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1539" y="4039819"/>
            <a:ext cx="241402" cy="241402"/>
          </a:xfrm>
          <a:prstGeom prst="rect">
            <a:avLst/>
          </a:prstGeom>
        </p:spPr>
      </p:pic>
      <p:sp>
        <p:nvSpPr>
          <p:cNvPr id="41" name="Text 36"/>
          <p:cNvSpPr txBox="1"/>
          <p:nvPr/>
        </p:nvSpPr>
        <p:spPr>
          <a:xfrm>
            <a:off x="6821424" y="3803904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steers a bad decision</a:t>
            </a:r>
            <a:endParaRPr lang="en-US" sz="1400" dirty="0"/>
          </a:p>
        </p:txBody>
      </p:sp>
      <p:sp>
        <p:nvSpPr>
          <p:cNvPr id="42" name="Text 37"/>
          <p:cNvSpPr txBox="1"/>
          <p:nvPr/>
        </p:nvSpPr>
        <p:spPr>
          <a:xfrm>
            <a:off x="6821424" y="4114800"/>
            <a:ext cx="4709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Guardrail: regretted-removal rate.</a:t>
            </a:r>
            <a:endParaRPr lang="en-US" sz="1400" dirty="0"/>
          </a:p>
        </p:txBody>
      </p:sp>
      <p:sp>
        <p:nvSpPr>
          <p:cNvPr id="43" name="Shape 38"/>
          <p:cNvSpPr/>
          <p:nvPr/>
        </p:nvSpPr>
        <p:spPr>
          <a:xfrm>
            <a:off x="6126480" y="4718304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27395F"/>
          </a:solidFill>
          <a:ln/>
        </p:spPr>
      </p:sp>
      <p:sp>
        <p:nvSpPr>
          <p:cNvPr id="44" name="Shape 39"/>
          <p:cNvSpPr/>
          <p:nvPr/>
        </p:nvSpPr>
        <p:spPr>
          <a:xfrm>
            <a:off x="6272784" y="4946904"/>
            <a:ext cx="438912" cy="438912"/>
          </a:xfrm>
          <a:prstGeom prst="ellipse">
            <a:avLst/>
          </a:prstGeom>
          <a:solidFill>
            <a:srgbClr val="B45309"/>
          </a:solidFill>
          <a:ln/>
        </p:spPr>
      </p:sp>
      <p:pic>
        <p:nvPicPr>
          <p:cNvPr id="4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1539" y="5045659"/>
            <a:ext cx="241402" cy="241402"/>
          </a:xfrm>
          <a:prstGeom prst="rect">
            <a:avLst/>
          </a:prstGeom>
        </p:spPr>
      </p:pic>
      <p:sp>
        <p:nvSpPr>
          <p:cNvPr id="46" name="Text 40"/>
          <p:cNvSpPr txBox="1"/>
          <p:nvPr/>
        </p:nvSpPr>
        <p:spPr>
          <a:xfrm>
            <a:off x="6821424" y="4809744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Monetary-language leakage</a:t>
            </a:r>
            <a:endParaRPr lang="en-US" sz="1400" dirty="0"/>
          </a:p>
        </p:txBody>
      </p:sp>
      <p:sp>
        <p:nvSpPr>
          <p:cNvPr id="47" name="Text 41"/>
          <p:cNvSpPr txBox="1"/>
          <p:nvPr/>
        </p:nvSpPr>
        <p:spPr>
          <a:xfrm>
            <a:off x="6821424" y="5120640"/>
            <a:ext cx="4709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Guardrail: automated scan, target 0%.</a:t>
            </a:r>
            <a:endParaRPr lang="en-US" sz="1400" dirty="0"/>
          </a:p>
        </p:txBody>
      </p:sp>
      <p:sp>
        <p:nvSpPr>
          <p:cNvPr id="48" name="Text 42">
            <a:hlinkClick r:id="rId6" tooltip=""/>
          </p:cNvPr>
          <p:cNvSpPr txBox="1"/>
          <p:nvPr/>
        </p:nvSpPr>
        <p:spPr>
          <a:xfrm>
            <a:off x="6126480" y="5705856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u="sng" dirty="0">
                <a:solidFill>
                  <a:srgbClr val="8FE3D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Full risk register (11 total): reports/risks_and_mitigation.md</a:t>
            </a:r>
            <a:endParaRPr lang="en-US" sz="1400" dirty="0"/>
          </a:p>
        </p:txBody>
      </p:sp>
      <p:sp>
        <p:nvSpPr>
          <p:cNvPr id="49" name="Text 43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Myntra Growth · Wishlist-to-Purchase Conversion</a:t>
            </a:r>
            <a:endParaRPr lang="en-US" sz="1400" dirty="0"/>
          </a:p>
        </p:txBody>
      </p:sp>
      <p:sp>
        <p:nvSpPr>
          <p:cNvPr id="50" name="Text 44"/>
          <p:cNvSpPr txBox="1"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PROOF &amp; PATH TO SCALE — CLOSING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Closing This Gap Is Worth ₹265–688 Crore a Year</a:t>
            </a:r>
            <a:endParaRPr lang="en-US" sz="2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11185855" cy="1965960"/>
        </p:xfrm>
        <a:graphic>
          <a:graphicData uri="http://schemas.openxmlformats.org/drawingml/2006/table">
            <a:tbl>
              <a:tblPr/>
              <a:tblGrid>
                <a:gridCol w="2237171"/>
                <a:gridCol w="2237171"/>
                <a:gridCol w="2237171"/>
                <a:gridCol w="2237171"/>
                <a:gridCol w="2237171"/>
              </a:tblGrid>
              <a:tr h="49149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 LIFT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INCR. ANNUAL GMV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INCR. REVENUE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INCR. PROFIT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Conservative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AFC0D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 → 17% (+5pp)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8FE3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₹2,205 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₹265 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₹66 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AFC0D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 → 20% (+8pp)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8FE3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₹3,528 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₹423 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₹106 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Aggressive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AFC0D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 → 25% (+13pp)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8FE3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₹5,733 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₹688 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₹172 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3657600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i="1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the conservative scenario (+5pp) is ~4.4% of Myntra's entire FY25 revenue and ~12% of its FY25 net profit — at a higher margin than average, since it monetizes demand already on the platform. Modeled estimate on labeled assumptions, not a Myntra-disclosed figure.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02920" y="4334256"/>
            <a:ext cx="11185855" cy="777240"/>
          </a:xfrm>
          <a:prstGeom prst="roundRect">
            <a:avLst>
              <a:gd name="adj" fmla="val 8235"/>
            </a:avLst>
          </a:prstGeom>
          <a:solidFill>
            <a:srgbClr val="0F766E"/>
          </a:solidFill>
          <a:ln/>
        </p:spPr>
      </p:sp>
      <p:sp>
        <p:nvSpPr>
          <p:cNvPr id="7" name="Shape 4"/>
          <p:cNvSpPr/>
          <p:nvPr/>
        </p:nvSpPr>
        <p:spPr>
          <a:xfrm>
            <a:off x="713232" y="4471416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446" y="4586630"/>
            <a:ext cx="281635" cy="28163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71600" y="4334256"/>
            <a:ext cx="101800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of the 11 identified risks already have a guardrail or leading-indicator metric watching for them — designed against these exact failure modes, not in a vacuum.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502920" y="5212080"/>
            <a:ext cx="111858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TO SCALE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02920" y="5449824"/>
            <a:ext cx="3606698" cy="822960"/>
          </a:xfrm>
          <a:prstGeom prst="roundRect">
            <a:avLst>
              <a:gd name="adj" fmla="val 6667"/>
            </a:avLst>
          </a:prstGeom>
          <a:solidFill>
            <a:srgbClr val="27395F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49224" y="5522976"/>
            <a:ext cx="331409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FE3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Pilot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649224" y="5760720"/>
            <a:ext cx="3314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Ready-to-test experiments as scoped prototypes. </a:t>
            </a:r>
            <a:pPr indent="0" marL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 directional lift, 0% leakage.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4292498" y="5449824"/>
            <a:ext cx="3606698" cy="822960"/>
          </a:xfrm>
          <a:prstGeom prst="roundRect">
            <a:avLst>
              <a:gd name="adj" fmla="val 6667"/>
            </a:avLst>
          </a:prstGeom>
          <a:solidFill>
            <a:srgbClr val="27395F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438802" y="5522976"/>
            <a:ext cx="331409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FE3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Validate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4438802" y="5760720"/>
            <a:ext cx="3314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30-day A/B on real conversion. </a:t>
            </a:r>
            <a:pPr indent="0" marL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 significant lift, guardrails hold.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8082077" y="5449824"/>
            <a:ext cx="3606698" cy="822960"/>
          </a:xfrm>
          <a:prstGeom prst="roundRect">
            <a:avLst>
              <a:gd name="adj" fmla="val 6667"/>
            </a:avLst>
          </a:prstGeom>
          <a:solidFill>
            <a:srgbClr val="27395F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8228381" y="5522976"/>
            <a:ext cx="331409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FE3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Scale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8228381" y="5760720"/>
            <a:ext cx="3314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deployment + mechanism-preference signal. </a:t>
            </a:r>
            <a:pPr indent="0" marL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 north star trending up, base-wide.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Myntra Growth · Wishlist-to-Purchase Conversion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2026-09-05T07:09:09Z</dcterms:created>
  <dcterms:modified xsi:type="dcterms:W3CDTF">2026-09-05T07:09:09Z</dcterms:modified>
</cp:coreProperties>
</file>