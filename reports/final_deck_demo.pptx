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hyperlink" Target="https://github.com/satheesanaswinPM/grad-pro-3---myntra/blob/master/reports/metric_decomposition.md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VwXdunQdj3jlc9xdDAIXCJq32vKBCHUKbpNLawxBhKQ/edit" TargetMode="External"/><Relationship Id="rId3" Type="http://schemas.openxmlformats.org/officeDocument/2006/relationships/hyperlink" Target="https://github.com/satheesanaswinPM/grad-pro-3---myntra/blob/master/reports/interview_findings.md" TargetMode="External"/><Relationship Id="rId1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satheesanaswinPM/grad-pro-3---myntra/blob/master/reports/risks_and_mitigation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30-Day Conversion Metric Hides Five Separate Failure Points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799" y="1983791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“% of users who purchase at least one wishlisted item within 30 days of adding it”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971800"/>
            <a:ext cx="4480560" cy="841248"/>
          </a:xfrm>
          <a:prstGeom prst="roundRect">
            <a:avLst>
              <a:gd name="adj" fmla="val 7609"/>
            </a:avLst>
          </a:prstGeom>
          <a:solidFill>
            <a:srgbClr val="F6E7D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02666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no monetary incentives — discounts, coupons, and cashback are excluded as the primary lever.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1627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can't say where the item is lost: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06440" y="2084832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12" name="Shape 9"/>
          <p:cNvSpPr/>
          <p:nvPr/>
        </p:nvSpPr>
        <p:spPr>
          <a:xfrm>
            <a:off x="5897880" y="2121408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717" y="2187245"/>
            <a:ext cx="160934" cy="16093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0936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Re-engagement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515600" y="212140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515600" y="21214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06440" y="2510028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18" name="Shape 14"/>
          <p:cNvSpPr/>
          <p:nvPr/>
        </p:nvSpPr>
        <p:spPr>
          <a:xfrm>
            <a:off x="5897880" y="254660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717" y="2612441"/>
            <a:ext cx="160934" cy="16093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25100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Uncertainty Resolution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806440" y="2935224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22" name="Shape 17"/>
          <p:cNvSpPr/>
          <p:nvPr/>
        </p:nvSpPr>
        <p:spPr>
          <a:xfrm>
            <a:off x="5897880" y="2971800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717" y="3037637"/>
            <a:ext cx="160934" cy="16093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309360" y="2935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Comparison Resolution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0515600" y="297180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0515600" y="29718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806440" y="3360420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28" name="Shape 22"/>
          <p:cNvSpPr/>
          <p:nvPr/>
        </p:nvSpPr>
        <p:spPr>
          <a:xfrm>
            <a:off x="5897880" y="339699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717" y="3462833"/>
            <a:ext cx="160934" cy="16093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309360" y="33604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Decision Trigger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806440" y="3785616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32" name="Shape 25"/>
          <p:cNvSpPr/>
          <p:nvPr/>
        </p:nvSpPr>
        <p:spPr>
          <a:xfrm>
            <a:off x="5897880" y="3822192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717" y="3888029"/>
            <a:ext cx="160934" cy="16093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09360" y="3785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Purchase Completion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502920" y="416052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41605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FOCUS: Stage A → C. Fixing re-engagement and comparison resolution raises the ceiling on every downstream stage — not a returns or price fix.</a:t>
            </a:r>
            <a:endParaRPr lang="en-US" sz="1500" dirty="0"/>
          </a:p>
        </p:txBody>
      </p:sp>
      <p:sp>
        <p:nvSpPr>
          <p:cNvPr id="37" name="Text 29">
            <a:hlinkClick r:id="rId7" tooltip=""/>
          </p:cNvPr>
          <p:cNvSpPr txBox="1"/>
          <p:nvPr/>
        </p:nvSpPr>
        <p:spPr>
          <a:xfrm>
            <a:off x="502920" y="5138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decomposition: reports/metric_decomposition.md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 ENGINE · 17,343 RELEVANT RECORDS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Loudest Complaint in Reviews Isn't the Real Wishlist Blocker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81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24,575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75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records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581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17,343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075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records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508760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1581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12,277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75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extracted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0" y="1581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075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opportunities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2697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rankings disagree on where to fix the funnel: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6E7D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333756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RAW VOLUME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6576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opp:returns_exchange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16052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12.0% of relevant records (2,084) — but hesitation-link 0.11, the LOWEST of the top 10.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i="1" dirty="0">
                <a:solidFill>
                  <a:srgbClr val="8A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App-store reviewers are disproportionately people who already bought and are complaining post-purchase — not evidence about why a wishlisted item stays unbought.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315468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D7ECE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33756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WISHLIST-RELEVANCE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6576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opp:comparison_loop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416052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3.0% of relevant records (522) — but hesitation-link 0.63, the HIGHEST of all 20 scored opportunities.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i="1" dirty="0">
                <a:solidFill>
                  <a:srgbClr val="0B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volume, but structurally the theme most tightly coupled to the actual wishlist-to-buy decision, not generic app noise.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RESEARCH · SURVEY N=36 + INTERVIEWS N=2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Survey and Interviews Agree: Shoppers Compare, Then They Forget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8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comparing options as why they wishlisted instead of buying — the #1 reason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8EE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34840" y="1783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65176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“found a better alternative” is why they removed an item without buying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0100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8EE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183880" y="1783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65176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true non-converters say “I forgot about it” — the single largest blocker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4160520"/>
            <a:ext cx="11185855" cy="1234440"/>
          </a:xfrm>
          <a:prstGeom prst="roundRect">
            <a:avLst>
              <a:gd name="adj" fmla="val 5926"/>
            </a:avLst>
          </a:prstGeom>
          <a:solidFill>
            <a:srgbClr val="1B2A4A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4389120"/>
            <a:ext cx="640080" cy="64008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538" y="4533138"/>
            <a:ext cx="352044" cy="35204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54480" y="4224528"/>
            <a:ext cx="990569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completed interviews confirm this unprompted — “I wanted to compare, shortlist and compare” (converter) and “I want to compare it on other platforms” (non-converter) — and sharpen it: fit uncertainty concentrates on unfamiliar brands, and “Active Comparer” is a per-item state, not a fixed trait.</a:t>
            </a:r>
            <a:endParaRPr lang="en-US" sz="1400" dirty="0"/>
          </a:p>
        </p:txBody>
      </p:sp>
      <p:sp>
        <p:nvSpPr>
          <p:cNvPr id="17" name="Text 14">
            <a:hlinkClick r:id="rId2" tooltip=""/>
          </p:cNvPr>
          <p:cNvSpPr txBox="1"/>
          <p:nvPr/>
        </p:nvSpPr>
        <p:spPr>
          <a:xfrm>
            <a:off x="502920" y="55046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Survey responses: view sheet</a:t>
            </a:r>
            <a:endParaRPr lang="en-US" sz="1400" dirty="0"/>
          </a:p>
        </p:txBody>
      </p:sp>
      <p:sp>
        <p:nvSpPr>
          <p:cNvPr id="18" name="Text 15">
            <a:hlinkClick r:id="rId3" tooltip=""/>
          </p:cNvPr>
          <p:cNvSpPr txBox="1"/>
          <p:nvPr/>
        </p:nvSpPr>
        <p:spPr>
          <a:xfrm>
            <a:off x="502920" y="58155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interview findings: reports/interview_findings.md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Comparers Don't Say No — They Just Never Decide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85855" cy="1417320"/>
          </a:xfrm>
          <a:prstGeom prst="roundRect">
            <a:avLst>
              <a:gd name="adj" fmla="val 5161"/>
            </a:avLst>
          </a:prstGeom>
          <a:solidFill>
            <a:srgbClr val="2739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10637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“Active Comparers” — users who wishlist an item while still comparing it against alternatives. The largest, most consistent segment across both the AI discovery pipeline and the survey (61% comparison motive; segment:comparers touches 9 of the top 10 opportunities).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3375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3538728"/>
            <a:ext cx="530352" cy="530352"/>
          </a:xfrm>
          <a:prstGeom prst="ellipse">
            <a:avLst/>
          </a:prstGeom>
          <a:solidFill>
            <a:srgbClr val="D7EC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417" y="3658057"/>
            <a:ext cx="291694" cy="29169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4088" y="417880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04088" y="4572000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is a passive bookmark, not a decision workspace — no captured reason, no pull-back before attention decays, no in-app way to resolve the comparison.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251960" y="33375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4453128" y="3538728"/>
            <a:ext cx="530352" cy="530352"/>
          </a:xfrm>
          <a:prstGeom prst="ellipse">
            <a:avLst/>
          </a:prstGeom>
          <a:solidFill>
            <a:srgbClr val="D7ECE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457" y="3658057"/>
            <a:ext cx="291694" cy="29169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53128" y="417880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453128" y="4572000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resolves off-platform (a competitor wins, 42% of abandoned items) or never resolves at all (the user forgets, 32% of non-converters).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001000" y="33375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8202168" y="3538728"/>
            <a:ext cx="530352" cy="530352"/>
          </a:xfrm>
          <a:prstGeom prst="ellipse">
            <a:avLst/>
          </a:prstGeom>
          <a:solidFill>
            <a:srgbClr val="D7ECE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497" y="3658057"/>
            <a:ext cx="291694" cy="29169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02168" y="417880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202168" y="4572000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price, fit, or returns problem — a decision-support and re-engagement problem, solvable without any monetary incentive.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RATIONALE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the Loop Needs Two Things: A Reason and a Nudge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1234440"/>
          </a:xfrm>
          <a:prstGeom prst="roundRect">
            <a:avLst>
              <a:gd name="adj" fmla="val 5185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897380"/>
            <a:ext cx="640080" cy="64008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2041398"/>
            <a:ext cx="352044" cy="3520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746504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 why, at save-time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30552"/>
            <a:ext cx="91741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captured reason, neither the user nor the product can act on the comparison later — the entry gate the whole mechanism depends 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2999232"/>
            <a:ext cx="11185855" cy="1234440"/>
          </a:xfrm>
          <a:prstGeom prst="roundRect">
            <a:avLst>
              <a:gd name="adj" fmla="val 5185"/>
            </a:avLst>
          </a:prstGeom>
          <a:solidFill>
            <a:srgbClr val="E8EEF7"/>
          </a:solidFill>
          <a:ln/>
        </p:spPr>
      </p:sp>
      <p:sp>
        <p:nvSpPr>
          <p:cNvPr id="10" name="Shape 7"/>
          <p:cNvSpPr/>
          <p:nvPr/>
        </p:nvSpPr>
        <p:spPr>
          <a:xfrm>
            <a:off x="713232" y="3296412"/>
            <a:ext cx="640080" cy="64008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3440430"/>
            <a:ext cx="352044" cy="3520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3145536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Re-engage before attention decays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3529584"/>
            <a:ext cx="91741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 of non-converters simply forgot. A nudge pulls the user back into the unresolved comparison instead of leaving it to chance.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4398264"/>
            <a:ext cx="11185855" cy="1234440"/>
          </a:xfrm>
          <a:prstGeom prst="roundRect">
            <a:avLst>
              <a:gd name="adj" fmla="val 5185"/>
            </a:avLst>
          </a:prstGeom>
          <a:solidFill>
            <a:srgbClr val="E8EEF7"/>
          </a:solidFill>
          <a:ln/>
        </p:spPr>
      </p:sp>
      <p:sp>
        <p:nvSpPr>
          <p:cNvPr id="15" name="Shape 11"/>
          <p:cNvSpPr/>
          <p:nvPr/>
        </p:nvSpPr>
        <p:spPr>
          <a:xfrm>
            <a:off x="713232" y="4695444"/>
            <a:ext cx="640080" cy="64008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839462"/>
            <a:ext cx="352044" cy="3520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4544568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 the comparison in-app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4928616"/>
            <a:ext cx="91741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reasons over real product attributes so the comparison closes on Myntra, instead of a competitor winning off-platform.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5623560"/>
            <a:ext cx="11185855" cy="594360"/>
          </a:xfrm>
          <a:prstGeom prst="roundRect">
            <a:avLst>
              <a:gd name="adj" fmla="val 9231"/>
            </a:avLst>
          </a:prstGeom>
          <a:solidFill>
            <a:srgbClr val="F6E7D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5800" y="562356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Non-monetary by construction: the fix is decision support and attention, not price — consistent with the project's core constraint.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BUILT AND TESTED END-TO-END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Decide: An AI Agent That Resolves the Comparison In-App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Streamlit app built on the real Myntra product catalog (451 in-stock items across 4 categories) and the same LLM client as the discovery pipeline — no mock data.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E8EEF7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514600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359" y="2642159"/>
            <a:ext cx="311810" cy="311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227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capture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033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chip at save-time: comparing, occasion, fit, or just liked it.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401568" y="233172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E8EEF7"/>
          </a:solidFill>
          <a:ln/>
        </p:spPr>
      </p:sp>
      <p:sp>
        <p:nvSpPr>
          <p:cNvPr id="11" name="Shape 8"/>
          <p:cNvSpPr/>
          <p:nvPr/>
        </p:nvSpPr>
        <p:spPr>
          <a:xfrm>
            <a:off x="3584448" y="2514600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007" y="26421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84448" y="3227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Fast-forward nudge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37033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elapsed time; surfaces a banner when a comparison goes stale.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300216" y="233172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E8EEF7"/>
          </a:solidFill>
          <a:ln/>
        </p:spPr>
      </p:sp>
      <p:sp>
        <p:nvSpPr>
          <p:cNvPr id="16" name="Shape 12"/>
          <p:cNvSpPr/>
          <p:nvPr/>
        </p:nvSpPr>
        <p:spPr>
          <a:xfrm>
            <a:off x="6483096" y="2514600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655" y="2642159"/>
            <a:ext cx="311810" cy="31181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83096" y="3227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comparison agent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483096" y="37033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between saved items using real attributes — no price framing.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9198864" y="233172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E8EEF7"/>
          </a:solidFill>
          <a:ln/>
        </p:spPr>
      </p:sp>
      <p:sp>
        <p:nvSpPr>
          <p:cNvPr id="21" name="Shape 16"/>
          <p:cNvSpPr/>
          <p:nvPr/>
        </p:nvSpPr>
        <p:spPr>
          <a:xfrm>
            <a:off x="9381744" y="2514600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303" y="2642159"/>
            <a:ext cx="311810" cy="31181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381744" y="3227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 decide loop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9381744" y="37033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/ Keep comparing / Remove — every comparison reaches an outcome.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5074920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1B2A4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77240" y="5074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testable prototype: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3657600" y="5074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deployed MVP link — to be added ]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Browse to Decision in Four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40180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7889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&amp; Save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7512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adds a real product to their wishlist from the catalog.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182112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01568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3" name="Shape 9"/>
          <p:cNvSpPr/>
          <p:nvPr/>
        </p:nvSpPr>
        <p:spPr>
          <a:xfrm>
            <a:off x="3584448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5844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338828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708" y="27889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66160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the Reason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566160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tap: comparing, occasion, fit, or just liked it.</a:t>
            </a:r>
            <a:endParaRPr lang="en-US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182112"/>
            <a:ext cx="310896" cy="31089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0216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21" name="Shape 15"/>
          <p:cNvSpPr/>
          <p:nvPr/>
        </p:nvSpPr>
        <p:spPr>
          <a:xfrm>
            <a:off x="6483096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309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7237476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2788920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64808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Nudged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64808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comparisons surface a “still deciding?” prompt.</a:t>
            </a:r>
            <a:endParaRPr lang="en-US" sz="14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112" y="3182112"/>
            <a:ext cx="310896" cy="31089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9198864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29" name="Shape 21"/>
          <p:cNvSpPr/>
          <p:nvPr/>
        </p:nvSpPr>
        <p:spPr>
          <a:xfrm>
            <a:off x="9381744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3817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10136124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004" y="2788920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363456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Resolves It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363456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compares real attributes; user buys, keeps, or removes.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502920" y="5074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 real Streamlit widget wired to session state and the live LLM agent — nothing here is a mockup.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 Rate Is the Metric That Predicts Conversion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85855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MVP metric:  resolved comparisons ÷ (resolved + still-cold comparisons)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288036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8152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Leading indicators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95528" y="3730752"/>
            <a:ext cx="128016" cy="12801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358444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Reason-capture rate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4389120"/>
            <a:ext cx="128016" cy="12801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424281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Nudge-to-engagement rate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5047488"/>
            <a:ext cx="128016" cy="12801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490118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me decide” invocation rate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26480" y="288036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308152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19088" y="3730752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75120" y="358444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add rate (must hold)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19088" y="4389120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0" y="424281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Regretted-removal rate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19088" y="5047488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75120" y="490118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Monetary-language leakage (target 0%)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 · 4 OF 11 SHOWN, RANKED CRITICAL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Critical Risk Already Has a Guardrail Watching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6E7D2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783080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014" y="1898294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74650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Correlation, not causation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2423160"/>
            <a:ext cx="4837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scrape has no purchase outcomes. Mitigation: primary metric framed as a hypothesis-linked proxy, gated by a real A/B test.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60020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6E7D2"/>
          </a:solidFill>
          <a:ln/>
        </p:spPr>
      </p:sp>
      <p:sp>
        <p:nvSpPr>
          <p:cNvPr id="10" name="Shape 7"/>
          <p:cNvSpPr/>
          <p:nvPr/>
        </p:nvSpPr>
        <p:spPr>
          <a:xfrm>
            <a:off x="6309360" y="1783080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574" y="1898294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49440" y="174650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Reason-tag friction shrinks the funnel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382512" y="2423160"/>
            <a:ext cx="4837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tagging could suppress wishlist adds. Guardrail: wishlist add rate must hold steady or grow.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374904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6E7D2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931920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14" y="4047134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389534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steers a bad decision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" y="4572000"/>
            <a:ext cx="4837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recommendation is worse than none. Guardrail: regretted-removal rate.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26480" y="374904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6E7D2"/>
          </a:solidFill>
          <a:ln/>
        </p:spPr>
      </p:sp>
      <p:sp>
        <p:nvSpPr>
          <p:cNvPr id="20" name="Shape 15"/>
          <p:cNvSpPr/>
          <p:nvPr/>
        </p:nvSpPr>
        <p:spPr>
          <a:xfrm>
            <a:off x="6309360" y="3931920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4574" y="4047134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9440" y="389534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Monetary-language leakage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4572000"/>
            <a:ext cx="4837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is a legitimate input; discount language is not. Guardrail: automated scan, target 0%.</a:t>
            </a:r>
            <a:endParaRPr lang="en-US" sz="1400" dirty="0"/>
          </a:p>
        </p:txBody>
      </p:sp>
      <p:sp>
        <p:nvSpPr>
          <p:cNvPr id="24" name="Text 18">
            <a:hlinkClick r:id="rId5" tooltip=""/>
          </p:cNvPr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risk register (11 total): reports/risks_and_mitigation.md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 · INDEPENDENT BUSINESS-IMPACT MODEL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This Gap Is Worth ₹265–688 Crore a Year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1965960"/>
        </p:xfrm>
        <a:graphic>
          <a:graphicData uri="http://schemas.openxmlformats.org/drawingml/2006/table">
            <a:tbl>
              <a:tblPr/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LIFT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ANNUAL GMV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PROFIT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17% (+5pp)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₹2,205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₹265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20% (+8pp)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₹3,528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₹423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25% (+13pp)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₹5,733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₹688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₹172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70332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(+5pp) is ~4.4% of Myntra's entire FY25 revenue and ~12% of its FY25 net profit — at a higher margin than average, since it monetizes demand already on the platform, not new acquisition spend. Modeled estimate from independent market research on labeled assumptions, not a Myntra-disclosed figure.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4617720"/>
            <a:ext cx="11185855" cy="868680"/>
          </a:xfrm>
          <a:prstGeom prst="roundRect">
            <a:avLst>
              <a:gd name="adj" fmla="val 7368"/>
            </a:avLst>
          </a:prstGeom>
          <a:solidFill>
            <a:srgbClr val="0F766E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477316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4896612"/>
            <a:ext cx="301752" cy="30175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4617720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the 11 identified risks already have a guardrail or leading-indicator metric watching for them — designed against these exact failure modes, not in a vacuum.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56235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deploy the MVP publicly, add a mechanism-preference signal to the agent, and gate scale-up on a real 30-day conversion A/B test.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2026-09-04T18:06:11Z</dcterms:created>
  <dcterms:modified xsi:type="dcterms:W3CDTF">2026-09-04T18:06:11Z</dcterms:modified>
</cp:coreProperties>
</file>