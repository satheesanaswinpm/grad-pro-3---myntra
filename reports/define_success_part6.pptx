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GROWTH TEAM · WISHLIST-TO-PURCHASE CONVERSION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43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Success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success metrics for the “Decide” wishlist comparison agent MVP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7395F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441655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4560570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5148072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North-star metric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54589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ultimately needs to move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41605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7395F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441655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4560570"/>
            <a:ext cx="352044" cy="3520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5148072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indicators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54589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 the MVP is working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416052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27395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441655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4560570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5148072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54589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not get worse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reports/problem_definition.md and the deployed MVP's own instrumentation.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BUSINESS METRIC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 Star Hasn't Changed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675120" cy="3977640"/>
          </a:xfrm>
          <a:prstGeom prst="roundRect">
            <a:avLst>
              <a:gd name="adj" fmla="val 2759"/>
            </a:avLst>
          </a:prstGeom>
          <a:solidFill>
            <a:srgbClr val="E8EEF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3488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06324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of users who purchase at least one wishlisted item within 30 days of adding it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4892040"/>
            <a:ext cx="5989320" cy="685800"/>
          </a:xfrm>
          <a:prstGeom prst="roundRect">
            <a:avLst>
              <a:gd name="adj" fmla="val 10667"/>
            </a:avLst>
          </a:prstGeom>
          <a:solidFill>
            <a:srgbClr val="F6E7D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4956048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no monetary incentives — discounts, coupons, cashback, and price-offs are excluded as the primary lever.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metric alone can't run the MVP day to day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51460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window — far too slow a feedback loop for weekly iteration.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say where in the funnel to intervene.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AI-mined review corpus has no purchase outcomes — every downstream link is a hypothesis until tested.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reports/problem_definition.md · reports/opportunity_register.md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METRIC DECOMPOSITION TO MVP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MVP Sits in the Funnel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hesitation-link score of all 20 scored opportunities (0.6338) · dominant in 2 independent survey questions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7484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1514704" y="2587752"/>
            <a:ext cx="640080" cy="640080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722" y="2731770"/>
            <a:ext cx="352044" cy="3520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0636" y="33832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Re-engagement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53516" y="420624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53516" y="420624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000" y="336042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28036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45256" y="25877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274" y="2731770"/>
            <a:ext cx="352044" cy="3520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01188" y="33832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Uncertainty Resolution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552" y="336042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58588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0F766E"/>
          </a:solidFill>
          <a:ln/>
        </p:spPr>
      </p:sp>
      <p:sp>
        <p:nvSpPr>
          <p:cNvPr id="18" name="Shape 12"/>
          <p:cNvSpPr/>
          <p:nvPr/>
        </p:nvSpPr>
        <p:spPr>
          <a:xfrm>
            <a:off x="5775808" y="2587752"/>
            <a:ext cx="640080" cy="640080"/>
          </a:xfrm>
          <a:prstGeom prst="ellipse">
            <a:avLst/>
          </a:prstGeom>
          <a:solidFill>
            <a:srgbClr val="1E8A8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826" y="2731770"/>
            <a:ext cx="352044" cy="3520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31740" y="33832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Comparison Resolution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14620" y="420624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5414620" y="420624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FOCUS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1104" y="3360420"/>
            <a:ext cx="320040" cy="32004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7289140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06360" y="25877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0378" y="2731770"/>
            <a:ext cx="352044" cy="3520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362292" y="33832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Decision Trigger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1656" y="3360420"/>
            <a:ext cx="320040" cy="32004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419692" y="233172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10036912" y="25877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0930" y="2731770"/>
            <a:ext cx="352044" cy="35204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492844" y="33832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Purchase Completion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MVP's own instrumentation stops at C — Comparison Resolution. Stages D and E stay the business's downstream responsibility, not this MVP's.</a:t>
            </a:r>
            <a:endParaRPr lang="en-US" sz="1250" dirty="0"/>
          </a:p>
        </p:txBody>
      </p:sp>
      <p:sp>
        <p:nvSpPr>
          <p:cNvPr id="34" name="Text 2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decomposition: Part 2 · Opportunity scoring: reports/opportunity_register.md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59" y="769239"/>
            <a:ext cx="427482" cy="42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SUCCESS METRIC FOR THE MVP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960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Comparison Resolution Rate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7395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E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 comparisons  ÷  (resolved comparisons + still-cold comparisons)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566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wishlisted items tagged “comparing” that reach an explicit outcome — bought or removed — within 14 days of being added, instead of going cold with no activity.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50292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D7ECE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509320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instrumented — this is the exact “Resolved / Still cold” tally the MVP shows in-app.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288036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metric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35661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leading proxy for the highest-hesitation-link opportunity (comparison_loop, 0.6338) — not a downstream stand-in for revenue.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measurable at 14 days, not 30 — fast enough to iterate on before a full conversion experiment.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“Resolved” deliberately counts both Buy and Remove — the fix is deciding, not just buying.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Instrumentation: src/mvp/state.py -&gt; resolution_tally()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SIGNALS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Indicators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days — not the full 30-day window — so the team can tell early whether the mechanism is working.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2374011"/>
            <a:ext cx="326898" cy="32689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12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Reason-capture rate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292608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new wishlist adds where the user actually selects a reason tag.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42900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gate — nothing downstream works if items aren't tagged.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20116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EEF7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2240280"/>
            <a:ext cx="594360" cy="594360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971" y="237401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212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Nudge-to-engagement rate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92608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stale “Comparing” nudges that get an active re-open within 48 hours of firing.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519672" y="342900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Stage A (re-engagement) is actually being fixed, not just displayed.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0080" y="42519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EEF7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4480560"/>
            <a:ext cx="594360" cy="594360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4614291"/>
            <a:ext cx="326898" cy="32689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00200" y="4453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“Help me decide” invocation rate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896112" y="516636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eligible comparison sets (2+ items) where the user actually calls the agent.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96112" y="566928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tool nobody opens can't resolve anything — this is adoption, not just existence.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63640" y="42519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EEF7"/>
          </a:solidFill>
          <a:ln/>
        </p:spPr>
      </p:sp>
      <p:sp>
        <p:nvSpPr>
          <p:cNvPr id="24" name="Shape 19"/>
          <p:cNvSpPr/>
          <p:nvPr/>
        </p:nvSpPr>
        <p:spPr>
          <a:xfrm>
            <a:off x="6492240" y="4480560"/>
            <a:ext cx="594360" cy="594360"/>
          </a:xfrm>
          <a:prstGeom prst="ellipse">
            <a:avLst/>
          </a:prstGeom>
          <a:solidFill>
            <a:srgbClr val="D7ECE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971" y="4614291"/>
            <a:ext cx="326898" cy="32689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23760" y="445312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Recommendation-acceptance rate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519672" y="5166360"/>
            <a:ext cx="4745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agent-assisted comparisons where the user acts on the recommended item.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519672" y="566928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the agent's reasoning is trusted, not merely used.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map 1:1 to events the MVP already logs in session state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NOT GET WORSE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guardrail below fails closed — a violation pauses the rollout, it doesn't get averaged away by a good primary metric.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38528"/>
            <a:ext cx="512064" cy="512064"/>
          </a:xfrm>
          <a:prstGeom prst="ellipse">
            <a:avLst/>
          </a:prstGeom>
          <a:solidFill>
            <a:srgbClr val="F6E7D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20537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019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Wishlist add rate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190195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hold steady or grow.</a:t>
            </a:r>
            <a:endParaRPr lang="en-US" sz="107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190195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reason-tagging friction discourages saving items at all, we shrink the funnel's top even as resolution improves.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761488"/>
            <a:ext cx="512064" cy="512064"/>
          </a:xfrm>
          <a:prstGeom prst="ellipse">
            <a:avLst/>
          </a:prstGeom>
          <a:solidFill>
            <a:srgbClr val="F6E7D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74" y="287670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7249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Add-flow abandonment rate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272491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who open the reason step but abandon without completing.</a:t>
            </a:r>
            <a:endParaRPr lang="en-US" sz="107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272491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tap must not become a new drop-off point.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34747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3584448"/>
            <a:ext cx="512064" cy="512064"/>
          </a:xfrm>
          <a:prstGeom prst="ellipse">
            <a:avLst/>
          </a:prstGeom>
          <a:solidFill>
            <a:srgbClr val="F6E7D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369966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08760" y="354787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Regretted-removal rate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297680" y="354787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agent-driven “Remove” decisions followed by a re-search or re-add of a similar item.</a:t>
            </a:r>
            <a:endParaRPr lang="en-US" sz="1070" dirty="0"/>
          </a:p>
        </p:txBody>
      </p:sp>
      <p:sp>
        <p:nvSpPr>
          <p:cNvPr id="22" name="Text 17"/>
          <p:cNvSpPr txBox="1"/>
          <p:nvPr/>
        </p:nvSpPr>
        <p:spPr>
          <a:xfrm>
            <a:off x="8138160" y="354787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should help people decide well, not just decide fast.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0080" y="42976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4407408"/>
            <a:ext cx="512064" cy="512064"/>
          </a:xfrm>
          <a:prstGeom prst="ellipse">
            <a:avLst/>
          </a:prstGeom>
          <a:solidFill>
            <a:srgbClr val="F6E7D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" y="45226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437083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failure rate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4297680" y="437083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“Help me decide” calls that surface a visible error instead of a comparison.</a:t>
            </a:r>
            <a:endParaRPr lang="en-US" sz="1070" dirty="0"/>
          </a:p>
        </p:txBody>
      </p:sp>
      <p:sp>
        <p:nvSpPr>
          <p:cNvPr id="28" name="Text 22"/>
          <p:cNvSpPr txBox="1"/>
          <p:nvPr/>
        </p:nvSpPr>
        <p:spPr>
          <a:xfrm>
            <a:off x="8138160" y="437083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requires failing visibly, not fabricating — but a high failure rate still kills trust in the mechanism.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0080" y="51206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/>
        </p:spPr>
      </p:sp>
      <p:sp>
        <p:nvSpPr>
          <p:cNvPr id="30" name="Shape 24"/>
          <p:cNvSpPr/>
          <p:nvPr/>
        </p:nvSpPr>
        <p:spPr>
          <a:xfrm>
            <a:off x="822960" y="5230368"/>
            <a:ext cx="512064" cy="512064"/>
          </a:xfrm>
          <a:prstGeom prst="ellipse">
            <a:avLst/>
          </a:prstGeom>
          <a:solidFill>
            <a:srgbClr val="F6E7D2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534558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08760" y="519379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Monetary-language leakage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297680" y="5193792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agent outputs or nudges mentioning price drops, discounts, or urgency. Target: 0%.</a:t>
            </a:r>
            <a:endParaRPr lang="en-US" sz="1070" dirty="0"/>
          </a:p>
        </p:txBody>
      </p:sp>
      <p:sp>
        <p:nvSpPr>
          <p:cNvPr id="34" name="Text 27"/>
          <p:cNvSpPr txBox="1"/>
          <p:nvPr/>
        </p:nvSpPr>
        <p:spPr>
          <a:xfrm>
            <a:off x="8138160" y="5193792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violation invalidates the non-monetary premise the whole Problem Definition rests on.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compliance + trust checks, not optimization targets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LADDER TOGETHER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These Metrics Connect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0848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wishlist-to-purchase conversion rate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2606040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2999232"/>
            <a:ext cx="6949440" cy="86868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MVP metric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3924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comparison resolution rate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39136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427939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914400" y="45720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0E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679192" y="45720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0E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679192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443984" y="45720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0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43984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08776" y="457200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0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08776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29600" y="1691640"/>
            <a:ext cx="3017520" cy="3611880"/>
          </a:xfrm>
          <a:prstGeom prst="roundRect">
            <a:avLst>
              <a:gd name="adj" fmla="val 3030"/>
            </a:avLst>
          </a:prstGeom>
          <a:solidFill>
            <a:srgbClr val="F6E7D2"/>
          </a:solidFill>
          <a:ln/>
        </p:spPr>
      </p:sp>
      <p:sp>
        <p:nvSpPr>
          <p:cNvPr id="22" name="Shape 18"/>
          <p:cNvSpPr/>
          <p:nvPr/>
        </p:nvSpPr>
        <p:spPr>
          <a:xfrm>
            <a:off x="8485632" y="1947672"/>
            <a:ext cx="594360" cy="59436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363" y="2081403"/>
            <a:ext cx="326898" cy="32689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485632" y="265176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485632" y="3063240"/>
            <a:ext cx="25054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every level of this ladder at once — they aren't a rung, they're a constraint on the whole stack. A guardrail breach pauses the rollout regardless of how the primary metric is trending.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metric is a hypothesis-linked proxy for the business metric, not a replacement for it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985455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— Define Success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the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Discovery Engine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87452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47802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Metric Decomposition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47802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201168" cy="201168"/>
          </a:xfrm>
          <a:prstGeom prst="ellipse">
            <a:avLst/>
          </a:prstGeom>
          <a:solidFill>
            <a:srgbClr val="8FA3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0815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User Research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08152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done · interviews pending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6850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Problem Definition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685032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201168" cy="201168"/>
          </a:xfrm>
          <a:prstGeom prst="ellipse">
            <a:avLst/>
          </a:prstGeom>
          <a:solidFill>
            <a:srgbClr val="8FA3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2885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MVP Build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4288536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deploy pending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4892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Define Success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489204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— this deck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696712"/>
            <a:ext cx="201168" cy="201168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4955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Risks &amp; Mitigation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549554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E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Part 7 — Risks &amp; Mitigation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2026-09-03T18:37:37Z</dcterms:created>
  <dcterms:modified xsi:type="dcterms:W3CDTF">2026-09-03T18:37:37Z</dcterms:modified>
</cp:coreProperties>
</file>